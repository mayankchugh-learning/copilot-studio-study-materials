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565" r:id="rId2"/>
    <p:sldId id="4231" r:id="rId3"/>
    <p:sldId id="4218" r:id="rId4"/>
    <p:sldId id="4257" r:id="rId5"/>
    <p:sldId id="4258" r:id="rId6"/>
    <p:sldId id="4261" r:id="rId7"/>
    <p:sldId id="4259" r:id="rId8"/>
    <p:sldId id="4260" r:id="rId9"/>
    <p:sldId id="4262" r:id="rId10"/>
    <p:sldId id="4228" r:id="rId11"/>
    <p:sldId id="27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6E48"/>
    <a:srgbClr val="0C1752"/>
    <a:srgbClr val="1BBFD1"/>
    <a:srgbClr val="11CCDD"/>
    <a:srgbClr val="E3E9EE"/>
    <a:srgbClr val="FFFFFF"/>
    <a:srgbClr val="F09063"/>
    <a:srgbClr val="F9F9F9"/>
    <a:srgbClr val="E7C24C"/>
    <a:srgbClr val="FF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721"/>
  </p:normalViewPr>
  <p:slideViewPr>
    <p:cSldViewPr snapToGrid="0" snapToObjects="1">
      <p:cViewPr>
        <p:scale>
          <a:sx n="75" d="100"/>
          <a:sy n="75" d="100"/>
        </p:scale>
        <p:origin x="1746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B5DF1-6160-48DA-9244-780755A51C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66F586A-A994-4804-9C96-3046E55639C7}">
      <dgm:prSet phldrT="[Text]" custT="1"/>
      <dgm:spPr>
        <a:solidFill>
          <a:srgbClr val="0C1752"/>
        </a:solidFill>
        <a:ln>
          <a:solidFill>
            <a:srgbClr val="0C1752"/>
          </a:solidFill>
        </a:ln>
      </dgm:spPr>
      <dgm:t>
        <a:bodyPr/>
        <a:lstStyle/>
        <a:p>
          <a:r>
            <a:rPr lang="en-CA" sz="1800" dirty="0">
              <a:latin typeface="Montserrat" panose="00000500000000000000" pitchFamily="2" charset="0"/>
              <a:cs typeface="Mongolian Baiti" panose="03000500000000000000" pitchFamily="66" charset="0"/>
            </a:rPr>
            <a:t>Build an AI Agent that automates financial data analysis and report generation in Copilot Studio.</a:t>
          </a:r>
        </a:p>
      </dgm:t>
    </dgm:pt>
    <dgm:pt modelId="{0E646359-7774-44D7-A78E-48FF645A581F}" type="parTrans" cxnId="{9FB5AB61-78F8-4CE9-BA1C-2D3174FA942B}">
      <dgm:prSet/>
      <dgm:spPr/>
      <dgm:t>
        <a:bodyPr/>
        <a:lstStyle/>
        <a:p>
          <a:endParaRPr lang="en-CA" sz="2200">
            <a:latin typeface="Montserrat" panose="00000500000000000000" pitchFamily="2" charset="0"/>
            <a:cs typeface="Mongolian Baiti" panose="03000500000000000000" pitchFamily="66" charset="0"/>
          </a:endParaRPr>
        </a:p>
      </dgm:t>
    </dgm:pt>
    <dgm:pt modelId="{354A0CE6-2E67-42BB-BD99-61C4184CA873}" type="sibTrans" cxnId="{9FB5AB61-78F8-4CE9-BA1C-2D3174FA942B}">
      <dgm:prSet/>
      <dgm:spPr/>
      <dgm:t>
        <a:bodyPr/>
        <a:lstStyle/>
        <a:p>
          <a:endParaRPr lang="en-CA" sz="2200">
            <a:latin typeface="Montserrat" panose="00000500000000000000" pitchFamily="2" charset="0"/>
            <a:cs typeface="Mongolian Baiti" panose="03000500000000000000" pitchFamily="66" charset="0"/>
          </a:endParaRPr>
        </a:p>
      </dgm:t>
    </dgm:pt>
    <dgm:pt modelId="{B748CD7C-02FD-44C4-B494-1F9165E415A7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>
            <a:buNone/>
          </a:pPr>
          <a:r>
            <a:rPr lang="en-CA" sz="1800" dirty="0">
              <a:latin typeface="Montserrat" panose="00000500000000000000" pitchFamily="2" charset="0"/>
            </a:rPr>
            <a:t>Configure REST API Tools in Copilot Studio.  </a:t>
          </a:r>
        </a:p>
      </dgm:t>
    </dgm:pt>
    <dgm:pt modelId="{75633EF6-3651-49F2-9C03-9B1C9DED27FC}" type="parTrans" cxnId="{F2C1E8F5-A05B-4B6C-ACA9-4D950A05A7C7}">
      <dgm:prSet/>
      <dgm:spPr/>
      <dgm:t>
        <a:bodyPr/>
        <a:lstStyle/>
        <a:p>
          <a:endParaRPr lang="en-CA"/>
        </a:p>
      </dgm:t>
    </dgm:pt>
    <dgm:pt modelId="{0D010DA5-31AB-48DF-9B53-E1F5217872FD}" type="sibTrans" cxnId="{F2C1E8F5-A05B-4B6C-ACA9-4D950A05A7C7}">
      <dgm:prSet/>
      <dgm:spPr/>
      <dgm:t>
        <a:bodyPr/>
        <a:lstStyle/>
        <a:p>
          <a:endParaRPr lang="en-CA"/>
        </a:p>
      </dgm:t>
    </dgm:pt>
    <dgm:pt modelId="{A3285C98-AA88-4637-97EA-786313CE6411}">
      <dgm:prSet custT="1"/>
      <dgm:spPr>
        <a:solidFill>
          <a:srgbClr val="11CCDD"/>
        </a:solidFill>
      </dgm:spPr>
      <dgm:t>
        <a:bodyPr/>
        <a:lstStyle/>
        <a:p>
          <a:pPr>
            <a:buNone/>
          </a:pPr>
          <a:r>
            <a:rPr lang="en-CA" sz="1800" dirty="0">
              <a:latin typeface="Montserrat" panose="00000500000000000000" pitchFamily="2" charset="0"/>
            </a:rPr>
            <a:t>Learn how to modify  REST API Specifications in JSON format</a:t>
          </a:r>
        </a:p>
      </dgm:t>
    </dgm:pt>
    <dgm:pt modelId="{B9FA6B9C-F558-405F-83AC-07A99FECA3D5}" type="parTrans" cxnId="{DB18EF07-1110-4A97-8277-3159765C5A05}">
      <dgm:prSet/>
      <dgm:spPr/>
      <dgm:t>
        <a:bodyPr/>
        <a:lstStyle/>
        <a:p>
          <a:endParaRPr lang="en-CA"/>
        </a:p>
      </dgm:t>
    </dgm:pt>
    <dgm:pt modelId="{0654A194-C5A6-4D5B-9DF7-8777FDE3DC89}" type="sibTrans" cxnId="{DB18EF07-1110-4A97-8277-3159765C5A05}">
      <dgm:prSet/>
      <dgm:spPr/>
      <dgm:t>
        <a:bodyPr/>
        <a:lstStyle/>
        <a:p>
          <a:endParaRPr lang="en-CA"/>
        </a:p>
      </dgm:t>
    </dgm:pt>
    <dgm:pt modelId="{2592CD0D-80B1-45B8-A98B-157F5B52F686}">
      <dgm:prSet phldrT="[Text]"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Learn how to build a prompt as a tool. </a:t>
          </a:r>
        </a:p>
      </dgm:t>
    </dgm:pt>
    <dgm:pt modelId="{40A13D9E-B7ED-47DF-AE65-FB5002D290D2}" type="parTrans" cxnId="{B01AD941-1F30-41FB-B394-B61CB12CBC7D}">
      <dgm:prSet/>
      <dgm:spPr/>
      <dgm:t>
        <a:bodyPr/>
        <a:lstStyle/>
        <a:p>
          <a:endParaRPr lang="en-CA"/>
        </a:p>
      </dgm:t>
    </dgm:pt>
    <dgm:pt modelId="{E8A1930A-6356-4A34-9182-8C104174EAC8}" type="sibTrans" cxnId="{B01AD941-1F30-41FB-B394-B61CB12CBC7D}">
      <dgm:prSet/>
      <dgm:spPr/>
      <dgm:t>
        <a:bodyPr/>
        <a:lstStyle/>
        <a:p>
          <a:endParaRPr lang="en-CA"/>
        </a:p>
      </dgm:t>
    </dgm:pt>
    <dgm:pt modelId="{91AECCB5-357E-4817-8D8B-617F328E7EE2}" type="pres">
      <dgm:prSet presAssocID="{C5BB5DF1-6160-48DA-9244-780755A51C37}" presName="diagram" presStyleCnt="0">
        <dgm:presLayoutVars>
          <dgm:dir/>
          <dgm:resizeHandles val="exact"/>
        </dgm:presLayoutVars>
      </dgm:prSet>
      <dgm:spPr/>
    </dgm:pt>
    <dgm:pt modelId="{1B558E55-37DC-4859-9ABB-EFE02DEEEF05}" type="pres">
      <dgm:prSet presAssocID="{566F586A-A994-4804-9C96-3046E55639C7}" presName="node" presStyleLbl="node1" presStyleIdx="0" presStyleCnt="4">
        <dgm:presLayoutVars>
          <dgm:bulletEnabled val="1"/>
        </dgm:presLayoutVars>
      </dgm:prSet>
      <dgm:spPr/>
    </dgm:pt>
    <dgm:pt modelId="{37F8B5B6-4041-4689-A87E-63C71563838F}" type="pres">
      <dgm:prSet presAssocID="{354A0CE6-2E67-42BB-BD99-61C4184CA873}" presName="sibTrans" presStyleCnt="0"/>
      <dgm:spPr/>
    </dgm:pt>
    <dgm:pt modelId="{BE73B1EC-B7E1-4848-84E7-7115730A32AA}" type="pres">
      <dgm:prSet presAssocID="{2592CD0D-80B1-45B8-A98B-157F5B52F686}" presName="node" presStyleLbl="node1" presStyleIdx="1" presStyleCnt="4">
        <dgm:presLayoutVars>
          <dgm:bulletEnabled val="1"/>
        </dgm:presLayoutVars>
      </dgm:prSet>
      <dgm:spPr>
        <a:xfrm>
          <a:off x="3530245" y="33299"/>
          <a:ext cx="3209314" cy="1925588"/>
        </a:xfrm>
        <a:prstGeom prst="rect">
          <a:avLst/>
        </a:prstGeom>
      </dgm:spPr>
    </dgm:pt>
    <dgm:pt modelId="{2964924D-8751-467B-AC4E-6B126E34CBB8}" type="pres">
      <dgm:prSet presAssocID="{E8A1930A-6356-4A34-9182-8C104174EAC8}" presName="sibTrans" presStyleCnt="0"/>
      <dgm:spPr/>
    </dgm:pt>
    <dgm:pt modelId="{66FD1FEE-6916-469C-AC20-5281BA353382}" type="pres">
      <dgm:prSet presAssocID="{B748CD7C-02FD-44C4-B494-1F9165E415A7}" presName="node" presStyleLbl="node1" presStyleIdx="2" presStyleCnt="4">
        <dgm:presLayoutVars>
          <dgm:bulletEnabled val="1"/>
        </dgm:presLayoutVars>
      </dgm:prSet>
      <dgm:spPr/>
    </dgm:pt>
    <dgm:pt modelId="{7287C185-CCD0-4EB3-B506-B1D39F43BD38}" type="pres">
      <dgm:prSet presAssocID="{0D010DA5-31AB-48DF-9B53-E1F5217872FD}" presName="sibTrans" presStyleCnt="0"/>
      <dgm:spPr/>
    </dgm:pt>
    <dgm:pt modelId="{6252F9F4-D0DC-4D13-9592-F953C7F49611}" type="pres">
      <dgm:prSet presAssocID="{A3285C98-AA88-4637-97EA-786313CE6411}" presName="node" presStyleLbl="node1" presStyleIdx="3" presStyleCnt="4">
        <dgm:presLayoutVars>
          <dgm:bulletEnabled val="1"/>
        </dgm:presLayoutVars>
      </dgm:prSet>
      <dgm:spPr/>
    </dgm:pt>
  </dgm:ptLst>
  <dgm:cxnLst>
    <dgm:cxn modelId="{8D874905-73C9-4E87-B0B0-20AFAE1624E1}" type="presOf" srcId="{566F586A-A994-4804-9C96-3046E55639C7}" destId="{1B558E55-37DC-4859-9ABB-EFE02DEEEF05}" srcOrd="0" destOrd="0" presId="urn:microsoft.com/office/officeart/2005/8/layout/default"/>
    <dgm:cxn modelId="{DB18EF07-1110-4A97-8277-3159765C5A05}" srcId="{C5BB5DF1-6160-48DA-9244-780755A51C37}" destId="{A3285C98-AA88-4637-97EA-786313CE6411}" srcOrd="3" destOrd="0" parTransId="{B9FA6B9C-F558-405F-83AC-07A99FECA3D5}" sibTransId="{0654A194-C5A6-4D5B-9DF7-8777FDE3DC89}"/>
    <dgm:cxn modelId="{C2707315-FE3B-470C-92E8-57F0D850A6CB}" type="presOf" srcId="{A3285C98-AA88-4637-97EA-786313CE6411}" destId="{6252F9F4-D0DC-4D13-9592-F953C7F49611}" srcOrd="0" destOrd="0" presId="urn:microsoft.com/office/officeart/2005/8/layout/default"/>
    <dgm:cxn modelId="{9FB5AB61-78F8-4CE9-BA1C-2D3174FA942B}" srcId="{C5BB5DF1-6160-48DA-9244-780755A51C37}" destId="{566F586A-A994-4804-9C96-3046E55639C7}" srcOrd="0" destOrd="0" parTransId="{0E646359-7774-44D7-A78E-48FF645A581F}" sibTransId="{354A0CE6-2E67-42BB-BD99-61C4184CA873}"/>
    <dgm:cxn modelId="{B01AD941-1F30-41FB-B394-B61CB12CBC7D}" srcId="{C5BB5DF1-6160-48DA-9244-780755A51C37}" destId="{2592CD0D-80B1-45B8-A98B-157F5B52F686}" srcOrd="1" destOrd="0" parTransId="{40A13D9E-B7ED-47DF-AE65-FB5002D290D2}" sibTransId="{E8A1930A-6356-4A34-9182-8C104174EAC8}"/>
    <dgm:cxn modelId="{F1DC19BC-B069-4CA3-A335-8F4210D25204}" type="presOf" srcId="{B748CD7C-02FD-44C4-B494-1F9165E415A7}" destId="{66FD1FEE-6916-469C-AC20-5281BA353382}" srcOrd="0" destOrd="0" presId="urn:microsoft.com/office/officeart/2005/8/layout/default"/>
    <dgm:cxn modelId="{BCF0D0E2-7832-4736-98E9-D156945CD970}" type="presOf" srcId="{C5BB5DF1-6160-48DA-9244-780755A51C37}" destId="{91AECCB5-357E-4817-8D8B-617F328E7EE2}" srcOrd="0" destOrd="0" presId="urn:microsoft.com/office/officeart/2005/8/layout/default"/>
    <dgm:cxn modelId="{4E3FD8ED-837A-4BC8-B90A-8CBE23121AC5}" type="presOf" srcId="{2592CD0D-80B1-45B8-A98B-157F5B52F686}" destId="{BE73B1EC-B7E1-4848-84E7-7115730A32AA}" srcOrd="0" destOrd="0" presId="urn:microsoft.com/office/officeart/2005/8/layout/default"/>
    <dgm:cxn modelId="{F2C1E8F5-A05B-4B6C-ACA9-4D950A05A7C7}" srcId="{C5BB5DF1-6160-48DA-9244-780755A51C37}" destId="{B748CD7C-02FD-44C4-B494-1F9165E415A7}" srcOrd="2" destOrd="0" parTransId="{75633EF6-3651-49F2-9C03-9B1C9DED27FC}" sibTransId="{0D010DA5-31AB-48DF-9B53-E1F5217872FD}"/>
    <dgm:cxn modelId="{8A1C0F08-D7F6-4EF0-BBC7-A54829BBDEC1}" type="presParOf" srcId="{91AECCB5-357E-4817-8D8B-617F328E7EE2}" destId="{1B558E55-37DC-4859-9ABB-EFE02DEEEF05}" srcOrd="0" destOrd="0" presId="urn:microsoft.com/office/officeart/2005/8/layout/default"/>
    <dgm:cxn modelId="{04309D3C-9431-413A-9C10-C831746B1D70}" type="presParOf" srcId="{91AECCB5-357E-4817-8D8B-617F328E7EE2}" destId="{37F8B5B6-4041-4689-A87E-63C71563838F}" srcOrd="1" destOrd="0" presId="urn:microsoft.com/office/officeart/2005/8/layout/default"/>
    <dgm:cxn modelId="{A52DB994-5C41-4C95-9E17-E6F5B0E8771A}" type="presParOf" srcId="{91AECCB5-357E-4817-8D8B-617F328E7EE2}" destId="{BE73B1EC-B7E1-4848-84E7-7115730A32AA}" srcOrd="2" destOrd="0" presId="urn:microsoft.com/office/officeart/2005/8/layout/default"/>
    <dgm:cxn modelId="{A8F12320-00D4-4EA6-8B70-FCB9F8E41D17}" type="presParOf" srcId="{91AECCB5-357E-4817-8D8B-617F328E7EE2}" destId="{2964924D-8751-467B-AC4E-6B126E34CBB8}" srcOrd="3" destOrd="0" presId="urn:microsoft.com/office/officeart/2005/8/layout/default"/>
    <dgm:cxn modelId="{B925B848-E523-418B-8B5E-36301242031C}" type="presParOf" srcId="{91AECCB5-357E-4817-8D8B-617F328E7EE2}" destId="{66FD1FEE-6916-469C-AC20-5281BA353382}" srcOrd="4" destOrd="0" presId="urn:microsoft.com/office/officeart/2005/8/layout/default"/>
    <dgm:cxn modelId="{8B22A0B6-9164-4C47-8ABC-AB4432639FB3}" type="presParOf" srcId="{91AECCB5-357E-4817-8D8B-617F328E7EE2}" destId="{7287C185-CCD0-4EB3-B506-B1D39F43BD38}" srcOrd="5" destOrd="0" presId="urn:microsoft.com/office/officeart/2005/8/layout/default"/>
    <dgm:cxn modelId="{975A34E7-8A3D-4081-8D61-3087E3909C8E}" type="presParOf" srcId="{91AECCB5-357E-4817-8D8B-617F328E7EE2}" destId="{6252F9F4-D0DC-4D13-9592-F953C7F4961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75956B-7142-45B3-8DE5-D244F09C1D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DD6EE18B-509B-42A9-BC52-483677ED97AA}">
      <dgm:prSet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Montserrat" panose="00000500000000000000" pitchFamily="2" charset="0"/>
            </a:rPr>
            <a:t>Designed and deployed an AI Agent in Copilot Studio that can autonomously analyze financial data and generate structured investment reports.</a:t>
          </a:r>
          <a:endParaRPr lang="en-US" sz="1700" b="0" kern="1200" dirty="0">
            <a:solidFill>
              <a:prstClr val="white"/>
            </a:solidFill>
            <a:latin typeface="Montserrat" panose="00000500000000000000" pitchFamily="2" charset="0"/>
            <a:ea typeface="+mn-ea"/>
            <a:cs typeface="+mn-cs"/>
          </a:endParaRPr>
        </a:p>
      </dgm:t>
    </dgm:pt>
    <dgm:pt modelId="{33519585-0D91-49A6-AC66-80AFE7F10CC2}" type="parTrans" cxnId="{C901E3BE-D731-4FE4-8B4B-B2D9E69E36EB}">
      <dgm:prSet/>
      <dgm:spPr/>
      <dgm:t>
        <a:bodyPr/>
        <a:lstStyle/>
        <a:p>
          <a:endParaRPr lang="en-CA" sz="1700"/>
        </a:p>
      </dgm:t>
    </dgm:pt>
    <dgm:pt modelId="{29AFC0FA-0F5B-4700-A6CF-5A764E0ADA3A}" type="sibTrans" cxnId="{C901E3BE-D731-4FE4-8B4B-B2D9E69E36EB}">
      <dgm:prSet/>
      <dgm:spPr/>
      <dgm:t>
        <a:bodyPr/>
        <a:lstStyle/>
        <a:p>
          <a:endParaRPr lang="en-CA" sz="1700"/>
        </a:p>
      </dgm:t>
    </dgm:pt>
    <dgm:pt modelId="{1869A516-5934-48CB-8255-69BD9689AB7F}">
      <dgm:prSet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You learned how to convert a prompt into a reusable tool that your Agent can call during complex workflows.</a:t>
          </a:r>
        </a:p>
      </dgm:t>
    </dgm:pt>
    <dgm:pt modelId="{AED7B683-CB22-4608-9DB4-512F062121C2}" type="parTrans" cxnId="{031FB98C-B672-40E7-B3EC-6FFC2ECEE921}">
      <dgm:prSet/>
      <dgm:spPr/>
      <dgm:t>
        <a:bodyPr/>
        <a:lstStyle/>
        <a:p>
          <a:endParaRPr lang="en-CA" sz="1700"/>
        </a:p>
      </dgm:t>
    </dgm:pt>
    <dgm:pt modelId="{722D43CD-CD8F-4939-A37A-D29F52C8C1C9}" type="sibTrans" cxnId="{031FB98C-B672-40E7-B3EC-6FFC2ECEE921}">
      <dgm:prSet/>
      <dgm:spPr/>
      <dgm:t>
        <a:bodyPr/>
        <a:lstStyle/>
        <a:p>
          <a:endParaRPr lang="en-CA" sz="1700"/>
        </a:p>
      </dgm:t>
    </dgm:pt>
    <dgm:pt modelId="{E37D0829-0588-4B84-A025-52748ED34FAD}">
      <dgm:prSet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You configured REST API tools inside Copilot Studio to fetch real-time financial data programmatically.</a:t>
          </a:r>
        </a:p>
      </dgm:t>
    </dgm:pt>
    <dgm:pt modelId="{89E3CD77-C15F-4D1E-99F4-E530B4F292F9}" type="parTrans" cxnId="{7BDDE801-CE55-4025-9BBD-2914D2CF0D75}">
      <dgm:prSet/>
      <dgm:spPr/>
      <dgm:t>
        <a:bodyPr/>
        <a:lstStyle/>
        <a:p>
          <a:endParaRPr lang="en-CA" sz="1700"/>
        </a:p>
      </dgm:t>
    </dgm:pt>
    <dgm:pt modelId="{5978CB1D-2D6E-41CF-A8AC-A2E460CA47A9}" type="sibTrans" cxnId="{7BDDE801-CE55-4025-9BBD-2914D2CF0D75}">
      <dgm:prSet/>
      <dgm:spPr/>
      <dgm:t>
        <a:bodyPr/>
        <a:lstStyle/>
        <a:p>
          <a:endParaRPr lang="en-CA" sz="1700"/>
        </a:p>
      </dgm:t>
    </dgm:pt>
    <dgm:pt modelId="{6A916395-642F-4CF1-9ED4-73750F73DFEC}">
      <dgm:prSet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US" sz="1700" dirty="0">
              <a:latin typeface="Montserrat" panose="00000500000000000000" pitchFamily="2" charset="0"/>
            </a:rPr>
            <a:t>You practiced modifying and extending REST API specifications using JSON to support additional endpoints and data fields.</a:t>
          </a:r>
        </a:p>
      </dgm:t>
    </dgm:pt>
    <dgm:pt modelId="{AD403763-F869-4B60-B0A6-2BB456FAC9B0}" type="parTrans" cxnId="{A390C858-2240-40DF-AC77-7C717680A9F3}">
      <dgm:prSet/>
      <dgm:spPr/>
      <dgm:t>
        <a:bodyPr/>
        <a:lstStyle/>
        <a:p>
          <a:endParaRPr lang="en-CA" sz="1700"/>
        </a:p>
      </dgm:t>
    </dgm:pt>
    <dgm:pt modelId="{29AF0977-A539-4646-9B53-019D5BCD89C3}" type="sibTrans" cxnId="{A390C858-2240-40DF-AC77-7C717680A9F3}">
      <dgm:prSet/>
      <dgm:spPr/>
      <dgm:t>
        <a:bodyPr/>
        <a:lstStyle/>
        <a:p>
          <a:endParaRPr lang="en-CA" sz="1700"/>
        </a:p>
      </dgm:t>
    </dgm:pt>
    <dgm:pt modelId="{D0CCD457-7D44-40F6-A1E5-BE2FB793C746}" type="pres">
      <dgm:prSet presAssocID="{E375956B-7142-45B3-8DE5-D244F09C1DB8}" presName="linear" presStyleCnt="0">
        <dgm:presLayoutVars>
          <dgm:animLvl val="lvl"/>
          <dgm:resizeHandles val="exact"/>
        </dgm:presLayoutVars>
      </dgm:prSet>
      <dgm:spPr/>
    </dgm:pt>
    <dgm:pt modelId="{F7DA1DB4-7073-4F84-AF4B-BB11053C89F4}" type="pres">
      <dgm:prSet presAssocID="{DD6EE18B-509B-42A9-BC52-483677ED97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759975-B3FA-468F-A47E-3B5199749F3A}" type="pres">
      <dgm:prSet presAssocID="{29AFC0FA-0F5B-4700-A6CF-5A764E0ADA3A}" presName="spacer" presStyleCnt="0"/>
      <dgm:spPr/>
    </dgm:pt>
    <dgm:pt modelId="{489C78AC-DC37-4B32-9A26-EDB28E448FFD}" type="pres">
      <dgm:prSet presAssocID="{1869A516-5934-48CB-8255-69BD9689AB7F}" presName="parentText" presStyleLbl="node1" presStyleIdx="1" presStyleCnt="4">
        <dgm:presLayoutVars>
          <dgm:chMax val="0"/>
          <dgm:bulletEnabled val="1"/>
        </dgm:presLayoutVars>
      </dgm:prSet>
      <dgm:spPr>
        <a:xfrm>
          <a:off x="0" y="3411692"/>
          <a:ext cx="9827492" cy="556664"/>
        </a:xfrm>
        <a:prstGeom prst="roundRect">
          <a:avLst/>
        </a:prstGeom>
      </dgm:spPr>
    </dgm:pt>
    <dgm:pt modelId="{A25D2A23-7C2D-47DA-A5E8-5753F942C55A}" type="pres">
      <dgm:prSet presAssocID="{722D43CD-CD8F-4939-A37A-D29F52C8C1C9}" presName="spacer" presStyleCnt="0"/>
      <dgm:spPr/>
    </dgm:pt>
    <dgm:pt modelId="{A1C9CE39-0E57-4806-9D10-873141974A41}" type="pres">
      <dgm:prSet presAssocID="{E37D0829-0588-4B84-A025-52748ED34FAD}" presName="parentText" presStyleLbl="node1" presStyleIdx="2" presStyleCnt="4">
        <dgm:presLayoutVars>
          <dgm:chMax val="0"/>
          <dgm:bulletEnabled val="1"/>
        </dgm:presLayoutVars>
      </dgm:prSet>
      <dgm:spPr>
        <a:xfrm>
          <a:off x="0" y="3981898"/>
          <a:ext cx="9827492" cy="554470"/>
        </a:xfrm>
        <a:prstGeom prst="roundRect">
          <a:avLst/>
        </a:prstGeom>
      </dgm:spPr>
    </dgm:pt>
    <dgm:pt modelId="{3559CDB7-75E1-4B9C-AA65-C804DA47C490}" type="pres">
      <dgm:prSet presAssocID="{5978CB1D-2D6E-41CF-A8AC-A2E460CA47A9}" presName="spacer" presStyleCnt="0"/>
      <dgm:spPr/>
    </dgm:pt>
    <dgm:pt modelId="{5C3CF3B0-F030-4103-B3A7-F9057ABA7FBA}" type="pres">
      <dgm:prSet presAssocID="{6A916395-642F-4CF1-9ED4-73750F73DFE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BDDE801-CE55-4025-9BBD-2914D2CF0D75}" srcId="{E375956B-7142-45B3-8DE5-D244F09C1DB8}" destId="{E37D0829-0588-4B84-A025-52748ED34FAD}" srcOrd="2" destOrd="0" parTransId="{89E3CD77-C15F-4D1E-99F4-E530B4F292F9}" sibTransId="{5978CB1D-2D6E-41CF-A8AC-A2E460CA47A9}"/>
    <dgm:cxn modelId="{A390C858-2240-40DF-AC77-7C717680A9F3}" srcId="{E375956B-7142-45B3-8DE5-D244F09C1DB8}" destId="{6A916395-642F-4CF1-9ED4-73750F73DFEC}" srcOrd="3" destOrd="0" parTransId="{AD403763-F869-4B60-B0A6-2BB456FAC9B0}" sibTransId="{29AF0977-A539-4646-9B53-019D5BCD89C3}"/>
    <dgm:cxn modelId="{031FB98C-B672-40E7-B3EC-6FFC2ECEE921}" srcId="{E375956B-7142-45B3-8DE5-D244F09C1DB8}" destId="{1869A516-5934-48CB-8255-69BD9689AB7F}" srcOrd="1" destOrd="0" parTransId="{AED7B683-CB22-4608-9DB4-512F062121C2}" sibTransId="{722D43CD-CD8F-4939-A37A-D29F52C8C1C9}"/>
    <dgm:cxn modelId="{857F2BA1-EBF9-47A4-BE16-3ACC071F4FDD}" type="presOf" srcId="{E37D0829-0588-4B84-A025-52748ED34FAD}" destId="{A1C9CE39-0E57-4806-9D10-873141974A41}" srcOrd="0" destOrd="0" presId="urn:microsoft.com/office/officeart/2005/8/layout/vList2"/>
    <dgm:cxn modelId="{7D40C5B7-2965-4014-93E0-A7F2F56B57FF}" type="presOf" srcId="{DD6EE18B-509B-42A9-BC52-483677ED97AA}" destId="{F7DA1DB4-7073-4F84-AF4B-BB11053C89F4}" srcOrd="0" destOrd="0" presId="urn:microsoft.com/office/officeart/2005/8/layout/vList2"/>
    <dgm:cxn modelId="{2334A0B9-8EDC-47A9-86DA-45A792C8F7A4}" type="presOf" srcId="{E375956B-7142-45B3-8DE5-D244F09C1DB8}" destId="{D0CCD457-7D44-40F6-A1E5-BE2FB793C746}" srcOrd="0" destOrd="0" presId="urn:microsoft.com/office/officeart/2005/8/layout/vList2"/>
    <dgm:cxn modelId="{C901E3BE-D731-4FE4-8B4B-B2D9E69E36EB}" srcId="{E375956B-7142-45B3-8DE5-D244F09C1DB8}" destId="{DD6EE18B-509B-42A9-BC52-483677ED97AA}" srcOrd="0" destOrd="0" parTransId="{33519585-0D91-49A6-AC66-80AFE7F10CC2}" sibTransId="{29AFC0FA-0F5B-4700-A6CF-5A764E0ADA3A}"/>
    <dgm:cxn modelId="{BA11CEDD-39DF-4030-BBA7-4DCA29F9575C}" type="presOf" srcId="{1869A516-5934-48CB-8255-69BD9689AB7F}" destId="{489C78AC-DC37-4B32-9A26-EDB28E448FFD}" srcOrd="0" destOrd="0" presId="urn:microsoft.com/office/officeart/2005/8/layout/vList2"/>
    <dgm:cxn modelId="{348998F5-EAD1-43CD-B619-82E8A8853349}" type="presOf" srcId="{6A916395-642F-4CF1-9ED4-73750F73DFEC}" destId="{5C3CF3B0-F030-4103-B3A7-F9057ABA7FBA}" srcOrd="0" destOrd="0" presId="urn:microsoft.com/office/officeart/2005/8/layout/vList2"/>
    <dgm:cxn modelId="{BA385239-A027-49C9-90D8-5811B2B7EF2F}" type="presParOf" srcId="{D0CCD457-7D44-40F6-A1E5-BE2FB793C746}" destId="{F7DA1DB4-7073-4F84-AF4B-BB11053C89F4}" srcOrd="0" destOrd="0" presId="urn:microsoft.com/office/officeart/2005/8/layout/vList2"/>
    <dgm:cxn modelId="{E7629DC4-06DF-4845-8C6E-E24EA77A6E0B}" type="presParOf" srcId="{D0CCD457-7D44-40F6-A1E5-BE2FB793C746}" destId="{69759975-B3FA-468F-A47E-3B5199749F3A}" srcOrd="1" destOrd="0" presId="urn:microsoft.com/office/officeart/2005/8/layout/vList2"/>
    <dgm:cxn modelId="{586E42FF-130C-45C3-B8EC-CCB0813C3F12}" type="presParOf" srcId="{D0CCD457-7D44-40F6-A1E5-BE2FB793C746}" destId="{489C78AC-DC37-4B32-9A26-EDB28E448FFD}" srcOrd="2" destOrd="0" presId="urn:microsoft.com/office/officeart/2005/8/layout/vList2"/>
    <dgm:cxn modelId="{D12FC4B9-AC23-48B1-81F8-06093527DF47}" type="presParOf" srcId="{D0CCD457-7D44-40F6-A1E5-BE2FB793C746}" destId="{A25D2A23-7C2D-47DA-A5E8-5753F942C55A}" srcOrd="3" destOrd="0" presId="urn:microsoft.com/office/officeart/2005/8/layout/vList2"/>
    <dgm:cxn modelId="{C9F77C7C-CFCC-4376-8105-3E27727288A5}" type="presParOf" srcId="{D0CCD457-7D44-40F6-A1E5-BE2FB793C746}" destId="{A1C9CE39-0E57-4806-9D10-873141974A41}" srcOrd="4" destOrd="0" presId="urn:microsoft.com/office/officeart/2005/8/layout/vList2"/>
    <dgm:cxn modelId="{311C4CFF-E0CA-459F-9B68-F8BBBB856976}" type="presParOf" srcId="{D0CCD457-7D44-40F6-A1E5-BE2FB793C746}" destId="{3559CDB7-75E1-4B9C-AA65-C804DA47C490}" srcOrd="5" destOrd="0" presId="urn:microsoft.com/office/officeart/2005/8/layout/vList2"/>
    <dgm:cxn modelId="{84B9FBC2-30A7-417A-89FE-8BBACB33A397}" type="presParOf" srcId="{D0CCD457-7D44-40F6-A1E5-BE2FB793C746}" destId="{5C3CF3B0-F030-4103-B3A7-F9057ABA7F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58E55-37DC-4859-9ABB-EFE02DEEEF05}">
      <dsp:nvSpPr>
        <dsp:cNvPr id="0" name=""/>
        <dsp:cNvSpPr/>
      </dsp:nvSpPr>
      <dsp:spPr>
        <a:xfrm>
          <a:off x="1653759" y="2116"/>
          <a:ext cx="3206517" cy="1923910"/>
        </a:xfrm>
        <a:prstGeom prst="rect">
          <a:avLst/>
        </a:prstGeom>
        <a:solidFill>
          <a:srgbClr val="0C1752"/>
        </a:solidFill>
        <a:ln w="12700" cap="flat" cmpd="sng" algn="ctr">
          <a:solidFill>
            <a:srgbClr val="0C175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Montserrat" panose="00000500000000000000" pitchFamily="2" charset="0"/>
              <a:cs typeface="Mongolian Baiti" panose="03000500000000000000" pitchFamily="66" charset="0"/>
            </a:rPr>
            <a:t>Build an AI Agent that automates financial data analysis and report generation in Copilot Studio.</a:t>
          </a:r>
        </a:p>
      </dsp:txBody>
      <dsp:txXfrm>
        <a:off x="1653759" y="2116"/>
        <a:ext cx="3206517" cy="1923910"/>
      </dsp:txXfrm>
    </dsp:sp>
    <dsp:sp modelId="{BE73B1EC-B7E1-4848-84E7-7115730A32AA}">
      <dsp:nvSpPr>
        <dsp:cNvPr id="0" name=""/>
        <dsp:cNvSpPr/>
      </dsp:nvSpPr>
      <dsp:spPr>
        <a:xfrm>
          <a:off x="5180928" y="2116"/>
          <a:ext cx="3206517" cy="1923910"/>
        </a:xfrm>
        <a:prstGeom prst="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Learn how to build a prompt as a tool. </a:t>
          </a:r>
        </a:p>
      </dsp:txBody>
      <dsp:txXfrm>
        <a:off x="5180928" y="2116"/>
        <a:ext cx="3206517" cy="1923910"/>
      </dsp:txXfrm>
    </dsp:sp>
    <dsp:sp modelId="{66FD1FEE-6916-469C-AC20-5281BA353382}">
      <dsp:nvSpPr>
        <dsp:cNvPr id="0" name=""/>
        <dsp:cNvSpPr/>
      </dsp:nvSpPr>
      <dsp:spPr>
        <a:xfrm>
          <a:off x="1653759" y="2246678"/>
          <a:ext cx="3206517" cy="1923910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Montserrat" panose="00000500000000000000" pitchFamily="2" charset="0"/>
            </a:rPr>
            <a:t>Configure REST API Tools in Copilot Studio.  </a:t>
          </a:r>
        </a:p>
      </dsp:txBody>
      <dsp:txXfrm>
        <a:off x="1653759" y="2246678"/>
        <a:ext cx="3206517" cy="1923910"/>
      </dsp:txXfrm>
    </dsp:sp>
    <dsp:sp modelId="{6252F9F4-D0DC-4D13-9592-F953C7F49611}">
      <dsp:nvSpPr>
        <dsp:cNvPr id="0" name=""/>
        <dsp:cNvSpPr/>
      </dsp:nvSpPr>
      <dsp:spPr>
        <a:xfrm>
          <a:off x="5180928" y="2246678"/>
          <a:ext cx="3206517" cy="1923910"/>
        </a:xfrm>
        <a:prstGeom prst="rect">
          <a:avLst/>
        </a:prstGeom>
        <a:solidFill>
          <a:srgbClr val="11CCD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Montserrat" panose="00000500000000000000" pitchFamily="2" charset="0"/>
            </a:rPr>
            <a:t>Learn how to modify  REST API Specifications in JSON format</a:t>
          </a:r>
        </a:p>
      </dsp:txBody>
      <dsp:txXfrm>
        <a:off x="5180928" y="2246678"/>
        <a:ext cx="3206517" cy="19239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A1DB4-7073-4F84-AF4B-BB11053C89F4}">
      <dsp:nvSpPr>
        <dsp:cNvPr id="0" name=""/>
        <dsp:cNvSpPr/>
      </dsp:nvSpPr>
      <dsp:spPr>
        <a:xfrm>
          <a:off x="0" y="5710"/>
          <a:ext cx="9827492" cy="11419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Montserrat" panose="00000500000000000000" pitchFamily="2" charset="0"/>
            </a:rPr>
            <a:t>Designed and deployed an AI Agent in Copilot Studio that can autonomously analyze financial data and generate structured investment reports.</a:t>
          </a:r>
          <a:endParaRPr lang="en-US" sz="1700" b="0" kern="1200" dirty="0">
            <a:solidFill>
              <a:prstClr val="white"/>
            </a:solidFill>
            <a:latin typeface="Montserrat" panose="00000500000000000000" pitchFamily="2" charset="0"/>
            <a:ea typeface="+mn-ea"/>
            <a:cs typeface="+mn-cs"/>
          </a:endParaRPr>
        </a:p>
      </dsp:txBody>
      <dsp:txXfrm>
        <a:off x="55744" y="61454"/>
        <a:ext cx="9716004" cy="1030432"/>
      </dsp:txXfrm>
    </dsp:sp>
    <dsp:sp modelId="{489C78AC-DC37-4B32-9A26-EDB28E448FFD}">
      <dsp:nvSpPr>
        <dsp:cNvPr id="0" name=""/>
        <dsp:cNvSpPr/>
      </dsp:nvSpPr>
      <dsp:spPr>
        <a:xfrm>
          <a:off x="0" y="1323311"/>
          <a:ext cx="9827492" cy="11419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You learned how to convert a prompt into a reusable tool that your Agent can call during complex workflows.</a:t>
          </a:r>
        </a:p>
      </dsp:txBody>
      <dsp:txXfrm>
        <a:off x="55744" y="1379055"/>
        <a:ext cx="9716004" cy="1030432"/>
      </dsp:txXfrm>
    </dsp:sp>
    <dsp:sp modelId="{A1C9CE39-0E57-4806-9D10-873141974A41}">
      <dsp:nvSpPr>
        <dsp:cNvPr id="0" name=""/>
        <dsp:cNvSpPr/>
      </dsp:nvSpPr>
      <dsp:spPr>
        <a:xfrm>
          <a:off x="0" y="2640911"/>
          <a:ext cx="9827492" cy="11419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You configured REST API tools inside Copilot Studio to fetch real-time financial data programmatically.</a:t>
          </a:r>
        </a:p>
      </dsp:txBody>
      <dsp:txXfrm>
        <a:off x="55744" y="2696655"/>
        <a:ext cx="9716004" cy="1030432"/>
      </dsp:txXfrm>
    </dsp:sp>
    <dsp:sp modelId="{5C3CF3B0-F030-4103-B3A7-F9057ABA7FBA}">
      <dsp:nvSpPr>
        <dsp:cNvPr id="0" name=""/>
        <dsp:cNvSpPr/>
      </dsp:nvSpPr>
      <dsp:spPr>
        <a:xfrm>
          <a:off x="0" y="3958511"/>
          <a:ext cx="9827492" cy="11419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Montserrat" panose="00000500000000000000" pitchFamily="2" charset="0"/>
            </a:rPr>
            <a:t>You practiced modifying and extending REST API specifications using JSON to support additional endpoints and data fields.</a:t>
          </a:r>
        </a:p>
      </dsp:txBody>
      <dsp:txXfrm>
        <a:off x="55744" y="4014255"/>
        <a:ext cx="9716004" cy="1030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site.financialmodelingprep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jsonformatter.or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8.png"/><Relationship Id="rId9" Type="http://schemas.microsoft.com/office/2007/relationships/diagramDrawing" Target="../diagrams/drawin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2" y="490801"/>
            <a:ext cx="52706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BUILD FINANCIAL ANALYST &amp; REPORT GENERATOR AI AGENT WITH ADVANCED TOOLS </a:t>
            </a:r>
            <a:endParaRPr lang="en-US" sz="3200" b="1" dirty="0">
              <a:solidFill>
                <a:schemeClr val="bg1"/>
              </a:solidFill>
              <a:latin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2E7FC-AEDE-A55E-8C3E-B1FE6FF0F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126ACF-12BF-4F3A-0975-2113AB72D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4A431E-FC9C-33C2-272D-F49CCF37BF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14989E3-5A3A-03E4-E3B8-2C44227332E6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A6A184-CCB1-E0F6-0BF8-191EC06C82C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D934E7-6DF6-A003-24C2-E0DEE6DA3588}"/>
              </a:ext>
            </a:extLst>
          </p:cNvPr>
          <p:cNvSpPr txBox="1"/>
          <p:nvPr/>
        </p:nvSpPr>
        <p:spPr>
          <a:xfrm>
            <a:off x="230981" y="820267"/>
            <a:ext cx="117300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This project builds an autonomous agent that performs full investment research: fetches financial ratios from REST API, analyzes valuation and generates a structured investment memo in Word and saves it to OneDrive.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F7156A-DFE6-5769-708E-BA8AD31DB171}"/>
              </a:ext>
            </a:extLst>
          </p:cNvPr>
          <p:cNvSpPr/>
          <p:nvPr/>
        </p:nvSpPr>
        <p:spPr>
          <a:xfrm>
            <a:off x="1632715" y="4950254"/>
            <a:ext cx="2219851" cy="1057127"/>
          </a:xfrm>
          <a:prstGeom prst="round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i="1" dirty="0">
                <a:latin typeface="Montserrat" panose="00000500000000000000" pitchFamily="2" charset="0"/>
              </a:rPr>
              <a:t>Autonomous AI Agent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8788D2-4362-2EC2-ACDF-F6F3515974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45" t="12909" r="14985" b="14724"/>
          <a:stretch>
            <a:fillRect/>
          </a:stretch>
        </p:blipFill>
        <p:spPr>
          <a:xfrm>
            <a:off x="1652264" y="3588500"/>
            <a:ext cx="1970964" cy="13338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222ED4-6370-E683-BED6-E1B7ACEFF9F3}"/>
              </a:ext>
            </a:extLst>
          </p:cNvPr>
          <p:cNvSpPr txBox="1"/>
          <p:nvPr/>
        </p:nvSpPr>
        <p:spPr>
          <a:xfrm>
            <a:off x="193087" y="4236435"/>
            <a:ext cx="1160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i="1" dirty="0">
                <a:latin typeface="Montserrat" panose="00000500000000000000" pitchFamily="2" charset="0"/>
              </a:rPr>
              <a:t>Trigger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EF2E24-FA1B-85B3-AAAB-E12E0188B81F}"/>
              </a:ext>
            </a:extLst>
          </p:cNvPr>
          <p:cNvCxnSpPr>
            <a:cxnSpLocks/>
          </p:cNvCxnSpPr>
          <p:nvPr/>
        </p:nvCxnSpPr>
        <p:spPr>
          <a:xfrm flipV="1">
            <a:off x="2120085" y="3212264"/>
            <a:ext cx="0" cy="73079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64CBB4-F74B-53E2-609A-9104D5939FA6}"/>
              </a:ext>
            </a:extLst>
          </p:cNvPr>
          <p:cNvCxnSpPr>
            <a:cxnSpLocks/>
          </p:cNvCxnSpPr>
          <p:nvPr/>
        </p:nvCxnSpPr>
        <p:spPr>
          <a:xfrm>
            <a:off x="3188436" y="3270554"/>
            <a:ext cx="0" cy="67250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F40DBB-C093-7259-09BE-4EC87BDCC057}"/>
              </a:ext>
            </a:extLst>
          </p:cNvPr>
          <p:cNvCxnSpPr>
            <a:cxnSpLocks/>
          </p:cNvCxnSpPr>
          <p:nvPr/>
        </p:nvCxnSpPr>
        <p:spPr>
          <a:xfrm flipV="1">
            <a:off x="3880528" y="2755392"/>
            <a:ext cx="1370369" cy="2172263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36B864-14E0-5A9D-D96F-13047D635859}"/>
              </a:ext>
            </a:extLst>
          </p:cNvPr>
          <p:cNvCxnSpPr>
            <a:cxnSpLocks/>
          </p:cNvCxnSpPr>
          <p:nvPr/>
        </p:nvCxnSpPr>
        <p:spPr>
          <a:xfrm flipV="1">
            <a:off x="3921489" y="5428168"/>
            <a:ext cx="3963604" cy="16261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DA3A557-463E-92AE-0ECE-7E3725B7349F}"/>
              </a:ext>
            </a:extLst>
          </p:cNvPr>
          <p:cNvSpPr txBox="1"/>
          <p:nvPr/>
        </p:nvSpPr>
        <p:spPr>
          <a:xfrm>
            <a:off x="1353982" y="1428665"/>
            <a:ext cx="1407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 i="1">
                <a:latin typeface="Montserrat" panose="00000500000000000000" pitchFamily="2" charset="0"/>
              </a:defRPr>
            </a:lvl1pPr>
          </a:lstStyle>
          <a:p>
            <a:r>
              <a:rPr lang="en-CA" sz="2000" dirty="0"/>
              <a:t>REST API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9C4632-1F8B-1248-8A49-744D20981E41}"/>
              </a:ext>
            </a:extLst>
          </p:cNvPr>
          <p:cNvSpPr txBox="1"/>
          <p:nvPr/>
        </p:nvSpPr>
        <p:spPr>
          <a:xfrm>
            <a:off x="5485214" y="1444657"/>
            <a:ext cx="2579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 i="1">
                <a:latin typeface="Montserrat" panose="00000500000000000000" pitchFamily="2" charset="0"/>
              </a:defRPr>
            </a:lvl1pPr>
          </a:lstStyle>
          <a:p>
            <a:r>
              <a:rPr lang="en-CA" sz="2000" dirty="0"/>
              <a:t>Prompt As a Tool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5075B5-6595-6A69-96A7-F7F8B3054E1F}"/>
              </a:ext>
            </a:extLst>
          </p:cNvPr>
          <p:cNvSpPr txBox="1"/>
          <p:nvPr/>
        </p:nvSpPr>
        <p:spPr>
          <a:xfrm>
            <a:off x="7947239" y="2531084"/>
            <a:ext cx="250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 i="1">
                <a:latin typeface="Montserrat" panose="00000500000000000000" pitchFamily="2" charset="0"/>
              </a:defRPr>
            </a:lvl1pPr>
          </a:lstStyle>
          <a:p>
            <a:r>
              <a:rPr lang="en-CA" sz="2000" dirty="0"/>
              <a:t>Generate Report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A943B01-F860-DC63-6990-8D2712AB2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93" y="1810773"/>
            <a:ext cx="3533050" cy="1374273"/>
          </a:xfrm>
          <a:prstGeom prst="rect">
            <a:avLst/>
          </a:prstGeom>
        </p:spPr>
      </p:pic>
      <p:pic>
        <p:nvPicPr>
          <p:cNvPr id="1027" name="Picture 3" descr="Tesla Logo: A Journey Through Innovation and Symbolism">
            <a:extLst>
              <a:ext uri="{FF2B5EF4-FFF2-40B4-BE49-F238E27FC236}">
                <a16:creationId xmlns:a16="http://schemas.microsoft.com/office/drawing/2014/main" id="{A03D98C3-6B04-B838-3B95-F19ACC8B3D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1" t="15015" r="28036" b="13265"/>
          <a:stretch>
            <a:fillRect/>
          </a:stretch>
        </p:blipFill>
        <p:spPr bwMode="auto">
          <a:xfrm>
            <a:off x="154722" y="4627214"/>
            <a:ext cx="1123748" cy="125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F249191-0DA0-E7FC-C090-E1EAE409A3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0382" y="2053780"/>
            <a:ext cx="1087369" cy="108736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69F4F6E-F2A9-A6F0-1BB7-D6924CF8E9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4595" y="2907791"/>
            <a:ext cx="2626493" cy="347786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D09E73-111B-232E-D4EC-64B8B920C7CB}"/>
              </a:ext>
            </a:extLst>
          </p:cNvPr>
          <p:cNvCxnSpPr>
            <a:cxnSpLocks/>
          </p:cNvCxnSpPr>
          <p:nvPr/>
        </p:nvCxnSpPr>
        <p:spPr>
          <a:xfrm>
            <a:off x="967617" y="5428168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0831778E-13D0-A61E-2D06-A9947EEAB2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9804" y="1804269"/>
            <a:ext cx="2435289" cy="238347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3B5FFE8-3EE4-C80D-7C3A-84CDAF92BFC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" t="18416" r="-2774" b="22877"/>
          <a:stretch>
            <a:fillRect/>
          </a:stretch>
        </p:blipFill>
        <p:spPr>
          <a:xfrm>
            <a:off x="7920503" y="1343653"/>
            <a:ext cx="1311938" cy="917190"/>
          </a:xfrm>
          <a:prstGeom prst="rect">
            <a:avLst/>
          </a:prstGeom>
        </p:spPr>
      </p:pic>
      <p:pic>
        <p:nvPicPr>
          <p:cNvPr id="1031" name="Picture 7" descr="FMP | LinkedIn">
            <a:extLst>
              <a:ext uri="{FF2B5EF4-FFF2-40B4-BE49-F238E27FC236}">
                <a16:creationId xmlns:a16="http://schemas.microsoft.com/office/drawing/2014/main" id="{03E4652A-5210-8C63-1752-9DDD106AA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940" y="1380719"/>
            <a:ext cx="902364" cy="902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70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  <p:bldP spid="22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259A-CD2C-0446-CFDB-7C77F895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63B532-B70B-27B1-177A-CB748A1A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EB8891-9091-D8AE-274C-311260BAD8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D59B6F3-FE94-D3AD-FBDF-FCCA6423DC8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Learning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A16CE7-2A01-E640-0FE1-E69B0F92F97D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773C611-BA6D-FC93-DE06-38892BF0D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743712"/>
              </p:ext>
            </p:extLst>
          </p:nvPr>
        </p:nvGraphicFramePr>
        <p:xfrm>
          <a:off x="-96355" y="1374387"/>
          <a:ext cx="10041205" cy="4172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D0D5BC5-AA51-6124-3A42-ADDC656CF4D1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81267" y="642643"/>
            <a:ext cx="1853533" cy="187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3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B558E55-37DC-4859-9ABB-EFE02DEEE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1B558E55-37DC-4859-9ABB-EFE02DEEEF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E73B1EC-B7E1-4848-84E7-7115730A32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BE73B1EC-B7E1-4848-84E7-7115730A32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6FD1FEE-6916-469C-AC20-5281BA3533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66FD1FEE-6916-469C-AC20-5281BA3533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252F9F4-D0DC-4D13-9592-F953C7F496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6252F9F4-D0DC-4D13-9592-F953C7F496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69C9D-C28B-8CA1-272B-A854EE058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58DD74-BE65-6DBA-C5DD-53ADE210A3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5AFA74-0193-B315-6C81-71140D938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EFAC43-47F5-549E-EEB1-477AC5D28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261010-6840-755D-71D1-D8B63560669A}"/>
              </a:ext>
            </a:extLst>
          </p:cNvPr>
          <p:cNvSpPr txBox="1"/>
          <p:nvPr/>
        </p:nvSpPr>
        <p:spPr>
          <a:xfrm>
            <a:off x="550506" y="536130"/>
            <a:ext cx="5240694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 dirty="0"/>
              <a:t>REST API SETUP</a:t>
            </a:r>
          </a:p>
        </p:txBody>
      </p:sp>
    </p:spTree>
    <p:extLst>
      <p:ext uri="{BB962C8B-B14F-4D97-AF65-F5344CB8AC3E}">
        <p14:creationId xmlns:p14="http://schemas.microsoft.com/office/powerpoint/2010/main" val="153051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95F50-397F-A0A3-422E-32A32DDDF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FD334A-A65B-2F12-6EE3-F42EC5296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C6C26F-58D7-1415-D9B3-77FD1EB9F2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BAA415F-2711-B9CD-B2E2-A430CDFE25AC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FMP for Accessing Financial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7B232A-7252-B113-4B6B-D3A08B033D8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C36F0-7E93-4940-6DEF-E1CCD9D818B3}"/>
              </a:ext>
            </a:extLst>
          </p:cNvPr>
          <p:cNvSpPr txBox="1"/>
          <p:nvPr/>
        </p:nvSpPr>
        <p:spPr>
          <a:xfrm>
            <a:off x="616951" y="816543"/>
            <a:ext cx="9579013" cy="585476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>
              <a:lnSpc>
                <a:spcPct val="100000"/>
              </a:lnSpc>
              <a:spcBef>
                <a:spcPts val="1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600" b="1"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1114425" lvl="1" indent="-42862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6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7145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4003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30861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3771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6pPr>
            <a:lvl7pPr marL="44577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7pPr>
            <a:lvl8pPr marL="51435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8pPr>
            <a:lvl9pPr marL="58293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9pPr>
          </a:lstStyle>
          <a:p>
            <a:pPr marL="228611" indent="-228611" defTabSz="914446" fontAlgn="base">
              <a:spcBef>
                <a:spcPts val="1000"/>
              </a:spcBef>
              <a:spcAft>
                <a:spcPts val="0"/>
              </a:spcAft>
            </a:pPr>
            <a:endParaRPr lang="en-US" sz="900" b="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580F1-44C6-200F-3AB0-683DCC78A2C1}"/>
              </a:ext>
            </a:extLst>
          </p:cNvPr>
          <p:cNvSpPr txBox="1"/>
          <p:nvPr/>
        </p:nvSpPr>
        <p:spPr>
          <a:xfrm>
            <a:off x="344459" y="794886"/>
            <a:ext cx="84010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Montserrat" panose="00000500000000000000" pitchFamily="2" charset="0"/>
              </a:rPr>
              <a:t>Link: </a:t>
            </a:r>
            <a:r>
              <a:rPr lang="en-CA" sz="1600" dirty="0">
                <a:latin typeface="Montserrat" panose="00000500000000000000" pitchFamily="2" charset="0"/>
                <a:hlinkClick r:id="rId4"/>
              </a:rPr>
              <a:t>https://site.financialmodelingprep.com/</a:t>
            </a:r>
            <a:endParaRPr lang="en-CA" sz="160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300B11-BC4D-8750-BB4B-F932B90C1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23" y="1379661"/>
            <a:ext cx="10501745" cy="4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27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B247-CCD4-1709-A5A6-491838ACB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0C7C6A-7A41-E919-2779-22915531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CA204F-3ED4-EF37-1AF4-53EDBF8D14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6B7D797-6230-7118-3EE4-A724DE0A138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REST API Configuration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692E0-C4E4-D474-0DA6-92A85F75D474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3CD2D-8AAC-BC6B-7C54-ED2FFB5EF8ED}"/>
              </a:ext>
            </a:extLst>
          </p:cNvPr>
          <p:cNvSpPr txBox="1"/>
          <p:nvPr/>
        </p:nvSpPr>
        <p:spPr>
          <a:xfrm>
            <a:off x="616951" y="816543"/>
            <a:ext cx="9579013" cy="585476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>
              <a:lnSpc>
                <a:spcPct val="100000"/>
              </a:lnSpc>
              <a:spcBef>
                <a:spcPts val="1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600" b="1"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1114425" lvl="1" indent="-42862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6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7145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4003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30861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3771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6pPr>
            <a:lvl7pPr marL="44577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7pPr>
            <a:lvl8pPr marL="51435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8pPr>
            <a:lvl9pPr marL="58293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9pPr>
          </a:lstStyle>
          <a:p>
            <a:pPr marL="228611" indent="-228611" defTabSz="914446" fontAlgn="base">
              <a:spcBef>
                <a:spcPts val="1000"/>
              </a:spcBef>
              <a:spcAft>
                <a:spcPts val="0"/>
              </a:spcAft>
            </a:pPr>
            <a:endParaRPr lang="en-US" sz="900" b="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E23ED0-14FC-2C40-90D4-00843DA96D0A}"/>
              </a:ext>
            </a:extLst>
          </p:cNvPr>
          <p:cNvSpPr txBox="1"/>
          <p:nvPr/>
        </p:nvSpPr>
        <p:spPr>
          <a:xfrm>
            <a:off x="344459" y="794886"/>
            <a:ext cx="8401051" cy="847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Montserrat" panose="00000500000000000000" pitchFamily="2" charset="0"/>
              </a:rPr>
              <a:t>To better read JSON files, use: </a:t>
            </a:r>
            <a:r>
              <a:rPr lang="en-CA" sz="1600" dirty="0">
                <a:latin typeface="Montserrat" panose="00000500000000000000" pitchFamily="2" charset="0"/>
                <a:hlinkClick r:id="rId4"/>
              </a:rPr>
              <a:t>https://jsonformatter.org/</a:t>
            </a:r>
            <a:endParaRPr lang="en-CA" sz="1600" dirty="0">
              <a:latin typeface="Montserrat" panose="00000500000000000000" pitchFamily="2" charset="0"/>
            </a:endParaRPr>
          </a:p>
          <a:p>
            <a:endParaRPr lang="en-CA" sz="1600" kern="100" dirty="0">
              <a:effectLst/>
              <a:latin typeface="Montserrat" panose="00000500000000000000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6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953FCA-1663-19EE-3D7C-153D47A5C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11" y="1288247"/>
            <a:ext cx="8537978" cy="4911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0BB67A-D4CC-C1A2-AE79-7843E1978C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1092" y="1309838"/>
            <a:ext cx="5579636" cy="4790477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4B6B8BE-E88D-E724-B41F-AD249B2B281A}"/>
              </a:ext>
            </a:extLst>
          </p:cNvPr>
          <p:cNvSpPr/>
          <p:nvPr/>
        </p:nvSpPr>
        <p:spPr>
          <a:xfrm>
            <a:off x="1967861" y="1288247"/>
            <a:ext cx="333967" cy="254226"/>
          </a:xfrm>
          <a:prstGeom prst="ellipse">
            <a:avLst/>
          </a:prstGeom>
          <a:noFill/>
          <a:ln w="28575">
            <a:solidFill>
              <a:srgbClr val="D56E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0BC352-2080-D798-408B-35CF275DB08F}"/>
              </a:ext>
            </a:extLst>
          </p:cNvPr>
          <p:cNvSpPr/>
          <p:nvPr/>
        </p:nvSpPr>
        <p:spPr>
          <a:xfrm>
            <a:off x="5907170" y="3500582"/>
            <a:ext cx="1632022" cy="230910"/>
          </a:xfrm>
          <a:prstGeom prst="ellipse">
            <a:avLst/>
          </a:prstGeom>
          <a:noFill/>
          <a:ln w="28575">
            <a:solidFill>
              <a:srgbClr val="D56E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4527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673D8-C0E5-F911-A4D6-ED76D1FEC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AF693C-41EE-E889-3EAE-97C15A5EFC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46CCF6-F049-A0AF-FD00-D919D956D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E7E62D-77C8-C138-DF33-E220AF7EA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6458F5-4E4A-5BBE-65A2-21FF2B0912F2}"/>
              </a:ext>
            </a:extLst>
          </p:cNvPr>
          <p:cNvSpPr txBox="1"/>
          <p:nvPr/>
        </p:nvSpPr>
        <p:spPr>
          <a:xfrm>
            <a:off x="550506" y="536130"/>
            <a:ext cx="5240694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 dirty="0"/>
              <a:t>PRACTICE OPPORTUNITY</a:t>
            </a:r>
          </a:p>
        </p:txBody>
      </p:sp>
    </p:spTree>
    <p:extLst>
      <p:ext uri="{BB962C8B-B14F-4D97-AF65-F5344CB8AC3E}">
        <p14:creationId xmlns:p14="http://schemas.microsoft.com/office/powerpoint/2010/main" val="117507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A976B-C1CB-8139-6175-802941E41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B125B9-6795-05D3-C273-DD59D5CD7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7CF35F-1DCC-F277-41A4-5E5969BC13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71D3EDD-9C57-73B4-AA5E-A6F80EDB120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803596-C5B1-14C5-89AE-DA572BDA083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03639-3524-D927-568B-BE713D6F94A7}"/>
              </a:ext>
            </a:extLst>
          </p:cNvPr>
          <p:cNvSpPr txBox="1"/>
          <p:nvPr/>
        </p:nvSpPr>
        <p:spPr>
          <a:xfrm>
            <a:off x="616951" y="816543"/>
            <a:ext cx="9579013" cy="585476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>
              <a:lnSpc>
                <a:spcPct val="100000"/>
              </a:lnSpc>
              <a:spcBef>
                <a:spcPts val="1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600" b="1"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1114425" lvl="1" indent="-42862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6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7145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4003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30861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3771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6pPr>
            <a:lvl7pPr marL="44577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7pPr>
            <a:lvl8pPr marL="51435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8pPr>
            <a:lvl9pPr marL="58293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9pPr>
          </a:lstStyle>
          <a:p>
            <a:pPr marL="228611" indent="-228611" defTabSz="914446" fontAlgn="base">
              <a:spcBef>
                <a:spcPts val="1000"/>
              </a:spcBef>
              <a:spcAft>
                <a:spcPts val="0"/>
              </a:spcAft>
            </a:pPr>
            <a:endParaRPr lang="en-US" sz="900" b="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01A065-DD9C-3053-D8CB-750661FD3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268" y="1459823"/>
            <a:ext cx="3060152" cy="24214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78C9C6-591C-0AE9-40B4-A249F2A489C3}"/>
              </a:ext>
            </a:extLst>
          </p:cNvPr>
          <p:cNvSpPr txBox="1"/>
          <p:nvPr/>
        </p:nvSpPr>
        <p:spPr>
          <a:xfrm>
            <a:off x="344460" y="794886"/>
            <a:ext cx="10544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Update the JSON definition so the API can also call the “income-statement-growth endpoint” in addition to “ratios”.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Import and configure the updated API in Copilot Studio, then test it by running a request for Tesla (TSLA) income statements growth numbers.</a:t>
            </a:r>
          </a:p>
        </p:txBody>
      </p:sp>
    </p:spTree>
    <p:extLst>
      <p:ext uri="{BB962C8B-B14F-4D97-AF65-F5344CB8AC3E}">
        <p14:creationId xmlns:p14="http://schemas.microsoft.com/office/powerpoint/2010/main" val="21002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B117-6059-37C4-28C1-A703AC7A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FDCF00-2593-2E58-7C4D-4A69CD1CD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ED88A1-B35E-15EA-F737-248F4735D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E8B7729-CA9C-758B-B0EC-05DBBB257F4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5D46CC-F919-03A7-FF9D-C027B7FA216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E5CDC-76B0-5440-D2FB-5680C7EC73A4}"/>
              </a:ext>
            </a:extLst>
          </p:cNvPr>
          <p:cNvSpPr txBox="1"/>
          <p:nvPr/>
        </p:nvSpPr>
        <p:spPr>
          <a:xfrm>
            <a:off x="616951" y="816543"/>
            <a:ext cx="9579013" cy="585476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>
              <a:lnSpc>
                <a:spcPct val="100000"/>
              </a:lnSpc>
              <a:spcBef>
                <a:spcPts val="1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600" b="1"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1114425" lvl="1" indent="-42862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6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7145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4003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30861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3771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6pPr>
            <a:lvl7pPr marL="44577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7pPr>
            <a:lvl8pPr marL="51435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8pPr>
            <a:lvl9pPr marL="58293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9pPr>
          </a:lstStyle>
          <a:p>
            <a:pPr marL="228611" indent="-228611" defTabSz="914446" fontAlgn="base">
              <a:spcBef>
                <a:spcPts val="1000"/>
              </a:spcBef>
              <a:spcAft>
                <a:spcPts val="0"/>
              </a:spcAft>
            </a:pPr>
            <a:endParaRPr lang="en-US" sz="900" b="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97285C-85A3-13B9-432E-D69AE37B7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268" y="1459823"/>
            <a:ext cx="3060152" cy="2421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D780D4-60BF-9C85-6066-F2981F140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635" y="743390"/>
            <a:ext cx="4095621" cy="581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5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F6620-3831-B9AB-F1DB-0BA10580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5EDF9A-6011-907E-EE5A-ED2477CC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7B1850-35E4-3ECF-0670-4767056A52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DEBF56-6EE6-076C-102C-4FD41140BA1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D3E14-E341-6833-1EBF-896296E335D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7600C-84B4-C578-295E-23C9DFFC5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14" y="747533"/>
            <a:ext cx="1924946" cy="1903870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04D8008-416A-3257-C658-8D212E939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7345616"/>
              </p:ext>
            </p:extLst>
          </p:nvPr>
        </p:nvGraphicFramePr>
        <p:xfrm>
          <a:off x="77361" y="1168129"/>
          <a:ext cx="9827492" cy="5106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4063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7DA1DB4-7073-4F84-AF4B-BB11053C89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F7DA1DB4-7073-4F84-AF4B-BB11053C89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89C78AC-DC37-4B32-9A26-EDB28E448F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489C78AC-DC37-4B32-9A26-EDB28E448F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1C9CE39-0E57-4806-9D10-873141974A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A1C9CE39-0E57-4806-9D10-873141974A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C3CF3B0-F030-4103-B3A7-F9057ABA7F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5C3CF3B0-F030-4103-B3A7-F9057ABA7FB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9951</TotalTime>
  <Words>369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556</cp:revision>
  <dcterms:created xsi:type="dcterms:W3CDTF">2019-11-18T17:58:36Z</dcterms:created>
  <dcterms:modified xsi:type="dcterms:W3CDTF">2025-12-03T22:22:59Z</dcterms:modified>
</cp:coreProperties>
</file>