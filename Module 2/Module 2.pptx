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565" r:id="rId2"/>
    <p:sldId id="4238" r:id="rId3"/>
    <p:sldId id="4221" r:id="rId4"/>
    <p:sldId id="4218" r:id="rId5"/>
    <p:sldId id="4168" r:id="rId6"/>
    <p:sldId id="4162" r:id="rId7"/>
    <p:sldId id="4229" r:id="rId8"/>
    <p:sldId id="4186" r:id="rId9"/>
    <p:sldId id="4191" r:id="rId10"/>
    <p:sldId id="4189" r:id="rId11"/>
    <p:sldId id="4190" r:id="rId12"/>
    <p:sldId id="4228" r:id="rId13"/>
    <p:sldId id="27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6E48"/>
    <a:srgbClr val="0C1752"/>
    <a:srgbClr val="1BBFD1"/>
    <a:srgbClr val="11CCDD"/>
    <a:srgbClr val="E3E9EE"/>
    <a:srgbClr val="FFFFFF"/>
    <a:srgbClr val="F09063"/>
    <a:srgbClr val="F9F9F9"/>
    <a:srgbClr val="E7C24C"/>
    <a:srgbClr val="FF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721"/>
  </p:normalViewPr>
  <p:slideViewPr>
    <p:cSldViewPr snapToGrid="0" snapToObjects="1">
      <p:cViewPr>
        <p:scale>
          <a:sx n="75" d="100"/>
          <a:sy n="75" d="100"/>
        </p:scale>
        <p:origin x="1212" y="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BB5DF1-6160-48DA-9244-780755A51C3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566F586A-A994-4804-9C96-3046E55639C7}">
      <dgm:prSet phldrT="[Text]" custT="1"/>
      <dgm:spPr>
        <a:solidFill>
          <a:srgbClr val="0C1752"/>
        </a:solidFill>
        <a:ln>
          <a:solidFill>
            <a:srgbClr val="0C1752"/>
          </a:solidFill>
        </a:ln>
      </dgm:spPr>
      <dgm:t>
        <a:bodyPr/>
        <a:lstStyle/>
        <a:p>
          <a:r>
            <a:rPr lang="en-CA" sz="1800" dirty="0">
              <a:latin typeface="Montserrat" panose="00000500000000000000" pitchFamily="2" charset="0"/>
              <a:cs typeface="Mongolian Baiti" panose="03000500000000000000" pitchFamily="66" charset="0"/>
            </a:rPr>
            <a:t>Build RAG-based AI agents for Eleven Madison Park restaurant in Copilot Studio.</a:t>
          </a:r>
        </a:p>
      </dgm:t>
    </dgm:pt>
    <dgm:pt modelId="{0E646359-7774-44D7-A78E-48FF645A581F}" type="parTrans" cxnId="{9FB5AB61-78F8-4CE9-BA1C-2D3174FA942B}">
      <dgm:prSet/>
      <dgm:spPr/>
      <dgm:t>
        <a:bodyPr/>
        <a:lstStyle/>
        <a:p>
          <a:endParaRPr lang="en-CA" sz="2200">
            <a:latin typeface="Montserrat" panose="00000500000000000000" pitchFamily="2" charset="0"/>
            <a:cs typeface="Mongolian Baiti" panose="03000500000000000000" pitchFamily="66" charset="0"/>
          </a:endParaRPr>
        </a:p>
      </dgm:t>
    </dgm:pt>
    <dgm:pt modelId="{354A0CE6-2E67-42BB-BD99-61C4184CA873}" type="sibTrans" cxnId="{9FB5AB61-78F8-4CE9-BA1C-2D3174FA942B}">
      <dgm:prSet/>
      <dgm:spPr/>
      <dgm:t>
        <a:bodyPr/>
        <a:lstStyle/>
        <a:p>
          <a:endParaRPr lang="en-CA" sz="2200">
            <a:latin typeface="Montserrat" panose="00000500000000000000" pitchFamily="2" charset="0"/>
            <a:cs typeface="Mongolian Baiti" panose="03000500000000000000" pitchFamily="66" charset="0"/>
          </a:endParaRPr>
        </a:p>
      </dgm:t>
    </dgm:pt>
    <dgm:pt modelId="{B748CD7C-02FD-44C4-B494-1F9165E415A7}">
      <dgm:prSet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pPr>
            <a:buNone/>
          </a:pPr>
          <a:r>
            <a:rPr lang="en-CA" sz="1800" dirty="0">
              <a:latin typeface="Montserrat" panose="00000500000000000000" pitchFamily="2" charset="0"/>
            </a:rPr>
            <a:t>Add External and Internal Knowledge to the AI Agent (websites, PDFs, word).</a:t>
          </a:r>
        </a:p>
      </dgm:t>
    </dgm:pt>
    <dgm:pt modelId="{75633EF6-3651-49F2-9C03-9B1C9DED27FC}" type="parTrans" cxnId="{F2C1E8F5-A05B-4B6C-ACA9-4D950A05A7C7}">
      <dgm:prSet/>
      <dgm:spPr/>
      <dgm:t>
        <a:bodyPr/>
        <a:lstStyle/>
        <a:p>
          <a:endParaRPr lang="en-CA"/>
        </a:p>
      </dgm:t>
    </dgm:pt>
    <dgm:pt modelId="{0D010DA5-31AB-48DF-9B53-E1F5217872FD}" type="sibTrans" cxnId="{F2C1E8F5-A05B-4B6C-ACA9-4D950A05A7C7}">
      <dgm:prSet/>
      <dgm:spPr/>
      <dgm:t>
        <a:bodyPr/>
        <a:lstStyle/>
        <a:p>
          <a:endParaRPr lang="en-CA"/>
        </a:p>
      </dgm:t>
    </dgm:pt>
    <dgm:pt modelId="{A3285C98-AA88-4637-97EA-786313CE6411}">
      <dgm:prSet custT="1"/>
      <dgm:spPr>
        <a:solidFill>
          <a:srgbClr val="11CCDD"/>
        </a:solidFill>
      </dgm:spPr>
      <dgm:t>
        <a:bodyPr/>
        <a:lstStyle/>
        <a:p>
          <a:pPr>
            <a:buNone/>
          </a:pPr>
          <a:r>
            <a:rPr lang="en-CA" sz="1800" dirty="0">
              <a:latin typeface="Montserrat" panose="00000500000000000000" pitchFamily="2" charset="0"/>
            </a:rPr>
            <a:t>Add/customize Agent Triggers.</a:t>
          </a:r>
        </a:p>
      </dgm:t>
    </dgm:pt>
    <dgm:pt modelId="{B9FA6B9C-F558-405F-83AC-07A99FECA3D5}" type="parTrans" cxnId="{DB18EF07-1110-4A97-8277-3159765C5A05}">
      <dgm:prSet/>
      <dgm:spPr/>
      <dgm:t>
        <a:bodyPr/>
        <a:lstStyle/>
        <a:p>
          <a:endParaRPr lang="en-CA"/>
        </a:p>
      </dgm:t>
    </dgm:pt>
    <dgm:pt modelId="{0654A194-C5A6-4D5B-9DF7-8777FDE3DC89}" type="sibTrans" cxnId="{DB18EF07-1110-4A97-8277-3159765C5A05}">
      <dgm:prSet/>
      <dgm:spPr/>
      <dgm:t>
        <a:bodyPr/>
        <a:lstStyle/>
        <a:p>
          <a:endParaRPr lang="en-CA"/>
        </a:p>
      </dgm:t>
    </dgm:pt>
    <dgm:pt modelId="{FF0EA3FF-F38A-4267-B4D2-62D3A2DCDB36}">
      <dgm:prSet custT="1"/>
      <dgm:spPr>
        <a:solidFill>
          <a:srgbClr val="0C1752"/>
        </a:solidFill>
      </dgm:spPr>
      <dgm:t>
        <a:bodyPr/>
        <a:lstStyle/>
        <a:p>
          <a:pPr>
            <a:buNone/>
          </a:pPr>
          <a:r>
            <a:rPr lang="en-CA" sz="1800" dirty="0">
              <a:latin typeface="Montserrat" panose="00000500000000000000" pitchFamily="2" charset="0"/>
            </a:rPr>
            <a:t>Publish and Test AI Agents in CoPilot Studio.</a:t>
          </a:r>
        </a:p>
      </dgm:t>
    </dgm:pt>
    <dgm:pt modelId="{E818C447-7B57-467F-B124-1AF6E938BCCC}" type="parTrans" cxnId="{E4A50F7E-B0F7-4A34-BDEA-B41BC0BE7FA9}">
      <dgm:prSet/>
      <dgm:spPr/>
      <dgm:t>
        <a:bodyPr/>
        <a:lstStyle/>
        <a:p>
          <a:endParaRPr lang="en-CA"/>
        </a:p>
      </dgm:t>
    </dgm:pt>
    <dgm:pt modelId="{9067106F-ACB3-405D-8D8B-88EB19657621}" type="sibTrans" cxnId="{E4A50F7E-B0F7-4A34-BDEA-B41BC0BE7FA9}">
      <dgm:prSet/>
      <dgm:spPr/>
      <dgm:t>
        <a:bodyPr/>
        <a:lstStyle/>
        <a:p>
          <a:endParaRPr lang="en-CA"/>
        </a:p>
      </dgm:t>
    </dgm:pt>
    <dgm:pt modelId="{2592CD0D-80B1-45B8-A98B-157F5B52F686}">
      <dgm:prSet phldrT="[Text]" custT="1"/>
      <dgm:spPr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Understand the core principles of Retrieval-Augmented Generation (</a:t>
          </a:r>
          <a:r>
            <a:rPr lang="en-CA" sz="1800" kern="120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RAG).</a:t>
          </a:r>
          <a:endParaRPr lang="en-CA" sz="1800" kern="1200" dirty="0">
            <a:solidFill>
              <a:prstClr val="white"/>
            </a:solidFill>
            <a:latin typeface="Montserrat" panose="00000500000000000000" pitchFamily="2" charset="0"/>
            <a:ea typeface="+mn-ea"/>
            <a:cs typeface="+mn-cs"/>
          </a:endParaRPr>
        </a:p>
      </dgm:t>
    </dgm:pt>
    <dgm:pt modelId="{40A13D9E-B7ED-47DF-AE65-FB5002D290D2}" type="parTrans" cxnId="{B01AD941-1F30-41FB-B394-B61CB12CBC7D}">
      <dgm:prSet/>
      <dgm:spPr/>
      <dgm:t>
        <a:bodyPr/>
        <a:lstStyle/>
        <a:p>
          <a:endParaRPr lang="en-CA"/>
        </a:p>
      </dgm:t>
    </dgm:pt>
    <dgm:pt modelId="{E8A1930A-6356-4A34-9182-8C104174EAC8}" type="sibTrans" cxnId="{B01AD941-1F30-41FB-B394-B61CB12CBC7D}">
      <dgm:prSet/>
      <dgm:spPr/>
      <dgm:t>
        <a:bodyPr/>
        <a:lstStyle/>
        <a:p>
          <a:endParaRPr lang="en-CA"/>
        </a:p>
      </dgm:t>
    </dgm:pt>
    <dgm:pt modelId="{91AECCB5-357E-4817-8D8B-617F328E7EE2}" type="pres">
      <dgm:prSet presAssocID="{C5BB5DF1-6160-48DA-9244-780755A51C37}" presName="diagram" presStyleCnt="0">
        <dgm:presLayoutVars>
          <dgm:dir/>
          <dgm:resizeHandles val="exact"/>
        </dgm:presLayoutVars>
      </dgm:prSet>
      <dgm:spPr/>
    </dgm:pt>
    <dgm:pt modelId="{1B558E55-37DC-4859-9ABB-EFE02DEEEF05}" type="pres">
      <dgm:prSet presAssocID="{566F586A-A994-4804-9C96-3046E55639C7}" presName="node" presStyleLbl="node1" presStyleIdx="0" presStyleCnt="5">
        <dgm:presLayoutVars>
          <dgm:bulletEnabled val="1"/>
        </dgm:presLayoutVars>
      </dgm:prSet>
      <dgm:spPr/>
    </dgm:pt>
    <dgm:pt modelId="{37F8B5B6-4041-4689-A87E-63C71563838F}" type="pres">
      <dgm:prSet presAssocID="{354A0CE6-2E67-42BB-BD99-61C4184CA873}" presName="sibTrans" presStyleCnt="0"/>
      <dgm:spPr/>
    </dgm:pt>
    <dgm:pt modelId="{BE73B1EC-B7E1-4848-84E7-7115730A32AA}" type="pres">
      <dgm:prSet presAssocID="{2592CD0D-80B1-45B8-A98B-157F5B52F686}" presName="node" presStyleLbl="node1" presStyleIdx="1" presStyleCnt="5">
        <dgm:presLayoutVars>
          <dgm:bulletEnabled val="1"/>
        </dgm:presLayoutVars>
      </dgm:prSet>
      <dgm:spPr>
        <a:xfrm>
          <a:off x="3530245" y="33299"/>
          <a:ext cx="3209314" cy="1925588"/>
        </a:xfrm>
        <a:prstGeom prst="rect">
          <a:avLst/>
        </a:prstGeom>
      </dgm:spPr>
    </dgm:pt>
    <dgm:pt modelId="{2964924D-8751-467B-AC4E-6B126E34CBB8}" type="pres">
      <dgm:prSet presAssocID="{E8A1930A-6356-4A34-9182-8C104174EAC8}" presName="sibTrans" presStyleCnt="0"/>
      <dgm:spPr/>
    </dgm:pt>
    <dgm:pt modelId="{66FD1FEE-6916-469C-AC20-5281BA353382}" type="pres">
      <dgm:prSet presAssocID="{B748CD7C-02FD-44C4-B494-1F9165E415A7}" presName="node" presStyleLbl="node1" presStyleIdx="2" presStyleCnt="5">
        <dgm:presLayoutVars>
          <dgm:bulletEnabled val="1"/>
        </dgm:presLayoutVars>
      </dgm:prSet>
      <dgm:spPr/>
    </dgm:pt>
    <dgm:pt modelId="{7287C185-CCD0-4EB3-B506-B1D39F43BD38}" type="pres">
      <dgm:prSet presAssocID="{0D010DA5-31AB-48DF-9B53-E1F5217872FD}" presName="sibTrans" presStyleCnt="0"/>
      <dgm:spPr/>
    </dgm:pt>
    <dgm:pt modelId="{6252F9F4-D0DC-4D13-9592-F953C7F49611}" type="pres">
      <dgm:prSet presAssocID="{A3285C98-AA88-4637-97EA-786313CE6411}" presName="node" presStyleLbl="node1" presStyleIdx="3" presStyleCnt="5">
        <dgm:presLayoutVars>
          <dgm:bulletEnabled val="1"/>
        </dgm:presLayoutVars>
      </dgm:prSet>
      <dgm:spPr/>
    </dgm:pt>
    <dgm:pt modelId="{EFE5D968-21C7-438A-B66B-14772D310431}" type="pres">
      <dgm:prSet presAssocID="{0654A194-C5A6-4D5B-9DF7-8777FDE3DC89}" presName="sibTrans" presStyleCnt="0"/>
      <dgm:spPr/>
    </dgm:pt>
    <dgm:pt modelId="{22AE5A2B-7540-4FDD-87BF-1494829FA0CB}" type="pres">
      <dgm:prSet presAssocID="{FF0EA3FF-F38A-4267-B4D2-62D3A2DCDB36}" presName="node" presStyleLbl="node1" presStyleIdx="4" presStyleCnt="5">
        <dgm:presLayoutVars>
          <dgm:bulletEnabled val="1"/>
        </dgm:presLayoutVars>
      </dgm:prSet>
      <dgm:spPr/>
    </dgm:pt>
  </dgm:ptLst>
  <dgm:cxnLst>
    <dgm:cxn modelId="{8D874905-73C9-4E87-B0B0-20AFAE1624E1}" type="presOf" srcId="{566F586A-A994-4804-9C96-3046E55639C7}" destId="{1B558E55-37DC-4859-9ABB-EFE02DEEEF05}" srcOrd="0" destOrd="0" presId="urn:microsoft.com/office/officeart/2005/8/layout/default"/>
    <dgm:cxn modelId="{DB18EF07-1110-4A97-8277-3159765C5A05}" srcId="{C5BB5DF1-6160-48DA-9244-780755A51C37}" destId="{A3285C98-AA88-4637-97EA-786313CE6411}" srcOrd="3" destOrd="0" parTransId="{B9FA6B9C-F558-405F-83AC-07A99FECA3D5}" sibTransId="{0654A194-C5A6-4D5B-9DF7-8777FDE3DC89}"/>
    <dgm:cxn modelId="{C2707315-FE3B-470C-92E8-57F0D850A6CB}" type="presOf" srcId="{A3285C98-AA88-4637-97EA-786313CE6411}" destId="{6252F9F4-D0DC-4D13-9592-F953C7F49611}" srcOrd="0" destOrd="0" presId="urn:microsoft.com/office/officeart/2005/8/layout/default"/>
    <dgm:cxn modelId="{9FB5AB61-78F8-4CE9-BA1C-2D3174FA942B}" srcId="{C5BB5DF1-6160-48DA-9244-780755A51C37}" destId="{566F586A-A994-4804-9C96-3046E55639C7}" srcOrd="0" destOrd="0" parTransId="{0E646359-7774-44D7-A78E-48FF645A581F}" sibTransId="{354A0CE6-2E67-42BB-BD99-61C4184CA873}"/>
    <dgm:cxn modelId="{B01AD941-1F30-41FB-B394-B61CB12CBC7D}" srcId="{C5BB5DF1-6160-48DA-9244-780755A51C37}" destId="{2592CD0D-80B1-45B8-A98B-157F5B52F686}" srcOrd="1" destOrd="0" parTransId="{40A13D9E-B7ED-47DF-AE65-FB5002D290D2}" sibTransId="{E8A1930A-6356-4A34-9182-8C104174EAC8}"/>
    <dgm:cxn modelId="{E4A50F7E-B0F7-4A34-BDEA-B41BC0BE7FA9}" srcId="{C5BB5DF1-6160-48DA-9244-780755A51C37}" destId="{FF0EA3FF-F38A-4267-B4D2-62D3A2DCDB36}" srcOrd="4" destOrd="0" parTransId="{E818C447-7B57-467F-B124-1AF6E938BCCC}" sibTransId="{9067106F-ACB3-405D-8D8B-88EB19657621}"/>
    <dgm:cxn modelId="{E41DE280-72D1-4AF9-B70D-50139E48E37D}" type="presOf" srcId="{FF0EA3FF-F38A-4267-B4D2-62D3A2DCDB36}" destId="{22AE5A2B-7540-4FDD-87BF-1494829FA0CB}" srcOrd="0" destOrd="0" presId="urn:microsoft.com/office/officeart/2005/8/layout/default"/>
    <dgm:cxn modelId="{F1DC19BC-B069-4CA3-A335-8F4210D25204}" type="presOf" srcId="{B748CD7C-02FD-44C4-B494-1F9165E415A7}" destId="{66FD1FEE-6916-469C-AC20-5281BA353382}" srcOrd="0" destOrd="0" presId="urn:microsoft.com/office/officeart/2005/8/layout/default"/>
    <dgm:cxn modelId="{BCF0D0E2-7832-4736-98E9-D156945CD970}" type="presOf" srcId="{C5BB5DF1-6160-48DA-9244-780755A51C37}" destId="{91AECCB5-357E-4817-8D8B-617F328E7EE2}" srcOrd="0" destOrd="0" presId="urn:microsoft.com/office/officeart/2005/8/layout/default"/>
    <dgm:cxn modelId="{4E3FD8ED-837A-4BC8-B90A-8CBE23121AC5}" type="presOf" srcId="{2592CD0D-80B1-45B8-A98B-157F5B52F686}" destId="{BE73B1EC-B7E1-4848-84E7-7115730A32AA}" srcOrd="0" destOrd="0" presId="urn:microsoft.com/office/officeart/2005/8/layout/default"/>
    <dgm:cxn modelId="{F2C1E8F5-A05B-4B6C-ACA9-4D950A05A7C7}" srcId="{C5BB5DF1-6160-48DA-9244-780755A51C37}" destId="{B748CD7C-02FD-44C4-B494-1F9165E415A7}" srcOrd="2" destOrd="0" parTransId="{75633EF6-3651-49F2-9C03-9B1C9DED27FC}" sibTransId="{0D010DA5-31AB-48DF-9B53-E1F5217872FD}"/>
    <dgm:cxn modelId="{8A1C0F08-D7F6-4EF0-BBC7-A54829BBDEC1}" type="presParOf" srcId="{91AECCB5-357E-4817-8D8B-617F328E7EE2}" destId="{1B558E55-37DC-4859-9ABB-EFE02DEEEF05}" srcOrd="0" destOrd="0" presId="urn:microsoft.com/office/officeart/2005/8/layout/default"/>
    <dgm:cxn modelId="{04309D3C-9431-413A-9C10-C831746B1D70}" type="presParOf" srcId="{91AECCB5-357E-4817-8D8B-617F328E7EE2}" destId="{37F8B5B6-4041-4689-A87E-63C71563838F}" srcOrd="1" destOrd="0" presId="urn:microsoft.com/office/officeart/2005/8/layout/default"/>
    <dgm:cxn modelId="{A52DB994-5C41-4C95-9E17-E6F5B0E8771A}" type="presParOf" srcId="{91AECCB5-357E-4817-8D8B-617F328E7EE2}" destId="{BE73B1EC-B7E1-4848-84E7-7115730A32AA}" srcOrd="2" destOrd="0" presId="urn:microsoft.com/office/officeart/2005/8/layout/default"/>
    <dgm:cxn modelId="{A8F12320-00D4-4EA6-8B70-FCB9F8E41D17}" type="presParOf" srcId="{91AECCB5-357E-4817-8D8B-617F328E7EE2}" destId="{2964924D-8751-467B-AC4E-6B126E34CBB8}" srcOrd="3" destOrd="0" presId="urn:microsoft.com/office/officeart/2005/8/layout/default"/>
    <dgm:cxn modelId="{B925B848-E523-418B-8B5E-36301242031C}" type="presParOf" srcId="{91AECCB5-357E-4817-8D8B-617F328E7EE2}" destId="{66FD1FEE-6916-469C-AC20-5281BA353382}" srcOrd="4" destOrd="0" presId="urn:microsoft.com/office/officeart/2005/8/layout/default"/>
    <dgm:cxn modelId="{8B22A0B6-9164-4C47-8ABC-AB4432639FB3}" type="presParOf" srcId="{91AECCB5-357E-4817-8D8B-617F328E7EE2}" destId="{7287C185-CCD0-4EB3-B506-B1D39F43BD38}" srcOrd="5" destOrd="0" presId="urn:microsoft.com/office/officeart/2005/8/layout/default"/>
    <dgm:cxn modelId="{975A34E7-8A3D-4081-8D61-3087E3909C8E}" type="presParOf" srcId="{91AECCB5-357E-4817-8D8B-617F328E7EE2}" destId="{6252F9F4-D0DC-4D13-9592-F953C7F49611}" srcOrd="6" destOrd="0" presId="urn:microsoft.com/office/officeart/2005/8/layout/default"/>
    <dgm:cxn modelId="{4960E114-E448-44AE-987E-25CD779F8986}" type="presParOf" srcId="{91AECCB5-357E-4817-8D8B-617F328E7EE2}" destId="{EFE5D968-21C7-438A-B66B-14772D310431}" srcOrd="7" destOrd="0" presId="urn:microsoft.com/office/officeart/2005/8/layout/default"/>
    <dgm:cxn modelId="{5BB19C41-3293-4E14-A339-F7983C2B3A54}" type="presParOf" srcId="{91AECCB5-357E-4817-8D8B-617F328E7EE2}" destId="{22AE5A2B-7540-4FDD-87BF-1494829FA0C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2B11BB-8BB5-4643-850F-5FEBDA72586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2D19999B-2CA1-4C86-A604-717E4DF24DF3}">
      <dgm:prSet phldrT="[Text]" custT="1"/>
      <dgm:spPr>
        <a:solidFill>
          <a:srgbClr val="0C1752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en-US" sz="1600" dirty="0">
              <a:latin typeface="Montserrat" panose="00000500000000000000" pitchFamily="2" charset="0"/>
            </a:rPr>
            <a:t>The user writes a prompt or a query that is passed to an orchestrator.</a:t>
          </a:r>
        </a:p>
      </dgm:t>
    </dgm:pt>
    <dgm:pt modelId="{19BB50DC-7334-4812-A65F-E12F61CB6A7F}" type="parTrans" cxnId="{F3FF0265-7E70-4F79-BAC8-6EE9DE0778FF}">
      <dgm:prSet/>
      <dgm:spPr/>
      <dgm:t>
        <a:bodyPr/>
        <a:lstStyle/>
        <a:p>
          <a:endParaRPr lang="en-US" sz="1600">
            <a:latin typeface="Montserrat" panose="00000500000000000000" pitchFamily="2" charset="0"/>
          </a:endParaRPr>
        </a:p>
      </dgm:t>
    </dgm:pt>
    <dgm:pt modelId="{F2A616FD-905C-4D27-AE17-F84651A6BC40}" type="sibTrans" cxnId="{F3FF0265-7E70-4F79-BAC8-6EE9DE0778FF}">
      <dgm:prSet custT="1"/>
      <dgm:spPr>
        <a:solidFill>
          <a:srgbClr val="D56E48"/>
        </a:solidFill>
      </dgm:spPr>
      <dgm:t>
        <a:bodyPr/>
        <a:lstStyle/>
        <a:p>
          <a:endParaRPr lang="en-US" sz="1600">
            <a:latin typeface="Montserrat" panose="00000500000000000000" pitchFamily="2" charset="0"/>
          </a:endParaRPr>
        </a:p>
      </dgm:t>
    </dgm:pt>
    <dgm:pt modelId="{4D88F18C-5EED-406E-9873-A5BDA252E0DF}">
      <dgm:prSet custT="1"/>
      <dgm:spPr>
        <a:solidFill>
          <a:srgbClr val="0C1752"/>
        </a:solidFill>
      </dgm:spPr>
      <dgm:t>
        <a:bodyPr/>
        <a:lstStyle/>
        <a:p>
          <a:r>
            <a:rPr lang="en-US" sz="1600">
              <a:latin typeface="Montserrat" panose="00000500000000000000" pitchFamily="2" charset="0"/>
            </a:rPr>
            <a:t>The orchestrator sends a search query to the retriever.</a:t>
          </a:r>
          <a:endParaRPr lang="en-US" sz="1600" dirty="0">
            <a:latin typeface="Montserrat" panose="00000500000000000000" pitchFamily="2" charset="0"/>
          </a:endParaRPr>
        </a:p>
      </dgm:t>
    </dgm:pt>
    <dgm:pt modelId="{1225551F-E04B-42CD-A668-E696A3514174}" type="parTrans" cxnId="{819DDA8B-DCD9-4F45-889D-0FDEB5937F8B}">
      <dgm:prSet/>
      <dgm:spPr/>
      <dgm:t>
        <a:bodyPr/>
        <a:lstStyle/>
        <a:p>
          <a:endParaRPr lang="en-US" sz="1600">
            <a:latin typeface="Montserrat" panose="00000500000000000000" pitchFamily="2" charset="0"/>
          </a:endParaRPr>
        </a:p>
      </dgm:t>
    </dgm:pt>
    <dgm:pt modelId="{0B7D1606-DC17-4494-ADD4-3994F4E7C33B}" type="sibTrans" cxnId="{819DDA8B-DCD9-4F45-889D-0FDEB5937F8B}">
      <dgm:prSet custT="1"/>
      <dgm:spPr>
        <a:solidFill>
          <a:srgbClr val="D56E48"/>
        </a:solidFill>
      </dgm:spPr>
      <dgm:t>
        <a:bodyPr/>
        <a:lstStyle/>
        <a:p>
          <a:endParaRPr lang="en-US" sz="1600">
            <a:latin typeface="Montserrat" panose="00000500000000000000" pitchFamily="2" charset="0"/>
          </a:endParaRPr>
        </a:p>
      </dgm:t>
    </dgm:pt>
    <dgm:pt modelId="{3D24E9AB-D9B9-49F7-A7B8-8325C1F3E6D9}">
      <dgm:prSet custT="1"/>
      <dgm:spPr>
        <a:solidFill>
          <a:srgbClr val="0C1752"/>
        </a:solidFill>
      </dgm:spPr>
      <dgm:t>
        <a:bodyPr/>
        <a:lstStyle/>
        <a:p>
          <a:r>
            <a:rPr lang="en-US" sz="1600">
              <a:latin typeface="Montserrat" panose="00000500000000000000" pitchFamily="2" charset="0"/>
            </a:rPr>
            <a:t>Retriever fetches the relevant information from the knowledge sources and sends back.</a:t>
          </a:r>
          <a:endParaRPr lang="en-US" sz="1600" dirty="0">
            <a:latin typeface="Montserrat" panose="00000500000000000000" pitchFamily="2" charset="0"/>
          </a:endParaRPr>
        </a:p>
      </dgm:t>
    </dgm:pt>
    <dgm:pt modelId="{C95A465F-F7C5-4A60-8185-2AB3D45CF2B6}" type="parTrans" cxnId="{E86772D5-8F44-4E70-97ED-094CC5741FC2}">
      <dgm:prSet/>
      <dgm:spPr/>
      <dgm:t>
        <a:bodyPr/>
        <a:lstStyle/>
        <a:p>
          <a:endParaRPr lang="en-US" sz="1600">
            <a:latin typeface="Montserrat" panose="00000500000000000000" pitchFamily="2" charset="0"/>
          </a:endParaRPr>
        </a:p>
      </dgm:t>
    </dgm:pt>
    <dgm:pt modelId="{96CF1563-6A09-4221-A1BB-99439434A2D0}" type="sibTrans" cxnId="{E86772D5-8F44-4E70-97ED-094CC5741FC2}">
      <dgm:prSet custT="1"/>
      <dgm:spPr>
        <a:solidFill>
          <a:srgbClr val="D56E48"/>
        </a:solidFill>
      </dgm:spPr>
      <dgm:t>
        <a:bodyPr/>
        <a:lstStyle/>
        <a:p>
          <a:endParaRPr lang="en-US" sz="1600">
            <a:latin typeface="Montserrat" panose="00000500000000000000" pitchFamily="2" charset="0"/>
          </a:endParaRPr>
        </a:p>
      </dgm:t>
    </dgm:pt>
    <dgm:pt modelId="{3B0A7986-426D-4A1B-AE7A-3097F612AFE8}">
      <dgm:prSet custT="1"/>
      <dgm:spPr>
        <a:solidFill>
          <a:srgbClr val="0C1752"/>
        </a:solidFill>
      </dgm:spPr>
      <dgm:t>
        <a:bodyPr/>
        <a:lstStyle/>
        <a:p>
          <a:r>
            <a:rPr lang="en-US" sz="1600">
              <a:latin typeface="Montserrat" panose="00000500000000000000" pitchFamily="2" charset="0"/>
            </a:rPr>
            <a:t>The orchestrator augments the prompt with the context and sends it to the LLM.</a:t>
          </a:r>
          <a:endParaRPr lang="en-US" sz="1600" dirty="0">
            <a:latin typeface="Montserrat" panose="00000500000000000000" pitchFamily="2" charset="0"/>
          </a:endParaRPr>
        </a:p>
      </dgm:t>
    </dgm:pt>
    <dgm:pt modelId="{C092AD46-FF6C-4DB5-9224-A793BDE84B30}" type="parTrans" cxnId="{FFAED4C9-9BAD-438C-A57C-2BC50B26E014}">
      <dgm:prSet/>
      <dgm:spPr/>
      <dgm:t>
        <a:bodyPr/>
        <a:lstStyle/>
        <a:p>
          <a:endParaRPr lang="en-US" sz="1600">
            <a:latin typeface="Montserrat" panose="00000500000000000000" pitchFamily="2" charset="0"/>
          </a:endParaRPr>
        </a:p>
      </dgm:t>
    </dgm:pt>
    <dgm:pt modelId="{BC89F1F4-599A-4918-B467-0CBC5774D99E}" type="sibTrans" cxnId="{FFAED4C9-9BAD-438C-A57C-2BC50B26E014}">
      <dgm:prSet custT="1"/>
      <dgm:spPr>
        <a:solidFill>
          <a:srgbClr val="D56E48"/>
        </a:solidFill>
      </dgm:spPr>
      <dgm:t>
        <a:bodyPr/>
        <a:lstStyle/>
        <a:p>
          <a:endParaRPr lang="en-US" sz="1600">
            <a:latin typeface="Montserrat" panose="00000500000000000000" pitchFamily="2" charset="0"/>
          </a:endParaRPr>
        </a:p>
      </dgm:t>
    </dgm:pt>
    <dgm:pt modelId="{C7981465-E603-47F1-BA6B-28EE09D1FA3D}">
      <dgm:prSet custT="1"/>
      <dgm:spPr>
        <a:solidFill>
          <a:srgbClr val="0C1752"/>
        </a:solidFill>
      </dgm:spPr>
      <dgm:t>
        <a:bodyPr/>
        <a:lstStyle/>
        <a:p>
          <a:r>
            <a:rPr lang="en-US" sz="1600">
              <a:latin typeface="Montserrat" panose="00000500000000000000" pitchFamily="2" charset="0"/>
            </a:rPr>
            <a:t>LLM responds with the generated text which is displayed to the user via the orchestrator.</a:t>
          </a:r>
          <a:endParaRPr lang="en-US" sz="1600" dirty="0">
            <a:latin typeface="Montserrat" panose="00000500000000000000" pitchFamily="2" charset="0"/>
          </a:endParaRPr>
        </a:p>
      </dgm:t>
    </dgm:pt>
    <dgm:pt modelId="{19F6B658-9371-4C03-A5EF-D298CACF0E02}" type="parTrans" cxnId="{98BF72D1-248A-4592-98AA-3C0B645F7819}">
      <dgm:prSet/>
      <dgm:spPr/>
      <dgm:t>
        <a:bodyPr/>
        <a:lstStyle/>
        <a:p>
          <a:endParaRPr lang="en-US" sz="1600">
            <a:latin typeface="Montserrat" panose="00000500000000000000" pitchFamily="2" charset="0"/>
          </a:endParaRPr>
        </a:p>
      </dgm:t>
    </dgm:pt>
    <dgm:pt modelId="{20B40EA9-B2D6-43FD-9F75-5089CEB934AE}" type="sibTrans" cxnId="{98BF72D1-248A-4592-98AA-3C0B645F7819}">
      <dgm:prSet/>
      <dgm:spPr/>
      <dgm:t>
        <a:bodyPr/>
        <a:lstStyle/>
        <a:p>
          <a:endParaRPr lang="en-US" sz="1600">
            <a:latin typeface="Montserrat" panose="00000500000000000000" pitchFamily="2" charset="0"/>
          </a:endParaRPr>
        </a:p>
      </dgm:t>
    </dgm:pt>
    <dgm:pt modelId="{E787DB73-526A-4A84-B578-F1F38741025D}" type="pres">
      <dgm:prSet presAssocID="{E42B11BB-8BB5-4643-850F-5FEBDA725861}" presName="Name0" presStyleCnt="0">
        <dgm:presLayoutVars>
          <dgm:dir/>
          <dgm:resizeHandles val="exact"/>
        </dgm:presLayoutVars>
      </dgm:prSet>
      <dgm:spPr/>
    </dgm:pt>
    <dgm:pt modelId="{FB3E5DA5-9585-4FF0-9145-A50FC9BDF13C}" type="pres">
      <dgm:prSet presAssocID="{2D19999B-2CA1-4C86-A604-717E4DF24DF3}" presName="node" presStyleLbl="node1" presStyleIdx="0" presStyleCnt="5">
        <dgm:presLayoutVars>
          <dgm:bulletEnabled val="1"/>
        </dgm:presLayoutVars>
      </dgm:prSet>
      <dgm:spPr/>
    </dgm:pt>
    <dgm:pt modelId="{51134578-4258-4310-8E42-7A578A46F8C0}" type="pres">
      <dgm:prSet presAssocID="{F2A616FD-905C-4D27-AE17-F84651A6BC40}" presName="sibTrans" presStyleLbl="sibTrans2D1" presStyleIdx="0" presStyleCnt="4"/>
      <dgm:spPr/>
    </dgm:pt>
    <dgm:pt modelId="{E28048DC-19AE-4CFC-8FBF-BBD5456E5A36}" type="pres">
      <dgm:prSet presAssocID="{F2A616FD-905C-4D27-AE17-F84651A6BC40}" presName="connectorText" presStyleLbl="sibTrans2D1" presStyleIdx="0" presStyleCnt="4"/>
      <dgm:spPr/>
    </dgm:pt>
    <dgm:pt modelId="{847E697D-2C19-4764-9F48-FDA290B66F58}" type="pres">
      <dgm:prSet presAssocID="{4D88F18C-5EED-406E-9873-A5BDA252E0DF}" presName="node" presStyleLbl="node1" presStyleIdx="1" presStyleCnt="5">
        <dgm:presLayoutVars>
          <dgm:bulletEnabled val="1"/>
        </dgm:presLayoutVars>
      </dgm:prSet>
      <dgm:spPr/>
    </dgm:pt>
    <dgm:pt modelId="{CF33DA7F-74CF-49D6-B1FF-1F0A03162861}" type="pres">
      <dgm:prSet presAssocID="{0B7D1606-DC17-4494-ADD4-3994F4E7C33B}" presName="sibTrans" presStyleLbl="sibTrans2D1" presStyleIdx="1" presStyleCnt="4"/>
      <dgm:spPr/>
    </dgm:pt>
    <dgm:pt modelId="{E66DCDAD-B62F-447A-B670-9AA7F892FF7D}" type="pres">
      <dgm:prSet presAssocID="{0B7D1606-DC17-4494-ADD4-3994F4E7C33B}" presName="connectorText" presStyleLbl="sibTrans2D1" presStyleIdx="1" presStyleCnt="4"/>
      <dgm:spPr/>
    </dgm:pt>
    <dgm:pt modelId="{B106665E-27E5-4E9C-9D87-44DA6F8D693A}" type="pres">
      <dgm:prSet presAssocID="{3D24E9AB-D9B9-49F7-A7B8-8325C1F3E6D9}" presName="node" presStyleLbl="node1" presStyleIdx="2" presStyleCnt="5">
        <dgm:presLayoutVars>
          <dgm:bulletEnabled val="1"/>
        </dgm:presLayoutVars>
      </dgm:prSet>
      <dgm:spPr/>
    </dgm:pt>
    <dgm:pt modelId="{D3DE5CD3-7C5C-424D-B2B0-FF9055ED2292}" type="pres">
      <dgm:prSet presAssocID="{96CF1563-6A09-4221-A1BB-99439434A2D0}" presName="sibTrans" presStyleLbl="sibTrans2D1" presStyleIdx="2" presStyleCnt="4"/>
      <dgm:spPr/>
    </dgm:pt>
    <dgm:pt modelId="{12502C77-A019-4234-B506-524C5DA6FCF9}" type="pres">
      <dgm:prSet presAssocID="{96CF1563-6A09-4221-A1BB-99439434A2D0}" presName="connectorText" presStyleLbl="sibTrans2D1" presStyleIdx="2" presStyleCnt="4"/>
      <dgm:spPr/>
    </dgm:pt>
    <dgm:pt modelId="{40195FCE-B125-4A20-ACFF-07515B0A9ECB}" type="pres">
      <dgm:prSet presAssocID="{3B0A7986-426D-4A1B-AE7A-3097F612AFE8}" presName="node" presStyleLbl="node1" presStyleIdx="3" presStyleCnt="5">
        <dgm:presLayoutVars>
          <dgm:bulletEnabled val="1"/>
        </dgm:presLayoutVars>
      </dgm:prSet>
      <dgm:spPr/>
    </dgm:pt>
    <dgm:pt modelId="{550D6508-C2B2-4CAA-B088-E71E2236EEFF}" type="pres">
      <dgm:prSet presAssocID="{BC89F1F4-599A-4918-B467-0CBC5774D99E}" presName="sibTrans" presStyleLbl="sibTrans2D1" presStyleIdx="3" presStyleCnt="4"/>
      <dgm:spPr/>
    </dgm:pt>
    <dgm:pt modelId="{BDA103CF-97CC-4107-96B5-53346C584874}" type="pres">
      <dgm:prSet presAssocID="{BC89F1F4-599A-4918-B467-0CBC5774D99E}" presName="connectorText" presStyleLbl="sibTrans2D1" presStyleIdx="3" presStyleCnt="4"/>
      <dgm:spPr/>
    </dgm:pt>
    <dgm:pt modelId="{B6021245-121A-4894-AD46-057CCF3AF33A}" type="pres">
      <dgm:prSet presAssocID="{C7981465-E603-47F1-BA6B-28EE09D1FA3D}" presName="node" presStyleLbl="node1" presStyleIdx="4" presStyleCnt="5">
        <dgm:presLayoutVars>
          <dgm:bulletEnabled val="1"/>
        </dgm:presLayoutVars>
      </dgm:prSet>
      <dgm:spPr/>
    </dgm:pt>
  </dgm:ptLst>
  <dgm:cxnLst>
    <dgm:cxn modelId="{319DC115-D414-4CD5-8373-75C6017534FF}" type="presOf" srcId="{0B7D1606-DC17-4494-ADD4-3994F4E7C33B}" destId="{CF33DA7F-74CF-49D6-B1FF-1F0A03162861}" srcOrd="0" destOrd="0" presId="urn:microsoft.com/office/officeart/2005/8/layout/process1"/>
    <dgm:cxn modelId="{ED21BF22-E3AF-4252-BCC6-EC7F47B90B67}" type="presOf" srcId="{96CF1563-6A09-4221-A1BB-99439434A2D0}" destId="{12502C77-A019-4234-B506-524C5DA6FCF9}" srcOrd="1" destOrd="0" presId="urn:microsoft.com/office/officeart/2005/8/layout/process1"/>
    <dgm:cxn modelId="{4ED88C43-8B4D-4841-B063-23C345E84C83}" type="presOf" srcId="{F2A616FD-905C-4D27-AE17-F84651A6BC40}" destId="{51134578-4258-4310-8E42-7A578A46F8C0}" srcOrd="0" destOrd="0" presId="urn:microsoft.com/office/officeart/2005/8/layout/process1"/>
    <dgm:cxn modelId="{F3FF0265-7E70-4F79-BAC8-6EE9DE0778FF}" srcId="{E42B11BB-8BB5-4643-850F-5FEBDA725861}" destId="{2D19999B-2CA1-4C86-A604-717E4DF24DF3}" srcOrd="0" destOrd="0" parTransId="{19BB50DC-7334-4812-A65F-E12F61CB6A7F}" sibTransId="{F2A616FD-905C-4D27-AE17-F84651A6BC40}"/>
    <dgm:cxn modelId="{58B9D34C-D7FD-4D87-AF5B-CD9D2AB2FA07}" type="presOf" srcId="{2D19999B-2CA1-4C86-A604-717E4DF24DF3}" destId="{FB3E5DA5-9585-4FF0-9145-A50FC9BDF13C}" srcOrd="0" destOrd="0" presId="urn:microsoft.com/office/officeart/2005/8/layout/process1"/>
    <dgm:cxn modelId="{36358D6F-5DEE-4BDB-9364-D63DFEC345E8}" type="presOf" srcId="{F2A616FD-905C-4D27-AE17-F84651A6BC40}" destId="{E28048DC-19AE-4CFC-8FBF-BBD5456E5A36}" srcOrd="1" destOrd="0" presId="urn:microsoft.com/office/officeart/2005/8/layout/process1"/>
    <dgm:cxn modelId="{62668758-6B62-4BB8-9702-39593611F58E}" type="presOf" srcId="{C7981465-E603-47F1-BA6B-28EE09D1FA3D}" destId="{B6021245-121A-4894-AD46-057CCF3AF33A}" srcOrd="0" destOrd="0" presId="urn:microsoft.com/office/officeart/2005/8/layout/process1"/>
    <dgm:cxn modelId="{819DDA8B-DCD9-4F45-889D-0FDEB5937F8B}" srcId="{E42B11BB-8BB5-4643-850F-5FEBDA725861}" destId="{4D88F18C-5EED-406E-9873-A5BDA252E0DF}" srcOrd="1" destOrd="0" parTransId="{1225551F-E04B-42CD-A668-E696A3514174}" sibTransId="{0B7D1606-DC17-4494-ADD4-3994F4E7C33B}"/>
    <dgm:cxn modelId="{539EF592-CC11-4E09-8825-1D6F5F5755DD}" type="presOf" srcId="{3B0A7986-426D-4A1B-AE7A-3097F612AFE8}" destId="{40195FCE-B125-4A20-ACFF-07515B0A9ECB}" srcOrd="0" destOrd="0" presId="urn:microsoft.com/office/officeart/2005/8/layout/process1"/>
    <dgm:cxn modelId="{BB3E629C-0497-4653-B122-43E136D4646C}" type="presOf" srcId="{96CF1563-6A09-4221-A1BB-99439434A2D0}" destId="{D3DE5CD3-7C5C-424D-B2B0-FF9055ED2292}" srcOrd="0" destOrd="0" presId="urn:microsoft.com/office/officeart/2005/8/layout/process1"/>
    <dgm:cxn modelId="{886B13A7-818E-44B2-AE08-CC7279303ABB}" type="presOf" srcId="{E42B11BB-8BB5-4643-850F-5FEBDA725861}" destId="{E787DB73-526A-4A84-B578-F1F38741025D}" srcOrd="0" destOrd="0" presId="urn:microsoft.com/office/officeart/2005/8/layout/process1"/>
    <dgm:cxn modelId="{FFAED4C9-9BAD-438C-A57C-2BC50B26E014}" srcId="{E42B11BB-8BB5-4643-850F-5FEBDA725861}" destId="{3B0A7986-426D-4A1B-AE7A-3097F612AFE8}" srcOrd="3" destOrd="0" parTransId="{C092AD46-FF6C-4DB5-9224-A793BDE84B30}" sibTransId="{BC89F1F4-599A-4918-B467-0CBC5774D99E}"/>
    <dgm:cxn modelId="{98BF72D1-248A-4592-98AA-3C0B645F7819}" srcId="{E42B11BB-8BB5-4643-850F-5FEBDA725861}" destId="{C7981465-E603-47F1-BA6B-28EE09D1FA3D}" srcOrd="4" destOrd="0" parTransId="{19F6B658-9371-4C03-A5EF-D298CACF0E02}" sibTransId="{20B40EA9-B2D6-43FD-9F75-5089CEB934AE}"/>
    <dgm:cxn modelId="{7E6983D4-D3A0-41FE-810A-42696522133C}" type="presOf" srcId="{3D24E9AB-D9B9-49F7-A7B8-8325C1F3E6D9}" destId="{B106665E-27E5-4E9C-9D87-44DA6F8D693A}" srcOrd="0" destOrd="0" presId="urn:microsoft.com/office/officeart/2005/8/layout/process1"/>
    <dgm:cxn modelId="{E86772D5-8F44-4E70-97ED-094CC5741FC2}" srcId="{E42B11BB-8BB5-4643-850F-5FEBDA725861}" destId="{3D24E9AB-D9B9-49F7-A7B8-8325C1F3E6D9}" srcOrd="2" destOrd="0" parTransId="{C95A465F-F7C5-4A60-8185-2AB3D45CF2B6}" sibTransId="{96CF1563-6A09-4221-A1BB-99439434A2D0}"/>
    <dgm:cxn modelId="{0730DAD7-EC9E-49B8-B15B-839273CD1F89}" type="presOf" srcId="{BC89F1F4-599A-4918-B467-0CBC5774D99E}" destId="{BDA103CF-97CC-4107-96B5-53346C584874}" srcOrd="1" destOrd="0" presId="urn:microsoft.com/office/officeart/2005/8/layout/process1"/>
    <dgm:cxn modelId="{572F4BEF-5159-4B39-8639-E2760132F1E3}" type="presOf" srcId="{4D88F18C-5EED-406E-9873-A5BDA252E0DF}" destId="{847E697D-2C19-4764-9F48-FDA290B66F58}" srcOrd="0" destOrd="0" presId="urn:microsoft.com/office/officeart/2005/8/layout/process1"/>
    <dgm:cxn modelId="{C45AEFF4-8348-4962-8928-F7E0FCABC626}" type="presOf" srcId="{BC89F1F4-599A-4918-B467-0CBC5774D99E}" destId="{550D6508-C2B2-4CAA-B088-E71E2236EEFF}" srcOrd="0" destOrd="0" presId="urn:microsoft.com/office/officeart/2005/8/layout/process1"/>
    <dgm:cxn modelId="{3F0F0FFE-DF6F-4CAD-8C7C-D6ED27143245}" type="presOf" srcId="{0B7D1606-DC17-4494-ADD4-3994F4E7C33B}" destId="{E66DCDAD-B62F-447A-B670-9AA7F892FF7D}" srcOrd="1" destOrd="0" presId="urn:microsoft.com/office/officeart/2005/8/layout/process1"/>
    <dgm:cxn modelId="{8CE8FFA4-02C4-4FCA-BDBB-C33B1227DBCA}" type="presParOf" srcId="{E787DB73-526A-4A84-B578-F1F38741025D}" destId="{FB3E5DA5-9585-4FF0-9145-A50FC9BDF13C}" srcOrd="0" destOrd="0" presId="urn:microsoft.com/office/officeart/2005/8/layout/process1"/>
    <dgm:cxn modelId="{FD37EA6A-F51F-4484-A0AD-6ACD32DAAD74}" type="presParOf" srcId="{E787DB73-526A-4A84-B578-F1F38741025D}" destId="{51134578-4258-4310-8E42-7A578A46F8C0}" srcOrd="1" destOrd="0" presId="urn:microsoft.com/office/officeart/2005/8/layout/process1"/>
    <dgm:cxn modelId="{37927FBC-3B88-4FDA-843C-1800EBF718D1}" type="presParOf" srcId="{51134578-4258-4310-8E42-7A578A46F8C0}" destId="{E28048DC-19AE-4CFC-8FBF-BBD5456E5A36}" srcOrd="0" destOrd="0" presId="urn:microsoft.com/office/officeart/2005/8/layout/process1"/>
    <dgm:cxn modelId="{3CEA1280-12E6-4D79-A914-3E0DE29C12DE}" type="presParOf" srcId="{E787DB73-526A-4A84-B578-F1F38741025D}" destId="{847E697D-2C19-4764-9F48-FDA290B66F58}" srcOrd="2" destOrd="0" presId="urn:microsoft.com/office/officeart/2005/8/layout/process1"/>
    <dgm:cxn modelId="{5FC4B34A-970E-4718-B2F3-68D10033DD47}" type="presParOf" srcId="{E787DB73-526A-4A84-B578-F1F38741025D}" destId="{CF33DA7F-74CF-49D6-B1FF-1F0A03162861}" srcOrd="3" destOrd="0" presId="urn:microsoft.com/office/officeart/2005/8/layout/process1"/>
    <dgm:cxn modelId="{80F01A80-3834-4121-9525-5468080EC75E}" type="presParOf" srcId="{CF33DA7F-74CF-49D6-B1FF-1F0A03162861}" destId="{E66DCDAD-B62F-447A-B670-9AA7F892FF7D}" srcOrd="0" destOrd="0" presId="urn:microsoft.com/office/officeart/2005/8/layout/process1"/>
    <dgm:cxn modelId="{C4A3B4F3-859A-4D8A-B3C3-9A4885088A3D}" type="presParOf" srcId="{E787DB73-526A-4A84-B578-F1F38741025D}" destId="{B106665E-27E5-4E9C-9D87-44DA6F8D693A}" srcOrd="4" destOrd="0" presId="urn:microsoft.com/office/officeart/2005/8/layout/process1"/>
    <dgm:cxn modelId="{442850C0-97C4-44B3-B59D-D5CC181D571B}" type="presParOf" srcId="{E787DB73-526A-4A84-B578-F1F38741025D}" destId="{D3DE5CD3-7C5C-424D-B2B0-FF9055ED2292}" srcOrd="5" destOrd="0" presId="urn:microsoft.com/office/officeart/2005/8/layout/process1"/>
    <dgm:cxn modelId="{9611FD70-9B0F-4FEB-B80D-31B2DE1D4B26}" type="presParOf" srcId="{D3DE5CD3-7C5C-424D-B2B0-FF9055ED2292}" destId="{12502C77-A019-4234-B506-524C5DA6FCF9}" srcOrd="0" destOrd="0" presId="urn:microsoft.com/office/officeart/2005/8/layout/process1"/>
    <dgm:cxn modelId="{229121FE-AD33-4B91-B643-613A2BDAC040}" type="presParOf" srcId="{E787DB73-526A-4A84-B578-F1F38741025D}" destId="{40195FCE-B125-4A20-ACFF-07515B0A9ECB}" srcOrd="6" destOrd="0" presId="urn:microsoft.com/office/officeart/2005/8/layout/process1"/>
    <dgm:cxn modelId="{F1B56C2E-2A28-417D-B541-35FBB0344218}" type="presParOf" srcId="{E787DB73-526A-4A84-B578-F1F38741025D}" destId="{550D6508-C2B2-4CAA-B088-E71E2236EEFF}" srcOrd="7" destOrd="0" presId="urn:microsoft.com/office/officeart/2005/8/layout/process1"/>
    <dgm:cxn modelId="{3CB7EC80-6016-4661-9381-9F4F6386EB09}" type="presParOf" srcId="{550D6508-C2B2-4CAA-B088-E71E2236EEFF}" destId="{BDA103CF-97CC-4107-96B5-53346C584874}" srcOrd="0" destOrd="0" presId="urn:microsoft.com/office/officeart/2005/8/layout/process1"/>
    <dgm:cxn modelId="{9AFFFDA3-606D-40BF-86DF-5BE06A48C24B}" type="presParOf" srcId="{E787DB73-526A-4A84-B578-F1F38741025D}" destId="{B6021245-121A-4894-AD46-057CCF3AF33A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EA4C9C8-DB18-411B-B978-4FC19B3D2D83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E49FA1E4-EB5C-4EAE-89C7-B590B9159247}">
      <dgm:prSet phldrT="[Text]" custT="1"/>
      <dgm:spPr/>
      <dgm:t>
        <a:bodyPr/>
        <a:lstStyle/>
        <a:p>
          <a:r>
            <a:rPr lang="en-US" sz="1800" b="1" dirty="0">
              <a:latin typeface="Montserrat" panose="00000500000000000000" pitchFamily="2" charset="0"/>
            </a:rPr>
            <a:t>Accurate Responses: </a:t>
          </a:r>
          <a:r>
            <a:rPr lang="en-US" sz="1800" dirty="0">
              <a:latin typeface="Montserrat" panose="00000500000000000000" pitchFamily="2" charset="0"/>
            </a:rPr>
            <a:t>Combines retrieval with generative AI to ground outputs in factual data, minimizing errors.</a:t>
          </a:r>
        </a:p>
      </dgm:t>
    </dgm:pt>
    <dgm:pt modelId="{C7396217-CB62-402F-9334-37DF65E5D49E}" type="parTrans" cxnId="{C36BDF97-6CCE-495C-87C1-D822D15F702B}">
      <dgm:prSet/>
      <dgm:spPr/>
      <dgm:t>
        <a:bodyPr/>
        <a:lstStyle/>
        <a:p>
          <a:endParaRPr lang="en-US" sz="1800"/>
        </a:p>
      </dgm:t>
    </dgm:pt>
    <dgm:pt modelId="{2BAF1333-64CA-4074-BA01-DF71223E449A}" type="sibTrans" cxnId="{C36BDF97-6CCE-495C-87C1-D822D15F702B}">
      <dgm:prSet/>
      <dgm:spPr/>
      <dgm:t>
        <a:bodyPr/>
        <a:lstStyle/>
        <a:p>
          <a:endParaRPr lang="en-US" sz="1800"/>
        </a:p>
      </dgm:t>
    </dgm:pt>
    <dgm:pt modelId="{C0EA9377-CD25-40FD-99D1-11905717FFA8}">
      <dgm:prSet custT="1"/>
      <dgm:spPr>
        <a:solidFill>
          <a:srgbClr val="0C1752"/>
        </a:solidFill>
      </dgm:spPr>
      <dgm:t>
        <a:bodyPr/>
        <a:lstStyle/>
        <a:p>
          <a:r>
            <a:rPr lang="en-US" sz="1800" b="1" dirty="0">
              <a:latin typeface="Montserrat" panose="00000500000000000000" pitchFamily="2" charset="0"/>
            </a:rPr>
            <a:t>Up-to-Date Information: </a:t>
          </a:r>
          <a:r>
            <a:rPr lang="en-US" sz="1800" dirty="0">
              <a:latin typeface="Montserrat" panose="00000500000000000000" pitchFamily="2" charset="0"/>
            </a:rPr>
            <a:t>Dynamically accesses the latest content, ensuring relevance without retraining.</a:t>
          </a:r>
        </a:p>
      </dgm:t>
    </dgm:pt>
    <dgm:pt modelId="{0A16DB7D-8B51-4788-BB9C-A322A4EECCC7}" type="parTrans" cxnId="{33504359-5D89-4DE2-99C9-ED36954E7999}">
      <dgm:prSet/>
      <dgm:spPr/>
      <dgm:t>
        <a:bodyPr/>
        <a:lstStyle/>
        <a:p>
          <a:endParaRPr lang="en-US" sz="1800"/>
        </a:p>
      </dgm:t>
    </dgm:pt>
    <dgm:pt modelId="{8223C774-0701-4015-84AD-0EDAAC4AD908}" type="sibTrans" cxnId="{33504359-5D89-4DE2-99C9-ED36954E7999}">
      <dgm:prSet/>
      <dgm:spPr/>
      <dgm:t>
        <a:bodyPr/>
        <a:lstStyle/>
        <a:p>
          <a:endParaRPr lang="en-US" sz="1800"/>
        </a:p>
      </dgm:t>
    </dgm:pt>
    <dgm:pt modelId="{1188B8F4-03C7-4AD8-B182-B71042D949AE}">
      <dgm:prSet custT="1"/>
      <dgm:spPr>
        <a:solidFill>
          <a:srgbClr val="D56E48"/>
        </a:solidFill>
      </dgm:spPr>
      <dgm:t>
        <a:bodyPr/>
        <a:lstStyle/>
        <a:p>
          <a:r>
            <a:rPr lang="en-US" sz="1800" b="1" dirty="0">
              <a:latin typeface="Montserrat" panose="00000500000000000000" pitchFamily="2" charset="0"/>
            </a:rPr>
            <a:t>Cost-Efficient: </a:t>
          </a:r>
        </a:p>
        <a:p>
          <a:r>
            <a:rPr lang="en-US" sz="1800" dirty="0">
              <a:latin typeface="Montserrat" panose="00000500000000000000" pitchFamily="2" charset="0"/>
            </a:rPr>
            <a:t>Reduces computational burden by relying on retrieval for context, cutting costs.</a:t>
          </a:r>
        </a:p>
      </dgm:t>
    </dgm:pt>
    <dgm:pt modelId="{BB6C551F-10B3-4D6F-A4FC-BEE12AD53AE9}" type="parTrans" cxnId="{433DD9B6-9272-47A2-986E-1726632876D5}">
      <dgm:prSet/>
      <dgm:spPr/>
      <dgm:t>
        <a:bodyPr/>
        <a:lstStyle/>
        <a:p>
          <a:endParaRPr lang="en-US" sz="1800"/>
        </a:p>
      </dgm:t>
    </dgm:pt>
    <dgm:pt modelId="{542523D3-60EF-41D2-8CEA-A1B6328F0822}" type="sibTrans" cxnId="{433DD9B6-9272-47A2-986E-1726632876D5}">
      <dgm:prSet/>
      <dgm:spPr/>
      <dgm:t>
        <a:bodyPr/>
        <a:lstStyle/>
        <a:p>
          <a:endParaRPr lang="en-US" sz="1800"/>
        </a:p>
      </dgm:t>
    </dgm:pt>
    <dgm:pt modelId="{005F0CA0-E193-43C1-801E-814012CA72AC}">
      <dgm:prSet custT="1"/>
      <dgm:spPr>
        <a:solidFill>
          <a:srgbClr val="11CCDD"/>
        </a:solidFill>
      </dgm:spPr>
      <dgm:t>
        <a:bodyPr/>
        <a:lstStyle/>
        <a:p>
          <a:r>
            <a:rPr lang="en-US" sz="1800" b="1" dirty="0">
              <a:latin typeface="Montserrat" panose="00000500000000000000" pitchFamily="2" charset="0"/>
            </a:rPr>
            <a:t>Customizable:</a:t>
          </a:r>
          <a:r>
            <a:rPr lang="en-US" sz="1800" dirty="0">
              <a:latin typeface="Montserrat" panose="00000500000000000000" pitchFamily="2" charset="0"/>
            </a:rPr>
            <a:t> </a:t>
          </a:r>
        </a:p>
        <a:p>
          <a:r>
            <a:rPr lang="en-US" sz="1800" dirty="0">
              <a:latin typeface="Montserrat" panose="00000500000000000000" pitchFamily="2" charset="0"/>
            </a:rPr>
            <a:t>Easily tailored to specific industries and domains with custom datasets.</a:t>
          </a:r>
        </a:p>
      </dgm:t>
    </dgm:pt>
    <dgm:pt modelId="{AF520131-D6BC-4DC8-BCA9-55EBD8435B40}" type="parTrans" cxnId="{907570BB-2038-4DE1-ACEF-D9B0492F5D5D}">
      <dgm:prSet/>
      <dgm:spPr/>
      <dgm:t>
        <a:bodyPr/>
        <a:lstStyle/>
        <a:p>
          <a:endParaRPr lang="en-US" sz="1800"/>
        </a:p>
      </dgm:t>
    </dgm:pt>
    <dgm:pt modelId="{373048BE-B085-4EA4-A940-BC37B318B96E}" type="sibTrans" cxnId="{907570BB-2038-4DE1-ACEF-D9B0492F5D5D}">
      <dgm:prSet/>
      <dgm:spPr/>
      <dgm:t>
        <a:bodyPr/>
        <a:lstStyle/>
        <a:p>
          <a:endParaRPr lang="en-US" sz="1800"/>
        </a:p>
      </dgm:t>
    </dgm:pt>
    <dgm:pt modelId="{647D0D62-5B84-4D16-9FFF-3C0C6E3AC4A2}">
      <dgm:prSet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 sz="1800" b="1" dirty="0">
              <a:latin typeface="Montserrat" panose="00000500000000000000" pitchFamily="2" charset="0"/>
            </a:rPr>
            <a:t>Explainable:</a:t>
          </a:r>
          <a:r>
            <a:rPr lang="en-US" sz="1800" dirty="0">
              <a:latin typeface="Montserrat" panose="00000500000000000000" pitchFamily="2" charset="0"/>
            </a:rPr>
            <a:t> </a:t>
          </a:r>
        </a:p>
        <a:p>
          <a:r>
            <a:rPr lang="en-US" sz="1800" dirty="0">
              <a:latin typeface="Montserrat" panose="00000500000000000000" pitchFamily="2" charset="0"/>
            </a:rPr>
            <a:t>Increases trust by surfacing the data sources behind generated responses.</a:t>
          </a:r>
        </a:p>
      </dgm:t>
    </dgm:pt>
    <dgm:pt modelId="{988FB9B3-8978-4526-AEE0-579BCEB706A4}" type="parTrans" cxnId="{F1EB571B-F41F-4CAB-8D1D-C37E0FC72F7D}">
      <dgm:prSet/>
      <dgm:spPr/>
      <dgm:t>
        <a:bodyPr/>
        <a:lstStyle/>
        <a:p>
          <a:endParaRPr lang="en-US" sz="1800"/>
        </a:p>
      </dgm:t>
    </dgm:pt>
    <dgm:pt modelId="{638C5EA7-1E22-48F9-ACFA-4B1FA9B23480}" type="sibTrans" cxnId="{F1EB571B-F41F-4CAB-8D1D-C37E0FC72F7D}">
      <dgm:prSet/>
      <dgm:spPr/>
      <dgm:t>
        <a:bodyPr/>
        <a:lstStyle/>
        <a:p>
          <a:endParaRPr lang="en-US" sz="1800"/>
        </a:p>
      </dgm:t>
    </dgm:pt>
    <dgm:pt modelId="{8EB00C66-3BAF-484F-B72C-6F95F6E29E7A}" type="pres">
      <dgm:prSet presAssocID="{BEA4C9C8-DB18-411B-B978-4FC19B3D2D83}" presName="diagram" presStyleCnt="0">
        <dgm:presLayoutVars>
          <dgm:dir/>
          <dgm:resizeHandles val="exact"/>
        </dgm:presLayoutVars>
      </dgm:prSet>
      <dgm:spPr/>
    </dgm:pt>
    <dgm:pt modelId="{06E125B3-1E96-4CD0-A0D1-D0EA9047D17E}" type="pres">
      <dgm:prSet presAssocID="{E49FA1E4-EB5C-4EAE-89C7-B590B9159247}" presName="node" presStyleLbl="node1" presStyleIdx="0" presStyleCnt="5">
        <dgm:presLayoutVars>
          <dgm:bulletEnabled val="1"/>
        </dgm:presLayoutVars>
      </dgm:prSet>
      <dgm:spPr/>
    </dgm:pt>
    <dgm:pt modelId="{446827C3-7CFD-4062-B783-A3DAAE786928}" type="pres">
      <dgm:prSet presAssocID="{2BAF1333-64CA-4074-BA01-DF71223E449A}" presName="sibTrans" presStyleCnt="0"/>
      <dgm:spPr/>
    </dgm:pt>
    <dgm:pt modelId="{957255D1-1A3B-42EA-976B-09EEE6BDE9FA}" type="pres">
      <dgm:prSet presAssocID="{C0EA9377-CD25-40FD-99D1-11905717FFA8}" presName="node" presStyleLbl="node1" presStyleIdx="1" presStyleCnt="5">
        <dgm:presLayoutVars>
          <dgm:bulletEnabled val="1"/>
        </dgm:presLayoutVars>
      </dgm:prSet>
      <dgm:spPr/>
    </dgm:pt>
    <dgm:pt modelId="{C6BEEC53-14B0-49C2-AE07-D49CA58C3041}" type="pres">
      <dgm:prSet presAssocID="{8223C774-0701-4015-84AD-0EDAAC4AD908}" presName="sibTrans" presStyleCnt="0"/>
      <dgm:spPr/>
    </dgm:pt>
    <dgm:pt modelId="{D3216D7E-F334-4282-833C-F510A5D361B7}" type="pres">
      <dgm:prSet presAssocID="{1188B8F4-03C7-4AD8-B182-B71042D949AE}" presName="node" presStyleLbl="node1" presStyleIdx="2" presStyleCnt="5">
        <dgm:presLayoutVars>
          <dgm:bulletEnabled val="1"/>
        </dgm:presLayoutVars>
      </dgm:prSet>
      <dgm:spPr/>
    </dgm:pt>
    <dgm:pt modelId="{ECC7BF3D-DE20-4F6D-B91C-B2F2CDDB7788}" type="pres">
      <dgm:prSet presAssocID="{542523D3-60EF-41D2-8CEA-A1B6328F0822}" presName="sibTrans" presStyleCnt="0"/>
      <dgm:spPr/>
    </dgm:pt>
    <dgm:pt modelId="{3057B9F9-BBC0-4808-BC1D-CBC005B41E15}" type="pres">
      <dgm:prSet presAssocID="{005F0CA0-E193-43C1-801E-814012CA72AC}" presName="node" presStyleLbl="node1" presStyleIdx="3" presStyleCnt="5">
        <dgm:presLayoutVars>
          <dgm:bulletEnabled val="1"/>
        </dgm:presLayoutVars>
      </dgm:prSet>
      <dgm:spPr/>
    </dgm:pt>
    <dgm:pt modelId="{728255A6-C0CE-4DC6-9009-8F35863AB22A}" type="pres">
      <dgm:prSet presAssocID="{373048BE-B085-4EA4-A940-BC37B318B96E}" presName="sibTrans" presStyleCnt="0"/>
      <dgm:spPr/>
    </dgm:pt>
    <dgm:pt modelId="{848F6C53-01AB-41F5-9241-A341BCD0E1D6}" type="pres">
      <dgm:prSet presAssocID="{647D0D62-5B84-4D16-9FFF-3C0C6E3AC4A2}" presName="node" presStyleLbl="node1" presStyleIdx="4" presStyleCnt="5">
        <dgm:presLayoutVars>
          <dgm:bulletEnabled val="1"/>
        </dgm:presLayoutVars>
      </dgm:prSet>
      <dgm:spPr/>
    </dgm:pt>
  </dgm:ptLst>
  <dgm:cxnLst>
    <dgm:cxn modelId="{1022E618-ED09-4901-A933-0F1361AA530E}" type="presOf" srcId="{1188B8F4-03C7-4AD8-B182-B71042D949AE}" destId="{D3216D7E-F334-4282-833C-F510A5D361B7}" srcOrd="0" destOrd="0" presId="urn:microsoft.com/office/officeart/2005/8/layout/default"/>
    <dgm:cxn modelId="{F1EB571B-F41F-4CAB-8D1D-C37E0FC72F7D}" srcId="{BEA4C9C8-DB18-411B-B978-4FC19B3D2D83}" destId="{647D0D62-5B84-4D16-9FFF-3C0C6E3AC4A2}" srcOrd="4" destOrd="0" parTransId="{988FB9B3-8978-4526-AEE0-579BCEB706A4}" sibTransId="{638C5EA7-1E22-48F9-ACFA-4B1FA9B23480}"/>
    <dgm:cxn modelId="{9416C820-6A4F-4642-91A2-EDE9DCA9C568}" type="presOf" srcId="{647D0D62-5B84-4D16-9FFF-3C0C6E3AC4A2}" destId="{848F6C53-01AB-41F5-9241-A341BCD0E1D6}" srcOrd="0" destOrd="0" presId="urn:microsoft.com/office/officeart/2005/8/layout/default"/>
    <dgm:cxn modelId="{9EE79840-142B-4C46-A152-E2C057631882}" type="presOf" srcId="{005F0CA0-E193-43C1-801E-814012CA72AC}" destId="{3057B9F9-BBC0-4808-BC1D-CBC005B41E15}" srcOrd="0" destOrd="0" presId="urn:microsoft.com/office/officeart/2005/8/layout/default"/>
    <dgm:cxn modelId="{A05A1D58-38C9-49D1-93BF-38B1560E1B47}" type="presOf" srcId="{BEA4C9C8-DB18-411B-B978-4FC19B3D2D83}" destId="{8EB00C66-3BAF-484F-B72C-6F95F6E29E7A}" srcOrd="0" destOrd="0" presId="urn:microsoft.com/office/officeart/2005/8/layout/default"/>
    <dgm:cxn modelId="{33504359-5D89-4DE2-99C9-ED36954E7999}" srcId="{BEA4C9C8-DB18-411B-B978-4FC19B3D2D83}" destId="{C0EA9377-CD25-40FD-99D1-11905717FFA8}" srcOrd="1" destOrd="0" parTransId="{0A16DB7D-8B51-4788-BB9C-A322A4EECCC7}" sibTransId="{8223C774-0701-4015-84AD-0EDAAC4AD908}"/>
    <dgm:cxn modelId="{0817B859-D8E3-4490-9F79-EBCEC74E1155}" type="presOf" srcId="{E49FA1E4-EB5C-4EAE-89C7-B590B9159247}" destId="{06E125B3-1E96-4CD0-A0D1-D0EA9047D17E}" srcOrd="0" destOrd="0" presId="urn:microsoft.com/office/officeart/2005/8/layout/default"/>
    <dgm:cxn modelId="{C36BDF97-6CCE-495C-87C1-D822D15F702B}" srcId="{BEA4C9C8-DB18-411B-B978-4FC19B3D2D83}" destId="{E49FA1E4-EB5C-4EAE-89C7-B590B9159247}" srcOrd="0" destOrd="0" parTransId="{C7396217-CB62-402F-9334-37DF65E5D49E}" sibTransId="{2BAF1333-64CA-4074-BA01-DF71223E449A}"/>
    <dgm:cxn modelId="{829EE5A6-0B8C-4EFC-A6D0-6EA6AF388FF9}" type="presOf" srcId="{C0EA9377-CD25-40FD-99D1-11905717FFA8}" destId="{957255D1-1A3B-42EA-976B-09EEE6BDE9FA}" srcOrd="0" destOrd="0" presId="urn:microsoft.com/office/officeart/2005/8/layout/default"/>
    <dgm:cxn modelId="{433DD9B6-9272-47A2-986E-1726632876D5}" srcId="{BEA4C9C8-DB18-411B-B978-4FC19B3D2D83}" destId="{1188B8F4-03C7-4AD8-B182-B71042D949AE}" srcOrd="2" destOrd="0" parTransId="{BB6C551F-10B3-4D6F-A4FC-BEE12AD53AE9}" sibTransId="{542523D3-60EF-41D2-8CEA-A1B6328F0822}"/>
    <dgm:cxn modelId="{907570BB-2038-4DE1-ACEF-D9B0492F5D5D}" srcId="{BEA4C9C8-DB18-411B-B978-4FC19B3D2D83}" destId="{005F0CA0-E193-43C1-801E-814012CA72AC}" srcOrd="3" destOrd="0" parTransId="{AF520131-D6BC-4DC8-BCA9-55EBD8435B40}" sibTransId="{373048BE-B085-4EA4-A940-BC37B318B96E}"/>
    <dgm:cxn modelId="{726408FA-9620-4C0F-A79E-2027D51BB322}" type="presParOf" srcId="{8EB00C66-3BAF-484F-B72C-6F95F6E29E7A}" destId="{06E125B3-1E96-4CD0-A0D1-D0EA9047D17E}" srcOrd="0" destOrd="0" presId="urn:microsoft.com/office/officeart/2005/8/layout/default"/>
    <dgm:cxn modelId="{CC1781A1-C8D5-49B7-A530-25C15EE6C0F9}" type="presParOf" srcId="{8EB00C66-3BAF-484F-B72C-6F95F6E29E7A}" destId="{446827C3-7CFD-4062-B783-A3DAAE786928}" srcOrd="1" destOrd="0" presId="urn:microsoft.com/office/officeart/2005/8/layout/default"/>
    <dgm:cxn modelId="{7BD5EE8C-4BCD-4923-BCA2-8BCD8D030E37}" type="presParOf" srcId="{8EB00C66-3BAF-484F-B72C-6F95F6E29E7A}" destId="{957255D1-1A3B-42EA-976B-09EEE6BDE9FA}" srcOrd="2" destOrd="0" presId="urn:microsoft.com/office/officeart/2005/8/layout/default"/>
    <dgm:cxn modelId="{D2051A68-2D04-4A90-A973-E148E4D227A5}" type="presParOf" srcId="{8EB00C66-3BAF-484F-B72C-6F95F6E29E7A}" destId="{C6BEEC53-14B0-49C2-AE07-D49CA58C3041}" srcOrd="3" destOrd="0" presId="urn:microsoft.com/office/officeart/2005/8/layout/default"/>
    <dgm:cxn modelId="{AFFEB8C6-C5A1-4E6A-B514-5D105D2F8ED0}" type="presParOf" srcId="{8EB00C66-3BAF-484F-B72C-6F95F6E29E7A}" destId="{D3216D7E-F334-4282-833C-F510A5D361B7}" srcOrd="4" destOrd="0" presId="urn:microsoft.com/office/officeart/2005/8/layout/default"/>
    <dgm:cxn modelId="{12C0E211-CE47-4436-949E-EE844D139DC9}" type="presParOf" srcId="{8EB00C66-3BAF-484F-B72C-6F95F6E29E7A}" destId="{ECC7BF3D-DE20-4F6D-B91C-B2F2CDDB7788}" srcOrd="5" destOrd="0" presId="urn:microsoft.com/office/officeart/2005/8/layout/default"/>
    <dgm:cxn modelId="{97976FBB-0E42-4C23-A58C-C27909A12777}" type="presParOf" srcId="{8EB00C66-3BAF-484F-B72C-6F95F6E29E7A}" destId="{3057B9F9-BBC0-4808-BC1D-CBC005B41E15}" srcOrd="6" destOrd="0" presId="urn:microsoft.com/office/officeart/2005/8/layout/default"/>
    <dgm:cxn modelId="{858DB7C6-1601-46FC-8AE3-533CF387AECA}" type="presParOf" srcId="{8EB00C66-3BAF-484F-B72C-6F95F6E29E7A}" destId="{728255A6-C0CE-4DC6-9009-8F35863AB22A}" srcOrd="7" destOrd="0" presId="urn:microsoft.com/office/officeart/2005/8/layout/default"/>
    <dgm:cxn modelId="{412B6C4C-73C9-49FD-B49E-52E92DC318C4}" type="presParOf" srcId="{8EB00C66-3BAF-484F-B72C-6F95F6E29E7A}" destId="{848F6C53-01AB-41F5-9241-A341BCD0E1D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375956B-7142-45B3-8DE5-D244F09C1D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DAEC9030-3DD4-409D-9E35-10416ADA94C0}">
      <dgm:prSet custT="1"/>
      <dgm:spPr>
        <a:solidFill>
          <a:srgbClr val="D56E48"/>
        </a:solidFill>
      </dgm:spPr>
      <dgm:t>
        <a:bodyPr/>
        <a:lstStyle/>
        <a:p>
          <a:pPr>
            <a:buNone/>
          </a:pPr>
          <a:r>
            <a:rPr lang="en-US" sz="1700" b="0" dirty="0">
              <a:latin typeface="Montserrat" panose="00000500000000000000" pitchFamily="2" charset="0"/>
            </a:rPr>
            <a:t>Retrieval-Augmented Generation (RAG) is a robust approach for combining retrieval systems with generative language models to deliver accurate, context-aware outputs.</a:t>
          </a:r>
        </a:p>
      </dgm:t>
    </dgm:pt>
    <dgm:pt modelId="{E1E817CC-D2FF-4A02-B70C-EC8FA97F57AB}" type="parTrans" cxnId="{D6DB9FE5-42CC-49C3-A538-00D7F268F8E8}">
      <dgm:prSet/>
      <dgm:spPr/>
      <dgm:t>
        <a:bodyPr/>
        <a:lstStyle/>
        <a:p>
          <a:endParaRPr lang="en-CA"/>
        </a:p>
      </dgm:t>
    </dgm:pt>
    <dgm:pt modelId="{8657A650-211F-455D-A772-07F016D18769}" type="sibTrans" cxnId="{D6DB9FE5-42CC-49C3-A538-00D7F268F8E8}">
      <dgm:prSet/>
      <dgm:spPr/>
      <dgm:t>
        <a:bodyPr/>
        <a:lstStyle/>
        <a:p>
          <a:endParaRPr lang="en-CA"/>
        </a:p>
      </dgm:t>
    </dgm:pt>
    <dgm:pt modelId="{90CDA8D6-1CB6-45A7-B0DF-6C201CDDD7AD}">
      <dgm:prSet custT="1"/>
      <dgm:spPr>
        <a:solidFill>
          <a:srgbClr val="D56E48"/>
        </a:solidFill>
      </dgm:spPr>
      <dgm:t>
        <a:bodyPr/>
        <a:lstStyle/>
        <a:p>
          <a:pPr>
            <a:buNone/>
          </a:pPr>
          <a:r>
            <a:rPr lang="en-US" sz="1700" b="0" dirty="0">
              <a:latin typeface="Montserrat" panose="00000500000000000000" pitchFamily="2" charset="0"/>
            </a:rPr>
            <a:t>An end-to-end RAG pipeline was developed in Copilot studio.</a:t>
          </a:r>
        </a:p>
      </dgm:t>
    </dgm:pt>
    <dgm:pt modelId="{5B175F67-3FA6-4F2D-8DFC-E04339D3A1AD}" type="parTrans" cxnId="{9C0D7474-55C1-41F5-8595-25AC69BBE258}">
      <dgm:prSet/>
      <dgm:spPr/>
      <dgm:t>
        <a:bodyPr/>
        <a:lstStyle/>
        <a:p>
          <a:endParaRPr lang="en-CA"/>
        </a:p>
      </dgm:t>
    </dgm:pt>
    <dgm:pt modelId="{ABA7FC4E-1E90-4033-902F-9AAF83E16203}" type="sibTrans" cxnId="{9C0D7474-55C1-41F5-8595-25AC69BBE258}">
      <dgm:prSet/>
      <dgm:spPr/>
      <dgm:t>
        <a:bodyPr/>
        <a:lstStyle/>
        <a:p>
          <a:endParaRPr lang="en-CA"/>
        </a:p>
      </dgm:t>
    </dgm:pt>
    <dgm:pt modelId="{313A1028-F0A6-4C5D-8AB0-D676F0FA4F95}">
      <dgm:prSet custT="1"/>
      <dgm:spPr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2390" tIns="72390" rIns="72390" bIns="72390" numCol="1" spcCol="1270" anchor="ctr" anchorCtr="0"/>
        <a:lstStyle/>
        <a:p>
          <a:pPr>
            <a:buNone/>
          </a:pPr>
          <a:r>
            <a:rPr lang="en-US" sz="1700" b="0" dirty="0">
              <a:latin typeface="Montserrat" panose="00000500000000000000" pitchFamily="2" charset="0"/>
            </a:rPr>
            <a:t>Covered how to add internal and external knowledge to the Agent.</a:t>
          </a:r>
        </a:p>
      </dgm:t>
    </dgm:pt>
    <dgm:pt modelId="{E9666D50-5C71-4339-9806-EBE999E245B7}" type="parTrans" cxnId="{52B88ED1-ACD5-4293-A97D-22DEEAC3AE0D}">
      <dgm:prSet/>
      <dgm:spPr/>
      <dgm:t>
        <a:bodyPr/>
        <a:lstStyle/>
        <a:p>
          <a:endParaRPr lang="en-CA"/>
        </a:p>
      </dgm:t>
    </dgm:pt>
    <dgm:pt modelId="{DA0B4BAD-D399-4CAA-862E-4B8E989AE310}" type="sibTrans" cxnId="{52B88ED1-ACD5-4293-A97D-22DEEAC3AE0D}">
      <dgm:prSet/>
      <dgm:spPr/>
      <dgm:t>
        <a:bodyPr/>
        <a:lstStyle/>
        <a:p>
          <a:endParaRPr lang="en-CA"/>
        </a:p>
      </dgm:t>
    </dgm:pt>
    <dgm:pt modelId="{64B95514-ABFF-4615-82B6-028168DECB27}">
      <dgm:prSet custT="1"/>
      <dgm:spPr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2390" tIns="72390" rIns="72390" bIns="72390" numCol="1" spcCol="1270" anchor="ctr" anchorCtr="0"/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Mastered how to add triggers &amp; topics, publish and test AI agents in Copilot studio.</a:t>
          </a:r>
        </a:p>
      </dgm:t>
    </dgm:pt>
    <dgm:pt modelId="{F30A4DB0-14AA-41F3-A6BE-9F7AAF0B1DFB}" type="parTrans" cxnId="{7D65B130-F6AE-4333-9283-C792A401D185}">
      <dgm:prSet/>
      <dgm:spPr/>
      <dgm:t>
        <a:bodyPr/>
        <a:lstStyle/>
        <a:p>
          <a:endParaRPr lang="en-CA"/>
        </a:p>
      </dgm:t>
    </dgm:pt>
    <dgm:pt modelId="{7C099455-8263-4F50-B9C8-2801545C2AF2}" type="sibTrans" cxnId="{7D65B130-F6AE-4333-9283-C792A401D185}">
      <dgm:prSet/>
      <dgm:spPr/>
      <dgm:t>
        <a:bodyPr/>
        <a:lstStyle/>
        <a:p>
          <a:endParaRPr lang="en-CA"/>
        </a:p>
      </dgm:t>
    </dgm:pt>
    <dgm:pt modelId="{D0CCD457-7D44-40F6-A1E5-BE2FB793C746}" type="pres">
      <dgm:prSet presAssocID="{E375956B-7142-45B3-8DE5-D244F09C1DB8}" presName="linear" presStyleCnt="0">
        <dgm:presLayoutVars>
          <dgm:animLvl val="lvl"/>
          <dgm:resizeHandles val="exact"/>
        </dgm:presLayoutVars>
      </dgm:prSet>
      <dgm:spPr/>
    </dgm:pt>
    <dgm:pt modelId="{4B4CCA74-6D60-4F7A-906E-EE23C7443F76}" type="pres">
      <dgm:prSet presAssocID="{DAEC9030-3DD4-409D-9E35-10416ADA94C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B28E992-7285-4221-B2F1-40BD32492CC4}" type="pres">
      <dgm:prSet presAssocID="{8657A650-211F-455D-A772-07F016D18769}" presName="spacer" presStyleCnt="0"/>
      <dgm:spPr/>
    </dgm:pt>
    <dgm:pt modelId="{B69268E7-0E1D-44DB-A593-961A3E156515}" type="pres">
      <dgm:prSet presAssocID="{90CDA8D6-1CB6-45A7-B0DF-6C201CDDD7A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18DAD53-A08C-410D-9520-C073511D6DE5}" type="pres">
      <dgm:prSet presAssocID="{ABA7FC4E-1E90-4033-902F-9AAF83E16203}" presName="spacer" presStyleCnt="0"/>
      <dgm:spPr/>
    </dgm:pt>
    <dgm:pt modelId="{AE8E755A-062E-40B4-A94E-1AC8F9D03E9B}" type="pres">
      <dgm:prSet presAssocID="{313A1028-F0A6-4C5D-8AB0-D676F0FA4F95}" presName="parentText" presStyleLbl="node1" presStyleIdx="2" presStyleCnt="4">
        <dgm:presLayoutVars>
          <dgm:chMax val="0"/>
          <dgm:bulletEnabled val="1"/>
        </dgm:presLayoutVars>
      </dgm:prSet>
      <dgm:spPr>
        <a:xfrm>
          <a:off x="0" y="2273162"/>
          <a:ext cx="9264138" cy="1044809"/>
        </a:xfrm>
        <a:prstGeom prst="roundRect">
          <a:avLst/>
        </a:prstGeom>
      </dgm:spPr>
    </dgm:pt>
    <dgm:pt modelId="{F6680FBC-D962-4756-9B21-FD1A73A2BA9C}" type="pres">
      <dgm:prSet presAssocID="{DA0B4BAD-D399-4CAA-862E-4B8E989AE310}" presName="spacer" presStyleCnt="0"/>
      <dgm:spPr/>
    </dgm:pt>
    <dgm:pt modelId="{B9DE3447-2C86-4776-B794-0B57ABDA44D0}" type="pres">
      <dgm:prSet presAssocID="{64B95514-ABFF-4615-82B6-028168DECB27}" presName="parentText" presStyleLbl="node1" presStyleIdx="3" presStyleCnt="4">
        <dgm:presLayoutVars>
          <dgm:chMax val="0"/>
          <dgm:bulletEnabled val="1"/>
        </dgm:presLayoutVars>
      </dgm:prSet>
      <dgm:spPr>
        <a:xfrm>
          <a:off x="0" y="3372692"/>
          <a:ext cx="9264138" cy="1044809"/>
        </a:xfrm>
        <a:prstGeom prst="roundRect">
          <a:avLst/>
        </a:prstGeom>
      </dgm:spPr>
    </dgm:pt>
  </dgm:ptLst>
  <dgm:cxnLst>
    <dgm:cxn modelId="{7D65B130-F6AE-4333-9283-C792A401D185}" srcId="{E375956B-7142-45B3-8DE5-D244F09C1DB8}" destId="{64B95514-ABFF-4615-82B6-028168DECB27}" srcOrd="3" destOrd="0" parTransId="{F30A4DB0-14AA-41F3-A6BE-9F7AAF0B1DFB}" sibTransId="{7C099455-8263-4F50-B9C8-2801545C2AF2}"/>
    <dgm:cxn modelId="{F8AB783D-AE5D-4424-B56A-382BA01AED6C}" type="presOf" srcId="{64B95514-ABFF-4615-82B6-028168DECB27}" destId="{B9DE3447-2C86-4776-B794-0B57ABDA44D0}" srcOrd="0" destOrd="0" presId="urn:microsoft.com/office/officeart/2005/8/layout/vList2"/>
    <dgm:cxn modelId="{9C0D7474-55C1-41F5-8595-25AC69BBE258}" srcId="{E375956B-7142-45B3-8DE5-D244F09C1DB8}" destId="{90CDA8D6-1CB6-45A7-B0DF-6C201CDDD7AD}" srcOrd="1" destOrd="0" parTransId="{5B175F67-3FA6-4F2D-8DFC-E04339D3A1AD}" sibTransId="{ABA7FC4E-1E90-4033-902F-9AAF83E16203}"/>
    <dgm:cxn modelId="{29DF1B8F-DCBC-4FF8-953A-7011D623120B}" type="presOf" srcId="{90CDA8D6-1CB6-45A7-B0DF-6C201CDDD7AD}" destId="{B69268E7-0E1D-44DB-A593-961A3E156515}" srcOrd="0" destOrd="0" presId="urn:microsoft.com/office/officeart/2005/8/layout/vList2"/>
    <dgm:cxn modelId="{2334A0B9-8EDC-47A9-86DA-45A792C8F7A4}" type="presOf" srcId="{E375956B-7142-45B3-8DE5-D244F09C1DB8}" destId="{D0CCD457-7D44-40F6-A1E5-BE2FB793C746}" srcOrd="0" destOrd="0" presId="urn:microsoft.com/office/officeart/2005/8/layout/vList2"/>
    <dgm:cxn modelId="{52B88ED1-ACD5-4293-A97D-22DEEAC3AE0D}" srcId="{E375956B-7142-45B3-8DE5-D244F09C1DB8}" destId="{313A1028-F0A6-4C5D-8AB0-D676F0FA4F95}" srcOrd="2" destOrd="0" parTransId="{E9666D50-5C71-4339-9806-EBE999E245B7}" sibTransId="{DA0B4BAD-D399-4CAA-862E-4B8E989AE310}"/>
    <dgm:cxn modelId="{D6DB9FE5-42CC-49C3-A538-00D7F268F8E8}" srcId="{E375956B-7142-45B3-8DE5-D244F09C1DB8}" destId="{DAEC9030-3DD4-409D-9E35-10416ADA94C0}" srcOrd="0" destOrd="0" parTransId="{E1E817CC-D2FF-4A02-B70C-EC8FA97F57AB}" sibTransId="{8657A650-211F-455D-A772-07F016D18769}"/>
    <dgm:cxn modelId="{034279E9-3576-4A02-934E-91A34DDF6537}" type="presOf" srcId="{313A1028-F0A6-4C5D-8AB0-D676F0FA4F95}" destId="{AE8E755A-062E-40B4-A94E-1AC8F9D03E9B}" srcOrd="0" destOrd="0" presId="urn:microsoft.com/office/officeart/2005/8/layout/vList2"/>
    <dgm:cxn modelId="{FEEF80F3-9630-45B5-A121-01EC7659CB78}" type="presOf" srcId="{DAEC9030-3DD4-409D-9E35-10416ADA94C0}" destId="{4B4CCA74-6D60-4F7A-906E-EE23C7443F76}" srcOrd="0" destOrd="0" presId="urn:microsoft.com/office/officeart/2005/8/layout/vList2"/>
    <dgm:cxn modelId="{C7FB8FFD-6C60-4594-ADEA-9D3C09C49324}" type="presParOf" srcId="{D0CCD457-7D44-40F6-A1E5-BE2FB793C746}" destId="{4B4CCA74-6D60-4F7A-906E-EE23C7443F76}" srcOrd="0" destOrd="0" presId="urn:microsoft.com/office/officeart/2005/8/layout/vList2"/>
    <dgm:cxn modelId="{1BA8E6A4-8C4C-4F18-85F5-60F76A642685}" type="presParOf" srcId="{D0CCD457-7D44-40F6-A1E5-BE2FB793C746}" destId="{1B28E992-7285-4221-B2F1-40BD32492CC4}" srcOrd="1" destOrd="0" presId="urn:microsoft.com/office/officeart/2005/8/layout/vList2"/>
    <dgm:cxn modelId="{C5EB7B03-22A7-4F7A-A768-53C5D8E83B13}" type="presParOf" srcId="{D0CCD457-7D44-40F6-A1E5-BE2FB793C746}" destId="{B69268E7-0E1D-44DB-A593-961A3E156515}" srcOrd="2" destOrd="0" presId="urn:microsoft.com/office/officeart/2005/8/layout/vList2"/>
    <dgm:cxn modelId="{CEC72A96-F066-4F89-A61A-355999359812}" type="presParOf" srcId="{D0CCD457-7D44-40F6-A1E5-BE2FB793C746}" destId="{F18DAD53-A08C-410D-9520-C073511D6DE5}" srcOrd="3" destOrd="0" presId="urn:microsoft.com/office/officeart/2005/8/layout/vList2"/>
    <dgm:cxn modelId="{BE85A8D9-2F60-4FE4-A5BF-559BEB7FF7A8}" type="presParOf" srcId="{D0CCD457-7D44-40F6-A1E5-BE2FB793C746}" destId="{AE8E755A-062E-40B4-A94E-1AC8F9D03E9B}" srcOrd="4" destOrd="0" presId="urn:microsoft.com/office/officeart/2005/8/layout/vList2"/>
    <dgm:cxn modelId="{5B48EEC2-B6F9-4BC9-82AD-A9230390EF45}" type="presParOf" srcId="{D0CCD457-7D44-40F6-A1E5-BE2FB793C746}" destId="{F6680FBC-D962-4756-9B21-FD1A73A2BA9C}" srcOrd="5" destOrd="0" presId="urn:microsoft.com/office/officeart/2005/8/layout/vList2"/>
    <dgm:cxn modelId="{DAACAA00-B56F-4DF0-81D5-1BE55F201C7B}" type="presParOf" srcId="{D0CCD457-7D44-40F6-A1E5-BE2FB793C746}" destId="{B9DE3447-2C86-4776-B794-0B57ABDA44D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558E55-37DC-4859-9ABB-EFE02DEEEF05}">
      <dsp:nvSpPr>
        <dsp:cNvPr id="0" name=""/>
        <dsp:cNvSpPr/>
      </dsp:nvSpPr>
      <dsp:spPr>
        <a:xfrm>
          <a:off x="0" y="46733"/>
          <a:ext cx="3137876" cy="1882725"/>
        </a:xfrm>
        <a:prstGeom prst="rect">
          <a:avLst/>
        </a:prstGeom>
        <a:solidFill>
          <a:srgbClr val="0C1752"/>
        </a:solidFill>
        <a:ln w="12700" cap="flat" cmpd="sng" algn="ctr">
          <a:solidFill>
            <a:srgbClr val="0C175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latin typeface="Montserrat" panose="00000500000000000000" pitchFamily="2" charset="0"/>
              <a:cs typeface="Mongolian Baiti" panose="03000500000000000000" pitchFamily="66" charset="0"/>
            </a:rPr>
            <a:t>Build RAG-based AI agents for Eleven Madison Park restaurant in Copilot Studio.</a:t>
          </a:r>
        </a:p>
      </dsp:txBody>
      <dsp:txXfrm>
        <a:off x="0" y="46733"/>
        <a:ext cx="3137876" cy="1882725"/>
      </dsp:txXfrm>
    </dsp:sp>
    <dsp:sp modelId="{BE73B1EC-B7E1-4848-84E7-7115730A32AA}">
      <dsp:nvSpPr>
        <dsp:cNvPr id="0" name=""/>
        <dsp:cNvSpPr/>
      </dsp:nvSpPr>
      <dsp:spPr>
        <a:xfrm>
          <a:off x="3451664" y="46733"/>
          <a:ext cx="3137876" cy="1882725"/>
        </a:xfrm>
        <a:prstGeom prst="rect">
          <a:avLst/>
        </a:prstGeom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Understand the core principles of Retrieval-Augmented Generation (</a:t>
          </a:r>
          <a:r>
            <a:rPr lang="en-CA" sz="1800" kern="120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RAG).</a:t>
          </a:r>
          <a:endParaRPr lang="en-CA" sz="1800" kern="1200" dirty="0">
            <a:solidFill>
              <a:prstClr val="white"/>
            </a:solidFill>
            <a:latin typeface="Montserrat" panose="00000500000000000000" pitchFamily="2" charset="0"/>
            <a:ea typeface="+mn-ea"/>
            <a:cs typeface="+mn-cs"/>
          </a:endParaRPr>
        </a:p>
      </dsp:txBody>
      <dsp:txXfrm>
        <a:off x="3451664" y="46733"/>
        <a:ext cx="3137876" cy="1882725"/>
      </dsp:txXfrm>
    </dsp:sp>
    <dsp:sp modelId="{66FD1FEE-6916-469C-AC20-5281BA353382}">
      <dsp:nvSpPr>
        <dsp:cNvPr id="0" name=""/>
        <dsp:cNvSpPr/>
      </dsp:nvSpPr>
      <dsp:spPr>
        <a:xfrm>
          <a:off x="6903328" y="46733"/>
          <a:ext cx="3137876" cy="1882725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latin typeface="Montserrat" panose="00000500000000000000" pitchFamily="2" charset="0"/>
            </a:rPr>
            <a:t>Add External and Internal Knowledge to the AI Agent (websites, PDFs, word).</a:t>
          </a:r>
        </a:p>
      </dsp:txBody>
      <dsp:txXfrm>
        <a:off x="6903328" y="46733"/>
        <a:ext cx="3137876" cy="1882725"/>
      </dsp:txXfrm>
    </dsp:sp>
    <dsp:sp modelId="{6252F9F4-D0DC-4D13-9592-F953C7F49611}">
      <dsp:nvSpPr>
        <dsp:cNvPr id="0" name=""/>
        <dsp:cNvSpPr/>
      </dsp:nvSpPr>
      <dsp:spPr>
        <a:xfrm>
          <a:off x="1725832" y="2243246"/>
          <a:ext cx="3137876" cy="1882725"/>
        </a:xfrm>
        <a:prstGeom prst="rect">
          <a:avLst/>
        </a:prstGeom>
        <a:solidFill>
          <a:srgbClr val="11CCD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latin typeface="Montserrat" panose="00000500000000000000" pitchFamily="2" charset="0"/>
            </a:rPr>
            <a:t>Add/customize Agent Triggers.</a:t>
          </a:r>
        </a:p>
      </dsp:txBody>
      <dsp:txXfrm>
        <a:off x="1725832" y="2243246"/>
        <a:ext cx="3137876" cy="1882725"/>
      </dsp:txXfrm>
    </dsp:sp>
    <dsp:sp modelId="{22AE5A2B-7540-4FDD-87BF-1494829FA0CB}">
      <dsp:nvSpPr>
        <dsp:cNvPr id="0" name=""/>
        <dsp:cNvSpPr/>
      </dsp:nvSpPr>
      <dsp:spPr>
        <a:xfrm>
          <a:off x="5177496" y="2243246"/>
          <a:ext cx="3137876" cy="1882725"/>
        </a:xfrm>
        <a:prstGeom prst="rect">
          <a:avLst/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latin typeface="Montserrat" panose="00000500000000000000" pitchFamily="2" charset="0"/>
            </a:rPr>
            <a:t>Publish and Test AI Agents in CoPilot Studio.</a:t>
          </a:r>
        </a:p>
      </dsp:txBody>
      <dsp:txXfrm>
        <a:off x="5177496" y="2243246"/>
        <a:ext cx="3137876" cy="18827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3E5DA5-9585-4FF0-9145-A50FC9BDF13C}">
      <dsp:nvSpPr>
        <dsp:cNvPr id="0" name=""/>
        <dsp:cNvSpPr/>
      </dsp:nvSpPr>
      <dsp:spPr>
        <a:xfrm>
          <a:off x="5539" y="1306662"/>
          <a:ext cx="1717341" cy="2037163"/>
        </a:xfrm>
        <a:prstGeom prst="roundRect">
          <a:avLst>
            <a:gd name="adj" fmla="val 10000"/>
          </a:avLst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 dirty="0">
              <a:latin typeface="Montserrat" panose="00000500000000000000" pitchFamily="2" charset="0"/>
            </a:rPr>
            <a:t>The user writes a prompt or a query that is passed to an orchestrator.</a:t>
          </a:r>
        </a:p>
      </dsp:txBody>
      <dsp:txXfrm>
        <a:off x="55838" y="1356961"/>
        <a:ext cx="1616743" cy="1936565"/>
      </dsp:txXfrm>
    </dsp:sp>
    <dsp:sp modelId="{51134578-4258-4310-8E42-7A578A46F8C0}">
      <dsp:nvSpPr>
        <dsp:cNvPr id="0" name=""/>
        <dsp:cNvSpPr/>
      </dsp:nvSpPr>
      <dsp:spPr>
        <a:xfrm>
          <a:off x="1894615" y="2112293"/>
          <a:ext cx="364076" cy="425900"/>
        </a:xfrm>
        <a:prstGeom prst="rightArrow">
          <a:avLst>
            <a:gd name="adj1" fmla="val 60000"/>
            <a:gd name="adj2" fmla="val 50000"/>
          </a:avLst>
        </a:prstGeom>
        <a:solidFill>
          <a:srgbClr val="D56E48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latin typeface="Montserrat" panose="00000500000000000000" pitchFamily="2" charset="0"/>
          </a:endParaRPr>
        </a:p>
      </dsp:txBody>
      <dsp:txXfrm>
        <a:off x="1894615" y="2197473"/>
        <a:ext cx="254853" cy="255540"/>
      </dsp:txXfrm>
    </dsp:sp>
    <dsp:sp modelId="{847E697D-2C19-4764-9F48-FDA290B66F58}">
      <dsp:nvSpPr>
        <dsp:cNvPr id="0" name=""/>
        <dsp:cNvSpPr/>
      </dsp:nvSpPr>
      <dsp:spPr>
        <a:xfrm>
          <a:off x="2409818" y="1306662"/>
          <a:ext cx="1717341" cy="2037163"/>
        </a:xfrm>
        <a:prstGeom prst="roundRect">
          <a:avLst>
            <a:gd name="adj" fmla="val 10000"/>
          </a:avLst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Montserrat" panose="00000500000000000000" pitchFamily="2" charset="0"/>
            </a:rPr>
            <a:t>The orchestrator sends a search query to the retriever.</a:t>
          </a:r>
          <a:endParaRPr lang="en-US" sz="1600" kern="1200" dirty="0">
            <a:latin typeface="Montserrat" panose="00000500000000000000" pitchFamily="2" charset="0"/>
          </a:endParaRPr>
        </a:p>
      </dsp:txBody>
      <dsp:txXfrm>
        <a:off x="2460117" y="1356961"/>
        <a:ext cx="1616743" cy="1936565"/>
      </dsp:txXfrm>
    </dsp:sp>
    <dsp:sp modelId="{CF33DA7F-74CF-49D6-B1FF-1F0A03162861}">
      <dsp:nvSpPr>
        <dsp:cNvPr id="0" name=""/>
        <dsp:cNvSpPr/>
      </dsp:nvSpPr>
      <dsp:spPr>
        <a:xfrm>
          <a:off x="4298894" y="2112293"/>
          <a:ext cx="364076" cy="425900"/>
        </a:xfrm>
        <a:prstGeom prst="rightArrow">
          <a:avLst>
            <a:gd name="adj1" fmla="val 60000"/>
            <a:gd name="adj2" fmla="val 50000"/>
          </a:avLst>
        </a:prstGeom>
        <a:solidFill>
          <a:srgbClr val="D56E48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latin typeface="Montserrat" panose="00000500000000000000" pitchFamily="2" charset="0"/>
          </a:endParaRPr>
        </a:p>
      </dsp:txBody>
      <dsp:txXfrm>
        <a:off x="4298894" y="2197473"/>
        <a:ext cx="254853" cy="255540"/>
      </dsp:txXfrm>
    </dsp:sp>
    <dsp:sp modelId="{B106665E-27E5-4E9C-9D87-44DA6F8D693A}">
      <dsp:nvSpPr>
        <dsp:cNvPr id="0" name=""/>
        <dsp:cNvSpPr/>
      </dsp:nvSpPr>
      <dsp:spPr>
        <a:xfrm>
          <a:off x="4814097" y="1306662"/>
          <a:ext cx="1717341" cy="2037163"/>
        </a:xfrm>
        <a:prstGeom prst="roundRect">
          <a:avLst>
            <a:gd name="adj" fmla="val 10000"/>
          </a:avLst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Montserrat" panose="00000500000000000000" pitchFamily="2" charset="0"/>
            </a:rPr>
            <a:t>Retriever fetches the relevant information from the knowledge sources and sends back.</a:t>
          </a:r>
          <a:endParaRPr lang="en-US" sz="1600" kern="1200" dirty="0">
            <a:latin typeface="Montserrat" panose="00000500000000000000" pitchFamily="2" charset="0"/>
          </a:endParaRPr>
        </a:p>
      </dsp:txBody>
      <dsp:txXfrm>
        <a:off x="4864396" y="1356961"/>
        <a:ext cx="1616743" cy="1936565"/>
      </dsp:txXfrm>
    </dsp:sp>
    <dsp:sp modelId="{D3DE5CD3-7C5C-424D-B2B0-FF9055ED2292}">
      <dsp:nvSpPr>
        <dsp:cNvPr id="0" name=""/>
        <dsp:cNvSpPr/>
      </dsp:nvSpPr>
      <dsp:spPr>
        <a:xfrm>
          <a:off x="6703173" y="2112293"/>
          <a:ext cx="364076" cy="425900"/>
        </a:xfrm>
        <a:prstGeom prst="rightArrow">
          <a:avLst>
            <a:gd name="adj1" fmla="val 60000"/>
            <a:gd name="adj2" fmla="val 50000"/>
          </a:avLst>
        </a:prstGeom>
        <a:solidFill>
          <a:srgbClr val="D56E48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latin typeface="Montserrat" panose="00000500000000000000" pitchFamily="2" charset="0"/>
          </a:endParaRPr>
        </a:p>
      </dsp:txBody>
      <dsp:txXfrm>
        <a:off x="6703173" y="2197473"/>
        <a:ext cx="254853" cy="255540"/>
      </dsp:txXfrm>
    </dsp:sp>
    <dsp:sp modelId="{40195FCE-B125-4A20-ACFF-07515B0A9ECB}">
      <dsp:nvSpPr>
        <dsp:cNvPr id="0" name=""/>
        <dsp:cNvSpPr/>
      </dsp:nvSpPr>
      <dsp:spPr>
        <a:xfrm>
          <a:off x="7218375" y="1306662"/>
          <a:ext cx="1717341" cy="2037163"/>
        </a:xfrm>
        <a:prstGeom prst="roundRect">
          <a:avLst>
            <a:gd name="adj" fmla="val 10000"/>
          </a:avLst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Montserrat" panose="00000500000000000000" pitchFamily="2" charset="0"/>
            </a:rPr>
            <a:t>The orchestrator augments the prompt with the context and sends it to the LLM.</a:t>
          </a:r>
          <a:endParaRPr lang="en-US" sz="1600" kern="1200" dirty="0">
            <a:latin typeface="Montserrat" panose="00000500000000000000" pitchFamily="2" charset="0"/>
          </a:endParaRPr>
        </a:p>
      </dsp:txBody>
      <dsp:txXfrm>
        <a:off x="7268674" y="1356961"/>
        <a:ext cx="1616743" cy="1936565"/>
      </dsp:txXfrm>
    </dsp:sp>
    <dsp:sp modelId="{550D6508-C2B2-4CAA-B088-E71E2236EEFF}">
      <dsp:nvSpPr>
        <dsp:cNvPr id="0" name=""/>
        <dsp:cNvSpPr/>
      </dsp:nvSpPr>
      <dsp:spPr>
        <a:xfrm>
          <a:off x="9107451" y="2112293"/>
          <a:ext cx="364076" cy="425900"/>
        </a:xfrm>
        <a:prstGeom prst="rightArrow">
          <a:avLst>
            <a:gd name="adj1" fmla="val 60000"/>
            <a:gd name="adj2" fmla="val 50000"/>
          </a:avLst>
        </a:prstGeom>
        <a:solidFill>
          <a:srgbClr val="D56E48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latin typeface="Montserrat" panose="00000500000000000000" pitchFamily="2" charset="0"/>
          </a:endParaRPr>
        </a:p>
      </dsp:txBody>
      <dsp:txXfrm>
        <a:off x="9107451" y="2197473"/>
        <a:ext cx="254853" cy="255540"/>
      </dsp:txXfrm>
    </dsp:sp>
    <dsp:sp modelId="{B6021245-121A-4894-AD46-057CCF3AF33A}">
      <dsp:nvSpPr>
        <dsp:cNvPr id="0" name=""/>
        <dsp:cNvSpPr/>
      </dsp:nvSpPr>
      <dsp:spPr>
        <a:xfrm>
          <a:off x="9622654" y="1306662"/>
          <a:ext cx="1717341" cy="2037163"/>
        </a:xfrm>
        <a:prstGeom prst="roundRect">
          <a:avLst>
            <a:gd name="adj" fmla="val 10000"/>
          </a:avLst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Montserrat" panose="00000500000000000000" pitchFamily="2" charset="0"/>
            </a:rPr>
            <a:t>LLM responds with the generated text which is displayed to the user via the orchestrator.</a:t>
          </a:r>
          <a:endParaRPr lang="en-US" sz="1600" kern="1200" dirty="0">
            <a:latin typeface="Montserrat" panose="00000500000000000000" pitchFamily="2" charset="0"/>
          </a:endParaRPr>
        </a:p>
      </dsp:txBody>
      <dsp:txXfrm>
        <a:off x="9672953" y="1356961"/>
        <a:ext cx="1616743" cy="19365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E125B3-1E96-4CD0-A0D1-D0EA9047D17E}">
      <dsp:nvSpPr>
        <dsp:cNvPr id="0" name=""/>
        <dsp:cNvSpPr/>
      </dsp:nvSpPr>
      <dsp:spPr>
        <a:xfrm>
          <a:off x="0" y="407041"/>
          <a:ext cx="3242585" cy="19455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ontserrat" panose="00000500000000000000" pitchFamily="2" charset="0"/>
            </a:rPr>
            <a:t>Accurate Responses: </a:t>
          </a:r>
          <a:r>
            <a:rPr lang="en-US" sz="1800" kern="1200" dirty="0">
              <a:latin typeface="Montserrat" panose="00000500000000000000" pitchFamily="2" charset="0"/>
            </a:rPr>
            <a:t>Combines retrieval with generative AI to ground outputs in factual data, minimizing errors.</a:t>
          </a:r>
        </a:p>
      </dsp:txBody>
      <dsp:txXfrm>
        <a:off x="0" y="407041"/>
        <a:ext cx="3242585" cy="1945551"/>
      </dsp:txXfrm>
    </dsp:sp>
    <dsp:sp modelId="{957255D1-1A3B-42EA-976B-09EEE6BDE9FA}">
      <dsp:nvSpPr>
        <dsp:cNvPr id="0" name=""/>
        <dsp:cNvSpPr/>
      </dsp:nvSpPr>
      <dsp:spPr>
        <a:xfrm>
          <a:off x="3566844" y="407041"/>
          <a:ext cx="3242585" cy="1945551"/>
        </a:xfrm>
        <a:prstGeom prst="rect">
          <a:avLst/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ontserrat" panose="00000500000000000000" pitchFamily="2" charset="0"/>
            </a:rPr>
            <a:t>Up-to-Date Information: </a:t>
          </a:r>
          <a:r>
            <a:rPr lang="en-US" sz="1800" kern="1200" dirty="0">
              <a:latin typeface="Montserrat" panose="00000500000000000000" pitchFamily="2" charset="0"/>
            </a:rPr>
            <a:t>Dynamically accesses the latest content, ensuring relevance without retraining.</a:t>
          </a:r>
        </a:p>
      </dsp:txBody>
      <dsp:txXfrm>
        <a:off x="3566844" y="407041"/>
        <a:ext cx="3242585" cy="1945551"/>
      </dsp:txXfrm>
    </dsp:sp>
    <dsp:sp modelId="{D3216D7E-F334-4282-833C-F510A5D361B7}">
      <dsp:nvSpPr>
        <dsp:cNvPr id="0" name=""/>
        <dsp:cNvSpPr/>
      </dsp:nvSpPr>
      <dsp:spPr>
        <a:xfrm>
          <a:off x="7133688" y="407041"/>
          <a:ext cx="3242585" cy="1945551"/>
        </a:xfrm>
        <a:prstGeom prst="rect">
          <a:avLst/>
        </a:prstGeom>
        <a:solidFill>
          <a:srgbClr val="D56E4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ontserrat" panose="00000500000000000000" pitchFamily="2" charset="0"/>
            </a:rPr>
            <a:t>Cost-Efficient: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Montserrat" panose="00000500000000000000" pitchFamily="2" charset="0"/>
            </a:rPr>
            <a:t>Reduces computational burden by relying on retrieval for context, cutting costs.</a:t>
          </a:r>
        </a:p>
      </dsp:txBody>
      <dsp:txXfrm>
        <a:off x="7133688" y="407041"/>
        <a:ext cx="3242585" cy="1945551"/>
      </dsp:txXfrm>
    </dsp:sp>
    <dsp:sp modelId="{3057B9F9-BBC0-4808-BC1D-CBC005B41E15}">
      <dsp:nvSpPr>
        <dsp:cNvPr id="0" name=""/>
        <dsp:cNvSpPr/>
      </dsp:nvSpPr>
      <dsp:spPr>
        <a:xfrm>
          <a:off x="1783422" y="2676851"/>
          <a:ext cx="3242585" cy="1945551"/>
        </a:xfrm>
        <a:prstGeom prst="rect">
          <a:avLst/>
        </a:prstGeom>
        <a:solidFill>
          <a:srgbClr val="11CCD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ontserrat" panose="00000500000000000000" pitchFamily="2" charset="0"/>
            </a:rPr>
            <a:t>Customizable:</a:t>
          </a:r>
          <a:r>
            <a:rPr lang="en-US" sz="1800" kern="1200" dirty="0">
              <a:latin typeface="Montserrat" panose="00000500000000000000" pitchFamily="2" charset="0"/>
            </a:rPr>
            <a:t>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Montserrat" panose="00000500000000000000" pitchFamily="2" charset="0"/>
            </a:rPr>
            <a:t>Easily tailored to specific industries and domains with custom datasets.</a:t>
          </a:r>
        </a:p>
      </dsp:txBody>
      <dsp:txXfrm>
        <a:off x="1783422" y="2676851"/>
        <a:ext cx="3242585" cy="1945551"/>
      </dsp:txXfrm>
    </dsp:sp>
    <dsp:sp modelId="{848F6C53-01AB-41F5-9241-A341BCD0E1D6}">
      <dsp:nvSpPr>
        <dsp:cNvPr id="0" name=""/>
        <dsp:cNvSpPr/>
      </dsp:nvSpPr>
      <dsp:spPr>
        <a:xfrm>
          <a:off x="5350266" y="2676851"/>
          <a:ext cx="3242585" cy="1945551"/>
        </a:xfrm>
        <a:prstGeom prst="rect">
          <a:avLst/>
        </a:prstGeom>
        <a:solidFill>
          <a:schemeClr val="bg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ontserrat" panose="00000500000000000000" pitchFamily="2" charset="0"/>
            </a:rPr>
            <a:t>Explainable:</a:t>
          </a:r>
          <a:r>
            <a:rPr lang="en-US" sz="1800" kern="1200" dirty="0">
              <a:latin typeface="Montserrat" panose="00000500000000000000" pitchFamily="2" charset="0"/>
            </a:rPr>
            <a:t>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Montserrat" panose="00000500000000000000" pitchFamily="2" charset="0"/>
            </a:rPr>
            <a:t>Increases trust by surfacing the data sources behind generated responses.</a:t>
          </a:r>
        </a:p>
      </dsp:txBody>
      <dsp:txXfrm>
        <a:off x="5350266" y="2676851"/>
        <a:ext cx="3242585" cy="19455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4CCA74-6D60-4F7A-906E-EE23C7443F76}">
      <dsp:nvSpPr>
        <dsp:cNvPr id="0" name=""/>
        <dsp:cNvSpPr/>
      </dsp:nvSpPr>
      <dsp:spPr>
        <a:xfrm>
          <a:off x="0" y="5710"/>
          <a:ext cx="9827492" cy="1141920"/>
        </a:xfrm>
        <a:prstGeom prst="roundRect">
          <a:avLst/>
        </a:prstGeom>
        <a:solidFill>
          <a:srgbClr val="D56E4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latin typeface="Montserrat" panose="00000500000000000000" pitchFamily="2" charset="0"/>
            </a:rPr>
            <a:t>Retrieval-Augmented Generation (RAG) is a robust approach for combining retrieval systems with generative language models to deliver accurate, context-aware outputs.</a:t>
          </a:r>
        </a:p>
      </dsp:txBody>
      <dsp:txXfrm>
        <a:off x="55744" y="61454"/>
        <a:ext cx="9716004" cy="1030432"/>
      </dsp:txXfrm>
    </dsp:sp>
    <dsp:sp modelId="{B69268E7-0E1D-44DB-A593-961A3E156515}">
      <dsp:nvSpPr>
        <dsp:cNvPr id="0" name=""/>
        <dsp:cNvSpPr/>
      </dsp:nvSpPr>
      <dsp:spPr>
        <a:xfrm>
          <a:off x="0" y="1323311"/>
          <a:ext cx="9827492" cy="1141920"/>
        </a:xfrm>
        <a:prstGeom prst="roundRect">
          <a:avLst/>
        </a:prstGeom>
        <a:solidFill>
          <a:srgbClr val="D56E4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latin typeface="Montserrat" panose="00000500000000000000" pitchFamily="2" charset="0"/>
            </a:rPr>
            <a:t>An end-to-end RAG pipeline was developed in Copilot studio.</a:t>
          </a:r>
        </a:p>
      </dsp:txBody>
      <dsp:txXfrm>
        <a:off x="55744" y="1379055"/>
        <a:ext cx="9716004" cy="1030432"/>
      </dsp:txXfrm>
    </dsp:sp>
    <dsp:sp modelId="{AE8E755A-062E-40B4-A94E-1AC8F9D03E9B}">
      <dsp:nvSpPr>
        <dsp:cNvPr id="0" name=""/>
        <dsp:cNvSpPr/>
      </dsp:nvSpPr>
      <dsp:spPr>
        <a:xfrm>
          <a:off x="0" y="2640911"/>
          <a:ext cx="9827492" cy="1141920"/>
        </a:xfrm>
        <a:prstGeom prst="roundRect">
          <a:avLst/>
        </a:prstGeom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latin typeface="Montserrat" panose="00000500000000000000" pitchFamily="2" charset="0"/>
            </a:rPr>
            <a:t>Covered how to add internal and external knowledge to the Agent.</a:t>
          </a:r>
        </a:p>
      </dsp:txBody>
      <dsp:txXfrm>
        <a:off x="55744" y="2696655"/>
        <a:ext cx="9716004" cy="1030432"/>
      </dsp:txXfrm>
    </dsp:sp>
    <dsp:sp modelId="{B9DE3447-2C86-4776-B794-0B57ABDA44D0}">
      <dsp:nvSpPr>
        <dsp:cNvPr id="0" name=""/>
        <dsp:cNvSpPr/>
      </dsp:nvSpPr>
      <dsp:spPr>
        <a:xfrm>
          <a:off x="0" y="3958511"/>
          <a:ext cx="9827492" cy="1141920"/>
        </a:xfrm>
        <a:prstGeom prst="roundRect">
          <a:avLst/>
        </a:prstGeom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Mastered how to add triggers &amp; topics, publish and test AI agents in Copilot studio.</a:t>
          </a:r>
        </a:p>
      </dsp:txBody>
      <dsp:txXfrm>
        <a:off x="55744" y="4014255"/>
        <a:ext cx="9716004" cy="10304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24.png"/><Relationship Id="rId9" Type="http://schemas.microsoft.com/office/2007/relationships/diagramDrawing" Target="../diagrams/drawing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134842" y="490801"/>
            <a:ext cx="480863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BUILD AN AI CHATBOT FOR ELEVEN MADISON PARK IN COPILOT STUDIO</a:t>
            </a:r>
            <a:endParaRPr lang="en-US" sz="3200" b="1" dirty="0">
              <a:solidFill>
                <a:schemeClr val="bg1"/>
              </a:solidFill>
              <a:latin typeface="Montserra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1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2CFA2-BD2E-F57F-DD51-64E5B97F0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925F58-B47E-35F2-1DBC-DFBA0F573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425897-584C-BF0A-E016-C5F9FC574E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25CA6914-B647-93F3-7930-94E5E59C7EBD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AI Agent 101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918C1E-20E7-4595-F6EA-CD0425805354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7605B-DCA1-EE8B-9853-0A9AA10F57C4}"/>
              </a:ext>
            </a:extLst>
          </p:cNvPr>
          <p:cNvSpPr txBox="1"/>
          <p:nvPr/>
        </p:nvSpPr>
        <p:spPr>
          <a:xfrm>
            <a:off x="214058" y="863962"/>
            <a:ext cx="11464507" cy="147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AI agents are systems, often powered by large language models (LLMs) like GPT-5 that can take goals you give them, decide how to achieve those goals, and then act using various tools, often without constant human guidance.</a:t>
            </a:r>
            <a:endParaRPr lang="en-CA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5DF6A16-473F-E320-B60D-26160CD07E9C}"/>
              </a:ext>
            </a:extLst>
          </p:cNvPr>
          <p:cNvCxnSpPr>
            <a:cxnSpLocks/>
          </p:cNvCxnSpPr>
          <p:nvPr/>
        </p:nvCxnSpPr>
        <p:spPr>
          <a:xfrm>
            <a:off x="1445219" y="3349677"/>
            <a:ext cx="621706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22E4BC8-F687-B56B-9A81-1AFBBBDE2B21}"/>
              </a:ext>
            </a:extLst>
          </p:cNvPr>
          <p:cNvSpPr txBox="1"/>
          <p:nvPr/>
        </p:nvSpPr>
        <p:spPr>
          <a:xfrm>
            <a:off x="90233" y="2555780"/>
            <a:ext cx="15671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 dirty="0">
                <a:latin typeface="Montserrat" panose="00000500000000000000" pitchFamily="2" charset="0"/>
              </a:rPr>
              <a:t>Book a Flight from Toronto to NYC Next Week</a:t>
            </a:r>
            <a:endParaRPr lang="en-CA" sz="1100" i="1" dirty="0">
              <a:latin typeface="Montserrat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00594D-C99A-E7B7-AE99-51FD810D18F1}"/>
              </a:ext>
            </a:extLst>
          </p:cNvPr>
          <p:cNvSpPr txBox="1"/>
          <p:nvPr/>
        </p:nvSpPr>
        <p:spPr>
          <a:xfrm>
            <a:off x="2416596" y="4076436"/>
            <a:ext cx="2129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i="1" dirty="0">
                <a:latin typeface="Montserrat" panose="00000500000000000000" pitchFamily="2" charset="0"/>
              </a:rPr>
              <a:t>Instructions</a:t>
            </a:r>
            <a:endParaRPr lang="en-CA" sz="1400" b="1" i="1" dirty="0">
              <a:latin typeface="Montserrat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516CAE-A92A-38D2-60A0-9246A646B206}"/>
              </a:ext>
            </a:extLst>
          </p:cNvPr>
          <p:cNvSpPr txBox="1"/>
          <p:nvPr/>
        </p:nvSpPr>
        <p:spPr>
          <a:xfrm>
            <a:off x="4543098" y="4286277"/>
            <a:ext cx="2026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i="1" dirty="0">
                <a:latin typeface="Montserrat" panose="00000500000000000000" pitchFamily="2" charset="0"/>
              </a:rPr>
              <a:t>Knowledge</a:t>
            </a:r>
            <a:endParaRPr lang="en-CA" sz="1400" b="1" i="1" dirty="0">
              <a:latin typeface="Montserrat" panose="00000500000000000000" pitchFamily="2" charset="0"/>
            </a:endParaRP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90409018-503A-CDDC-ADD6-3CC3815FF39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42295" y="3049511"/>
            <a:ext cx="1834309" cy="995506"/>
          </a:xfrm>
          <a:prstGeom prst="curvedConnector2">
            <a:avLst/>
          </a:prstGeom>
          <a:ln w="57150">
            <a:solidFill>
              <a:srgbClr val="D56E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721A0692-9FC6-2BE1-9748-ECCCCEE70F52}"/>
              </a:ext>
            </a:extLst>
          </p:cNvPr>
          <p:cNvCxnSpPr>
            <a:cxnSpLocks/>
          </p:cNvCxnSpPr>
          <p:nvPr/>
        </p:nvCxnSpPr>
        <p:spPr>
          <a:xfrm rot="16200000" flipV="1">
            <a:off x="5577684" y="2276412"/>
            <a:ext cx="1226688" cy="2475960"/>
          </a:xfrm>
          <a:prstGeom prst="curvedConnector2">
            <a:avLst/>
          </a:prstGeom>
          <a:ln w="57150">
            <a:solidFill>
              <a:srgbClr val="D56E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C6EF781-29A8-E841-8119-04E2EB6607C7}"/>
              </a:ext>
            </a:extLst>
          </p:cNvPr>
          <p:cNvCxnSpPr>
            <a:cxnSpLocks/>
          </p:cNvCxnSpPr>
          <p:nvPr/>
        </p:nvCxnSpPr>
        <p:spPr>
          <a:xfrm>
            <a:off x="5452354" y="3629122"/>
            <a:ext cx="0" cy="720919"/>
          </a:xfrm>
          <a:prstGeom prst="line">
            <a:avLst/>
          </a:prstGeom>
          <a:ln w="57150">
            <a:solidFill>
              <a:srgbClr val="D56E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 descr="Generated image">
            <a:extLst>
              <a:ext uri="{FF2B5EF4-FFF2-40B4-BE49-F238E27FC236}">
                <a16:creationId xmlns:a16="http://schemas.microsoft.com/office/drawing/2014/main" id="{BE7BE27C-5A89-9441-7A66-A915E4ECC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DFDFB"/>
              </a:clrFrom>
              <a:clrTo>
                <a:srgbClr val="FDFD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689" y="4286277"/>
            <a:ext cx="1494841" cy="1494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enerated image">
            <a:extLst>
              <a:ext uri="{FF2B5EF4-FFF2-40B4-BE49-F238E27FC236}">
                <a16:creationId xmlns:a16="http://schemas.microsoft.com/office/drawing/2014/main" id="{A75BC8F7-C6F8-3558-C156-74D540EAB0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EFEFD"/>
              </a:clrFrom>
              <a:clrTo>
                <a:srgbClr val="FE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38"/>
          <a:stretch>
            <a:fillRect/>
          </a:stretch>
        </p:blipFill>
        <p:spPr bwMode="auto">
          <a:xfrm>
            <a:off x="4639249" y="4687492"/>
            <a:ext cx="1611418" cy="1406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1DB09F3-A1C2-7DFA-EC3C-976952B73547}"/>
              </a:ext>
            </a:extLst>
          </p:cNvPr>
          <p:cNvSpPr/>
          <p:nvPr/>
        </p:nvSpPr>
        <p:spPr>
          <a:xfrm>
            <a:off x="4306474" y="2807396"/>
            <a:ext cx="2219851" cy="1057127"/>
          </a:xfrm>
          <a:prstGeom prst="round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400" i="1" dirty="0">
                <a:latin typeface="Montserrat" panose="00000500000000000000" pitchFamily="2" charset="0"/>
              </a:rPr>
              <a:t>LLM</a:t>
            </a:r>
            <a:endParaRPr lang="en-CA" sz="3200" i="1" dirty="0">
              <a:latin typeface="Montserrat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9D6759-4768-D13E-8AEB-85B2BCDB8552}"/>
              </a:ext>
            </a:extLst>
          </p:cNvPr>
          <p:cNvSpPr txBox="1"/>
          <p:nvPr/>
        </p:nvSpPr>
        <p:spPr>
          <a:xfrm>
            <a:off x="6990292" y="4055444"/>
            <a:ext cx="1035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i="1" dirty="0">
                <a:latin typeface="Montserrat" panose="00000500000000000000" pitchFamily="2" charset="0"/>
              </a:rPr>
              <a:t>Tools</a:t>
            </a:r>
            <a:endParaRPr lang="en-CA" sz="1400" b="1" i="1" dirty="0">
              <a:latin typeface="Montserrat" panose="00000500000000000000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51D7F6F-2188-D8B3-A493-C1E31DA1F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pic>
        <p:nvPicPr>
          <p:cNvPr id="1028" name="Picture 4" descr="ChatGPT Logo transparent PNG - StickPNG">
            <a:extLst>
              <a:ext uri="{FF2B5EF4-FFF2-40B4-BE49-F238E27FC236}">
                <a16:creationId xmlns:a16="http://schemas.microsoft.com/office/drawing/2014/main" id="{BDA40C4D-D54D-6AAE-6B3A-1060CFEEB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604" y="2031928"/>
            <a:ext cx="679590" cy="688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ctangle gemini google icon symbol logo 55687055 PNG">
            <a:extLst>
              <a:ext uri="{FF2B5EF4-FFF2-40B4-BE49-F238E27FC236}">
                <a16:creationId xmlns:a16="http://schemas.microsoft.com/office/drawing/2014/main" id="{F80D7EA0-2285-BE67-D63F-229AD5646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047" y="1814475"/>
            <a:ext cx="1035871" cy="1035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lama 2 Model Details">
            <a:extLst>
              <a:ext uri="{FF2B5EF4-FFF2-40B4-BE49-F238E27FC236}">
                <a16:creationId xmlns:a16="http://schemas.microsoft.com/office/drawing/2014/main" id="{2C47A983-52C5-70A2-7BF3-40D5BAE05A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67" t="21103" r="13729" b="28097"/>
          <a:stretch>
            <a:fillRect/>
          </a:stretch>
        </p:blipFill>
        <p:spPr bwMode="auto">
          <a:xfrm>
            <a:off x="4383510" y="1910868"/>
            <a:ext cx="635552" cy="85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C34373B8-8888-A3AC-22FB-51629C758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761" y="4423644"/>
            <a:ext cx="1309568" cy="1309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5686B3C-33D5-E67D-3B0F-10A545561892}"/>
              </a:ext>
            </a:extLst>
          </p:cNvPr>
          <p:cNvSpPr/>
          <p:nvPr/>
        </p:nvSpPr>
        <p:spPr>
          <a:xfrm>
            <a:off x="2145992" y="1814476"/>
            <a:ext cx="6103118" cy="4073656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6A97A3-739B-CBA1-53FF-4AC6F09A15F4}"/>
              </a:ext>
            </a:extLst>
          </p:cNvPr>
          <p:cNvSpPr txBox="1"/>
          <p:nvPr/>
        </p:nvSpPr>
        <p:spPr>
          <a:xfrm>
            <a:off x="2353148" y="1919240"/>
            <a:ext cx="1684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latin typeface="Montserrat" panose="00000500000000000000" pitchFamily="2" charset="0"/>
              </a:rPr>
              <a:t>AI Agent</a:t>
            </a:r>
            <a:endParaRPr lang="en-CA" sz="1400" b="1" dirty="0">
              <a:latin typeface="Montserrat" panose="00000500000000000000" pitchFamily="2" charset="0"/>
            </a:endParaRPr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935D5F1D-C35C-94E3-6EF2-7AC1EFA28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4184" y="2667497"/>
            <a:ext cx="2639301" cy="17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0081E38-B172-DF95-0DFE-765D738F5CFC}"/>
              </a:ext>
            </a:extLst>
          </p:cNvPr>
          <p:cNvCxnSpPr>
            <a:cxnSpLocks/>
          </p:cNvCxnSpPr>
          <p:nvPr/>
        </p:nvCxnSpPr>
        <p:spPr>
          <a:xfrm>
            <a:off x="8318099" y="3441726"/>
            <a:ext cx="540151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D3E021-2C7A-A869-B69C-B3746495E8C8}"/>
              </a:ext>
            </a:extLst>
          </p:cNvPr>
          <p:cNvSpPr txBox="1"/>
          <p:nvPr/>
        </p:nvSpPr>
        <p:spPr>
          <a:xfrm>
            <a:off x="64360" y="2145461"/>
            <a:ext cx="1358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i="1" dirty="0">
                <a:latin typeface="Montserrat" panose="00000500000000000000" pitchFamily="2" charset="0"/>
              </a:rPr>
              <a:t>Trigger</a:t>
            </a:r>
            <a:endParaRPr lang="en-CA" sz="1400" b="1" i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330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2" grpId="0" animBg="1"/>
      <p:bldP spid="15" grpId="0"/>
      <p:bldP spid="17" grpId="0" animBg="1"/>
      <p:bldP spid="20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F9B9B-E2B4-D0E3-4656-E6F700518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F0B83B-C5A8-E0C4-77C4-95EED0BD9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49A778-13FA-7646-FC26-7056909860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20B4547-76A8-D5C9-52EC-A0626E701E3B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Project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6D56BF-CBDD-F0E2-1F12-7693390612A5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CBDCE8-54B3-A7B8-91C2-00217FD0BD00}"/>
              </a:ext>
            </a:extLst>
          </p:cNvPr>
          <p:cNvSpPr txBox="1"/>
          <p:nvPr/>
        </p:nvSpPr>
        <p:spPr>
          <a:xfrm>
            <a:off x="722168" y="692498"/>
            <a:ext cx="1116725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algn="ctr">
              <a:defRPr sz="2000" b="0">
                <a:solidFill>
                  <a:srgbClr val="D56E48"/>
                </a:solidFill>
              </a:defRPr>
            </a:lvl1pPr>
          </a:lstStyle>
          <a:p>
            <a:endParaRPr lang="en-CA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A28FE2F-E08E-4C81-7ABC-A6F5389A8B88}"/>
              </a:ext>
            </a:extLst>
          </p:cNvPr>
          <p:cNvCxnSpPr>
            <a:cxnSpLocks/>
          </p:cNvCxnSpPr>
          <p:nvPr/>
        </p:nvCxnSpPr>
        <p:spPr>
          <a:xfrm>
            <a:off x="2123746" y="3133712"/>
            <a:ext cx="1055740" cy="0"/>
          </a:xfrm>
          <a:prstGeom prst="straightConnector1">
            <a:avLst/>
          </a:prstGeom>
          <a:ln w="3810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74FADC8-2C48-8C68-CF68-508F7BE5C028}"/>
              </a:ext>
            </a:extLst>
          </p:cNvPr>
          <p:cNvCxnSpPr>
            <a:cxnSpLocks/>
          </p:cNvCxnSpPr>
          <p:nvPr/>
        </p:nvCxnSpPr>
        <p:spPr>
          <a:xfrm>
            <a:off x="8510701" y="3120416"/>
            <a:ext cx="922840" cy="0"/>
          </a:xfrm>
          <a:prstGeom prst="straightConnector1">
            <a:avLst/>
          </a:prstGeom>
          <a:ln w="3810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51BF394-0610-46A8-9825-39684818C55E}"/>
              </a:ext>
            </a:extLst>
          </p:cNvPr>
          <p:cNvSpPr txBox="1"/>
          <p:nvPr/>
        </p:nvSpPr>
        <p:spPr>
          <a:xfrm>
            <a:off x="10167785" y="2309653"/>
            <a:ext cx="2711945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 i="0">
                <a:solidFill>
                  <a:srgbClr val="16191F"/>
                </a:solidFill>
                <a:effectLst/>
                <a:latin typeface="+mj-lt"/>
              </a:defRPr>
            </a:lvl1pPr>
          </a:lstStyle>
          <a:p>
            <a:pPr defTabSz="914446"/>
            <a:r>
              <a:rPr lang="en-US" sz="2133" dirty="0">
                <a:latin typeface="Montserrat" panose="00000500000000000000" pitchFamily="2" charset="0"/>
              </a:rPr>
              <a:t>Output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B2122B-C1AF-F037-61AC-012BD4934647}"/>
              </a:ext>
            </a:extLst>
          </p:cNvPr>
          <p:cNvSpPr txBox="1"/>
          <p:nvPr/>
        </p:nvSpPr>
        <p:spPr>
          <a:xfrm>
            <a:off x="205771" y="960315"/>
            <a:ext cx="10919429" cy="1245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In this project, we'll build an AI assistant that can answer questions about a specific topic (the Eleven Madison Park restaurant) based on provided documents in a database. </a:t>
            </a:r>
          </a:p>
          <a:p>
            <a:r>
              <a:rPr lang="en-US" dirty="0"/>
              <a:t>This technique is called Retrieval-Augmented Generation (RAG).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9E4B1BC-6ADC-1B3F-B13F-1EF845A46CA1}"/>
              </a:ext>
            </a:extLst>
          </p:cNvPr>
          <p:cNvSpPr/>
          <p:nvPr/>
        </p:nvSpPr>
        <p:spPr>
          <a:xfrm>
            <a:off x="3230775" y="2333370"/>
            <a:ext cx="5022216" cy="154183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en-US" b="1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9F94ED-4E93-8DAE-8450-DD7A4D09A30C}"/>
              </a:ext>
            </a:extLst>
          </p:cNvPr>
          <p:cNvSpPr txBox="1"/>
          <p:nvPr/>
        </p:nvSpPr>
        <p:spPr>
          <a:xfrm>
            <a:off x="-656054" y="2232937"/>
            <a:ext cx="3445826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46"/>
            <a:r>
              <a:rPr lang="en-US" sz="2133" b="1" dirty="0">
                <a:solidFill>
                  <a:srgbClr val="16191F"/>
                </a:solidFill>
                <a:latin typeface="Montserrat" panose="00000500000000000000" pitchFamily="2" charset="0"/>
              </a:rPr>
              <a:t>Input</a:t>
            </a:r>
            <a:endParaRPr lang="en-US" sz="2133" dirty="0">
              <a:solidFill>
                <a:srgbClr val="16191F"/>
              </a:solidFill>
              <a:latin typeface="Montserrat" panose="000005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3EA66B-3218-0B18-43D6-09289546E374}"/>
              </a:ext>
            </a:extLst>
          </p:cNvPr>
          <p:cNvSpPr txBox="1"/>
          <p:nvPr/>
        </p:nvSpPr>
        <p:spPr>
          <a:xfrm>
            <a:off x="9194339" y="2738488"/>
            <a:ext cx="270130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 kumimoji="0" sz="1700" b="0" i="0" u="none" strike="noStrike" cap="none" normalizeH="0" baseline="0">
                <a:ln>
                  <a:noFill/>
                </a:ln>
                <a:effectLst/>
                <a:latin typeface="Montserrat" panose="00000500000000000000" pitchFamily="2" charset="0"/>
              </a:defRPr>
            </a:lvl1pPr>
          </a:lstStyle>
          <a:p>
            <a:r>
              <a:rPr lang="en-US" altLang="en-US" i="1" dirty="0"/>
              <a:t> Eleven Madison Park serves a fully plant-based menu, using no animal products.</a:t>
            </a:r>
          </a:p>
          <a:p>
            <a:endParaRPr lang="en-US" altLang="en-US" i="1" dirty="0"/>
          </a:p>
          <a:p>
            <a:endParaRPr lang="en-US" i="1" dirty="0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878A1027-1295-41F0-3DDF-D48F9C0B1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94F6F7-A998-4F6C-5AF4-7DA198235342}"/>
              </a:ext>
            </a:extLst>
          </p:cNvPr>
          <p:cNvSpPr txBox="1"/>
          <p:nvPr/>
        </p:nvSpPr>
        <p:spPr>
          <a:xfrm>
            <a:off x="74675" y="2609281"/>
            <a:ext cx="2157875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 kumimoji="0" sz="1700" b="1" i="0" u="none" strike="noStrike" cap="none" normalizeH="0" baseline="0">
                <a:ln>
                  <a:noFill/>
                </a:ln>
                <a:effectLst/>
                <a:latin typeface="Montserrat" panose="00000500000000000000" pitchFamily="2" charset="0"/>
              </a:defRPr>
            </a:lvl1pPr>
          </a:lstStyle>
          <a:p>
            <a:r>
              <a:rPr lang="en-US" b="0" i="1" dirty="0"/>
              <a:t>What kind of food does Eleven Madison Park Restaurant serve?</a:t>
            </a:r>
            <a:endParaRPr lang="en-CA" b="0" i="1" dirty="0"/>
          </a:p>
        </p:txBody>
      </p:sp>
      <p:pic>
        <p:nvPicPr>
          <p:cNvPr id="21" name="Graphic 20" descr="Database with solid fill">
            <a:extLst>
              <a:ext uri="{FF2B5EF4-FFF2-40B4-BE49-F238E27FC236}">
                <a16:creationId xmlns:a16="http://schemas.microsoft.com/office/drawing/2014/main" id="{24C74C31-9952-6FD3-9BF3-C3C5A4E389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12216" y="4790754"/>
            <a:ext cx="1179967" cy="117996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A8C1521-75DB-378A-FFA2-2A229DE8E124}"/>
              </a:ext>
            </a:extLst>
          </p:cNvPr>
          <p:cNvSpPr txBox="1"/>
          <p:nvPr/>
        </p:nvSpPr>
        <p:spPr>
          <a:xfrm>
            <a:off x="3844097" y="5903517"/>
            <a:ext cx="372089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 kumimoji="0" sz="1700" b="0" i="1" u="none" strike="noStrike" cap="none" normalizeH="0" baseline="0">
                <a:ln>
                  <a:noFill/>
                </a:ln>
                <a:effectLst/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Eleven Madison Park Data 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3E5D426-4E47-1D97-7509-98BB18C6581E}"/>
              </a:ext>
            </a:extLst>
          </p:cNvPr>
          <p:cNvCxnSpPr>
            <a:cxnSpLocks/>
          </p:cNvCxnSpPr>
          <p:nvPr/>
        </p:nvCxnSpPr>
        <p:spPr>
          <a:xfrm>
            <a:off x="5441169" y="3891011"/>
            <a:ext cx="0" cy="979594"/>
          </a:xfrm>
          <a:prstGeom prst="straightConnector1">
            <a:avLst/>
          </a:prstGeom>
          <a:ln w="3810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75EE1EC-059F-DC64-4421-83A5DD9735AB}"/>
              </a:ext>
            </a:extLst>
          </p:cNvPr>
          <p:cNvSpPr txBox="1"/>
          <p:nvPr/>
        </p:nvSpPr>
        <p:spPr>
          <a:xfrm>
            <a:off x="4455732" y="4102130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Search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047E169-8B29-D6DB-96BB-0AC12A609252}"/>
              </a:ext>
            </a:extLst>
          </p:cNvPr>
          <p:cNvCxnSpPr>
            <a:cxnSpLocks/>
          </p:cNvCxnSpPr>
          <p:nvPr/>
        </p:nvCxnSpPr>
        <p:spPr>
          <a:xfrm flipV="1">
            <a:off x="5876866" y="3891011"/>
            <a:ext cx="0" cy="907965"/>
          </a:xfrm>
          <a:prstGeom prst="straightConnector1">
            <a:avLst/>
          </a:prstGeom>
          <a:ln w="3810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723B816-DEF2-89F2-05A1-F879CC20D6E7}"/>
              </a:ext>
            </a:extLst>
          </p:cNvPr>
          <p:cNvSpPr txBox="1"/>
          <p:nvPr/>
        </p:nvSpPr>
        <p:spPr>
          <a:xfrm>
            <a:off x="5914980" y="4097625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Fetch</a:t>
            </a:r>
          </a:p>
        </p:txBody>
      </p:sp>
      <p:pic>
        <p:nvPicPr>
          <p:cNvPr id="32" name="Graphic 31" descr="Robot with solid fill">
            <a:extLst>
              <a:ext uri="{FF2B5EF4-FFF2-40B4-BE49-F238E27FC236}">
                <a16:creationId xmlns:a16="http://schemas.microsoft.com/office/drawing/2014/main" id="{E306C821-2460-DF99-4892-B85F74585A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54943" y="2552089"/>
            <a:ext cx="1017395" cy="101739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44B4DB9-D070-4E97-69AC-1C6E8062556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4343" t="1" r="22942" b="5549"/>
          <a:stretch/>
        </p:blipFill>
        <p:spPr>
          <a:xfrm>
            <a:off x="3978836" y="2591095"/>
            <a:ext cx="2447365" cy="98474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10E36D-DD1F-0497-E32E-9C52686E4DD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4645" t="12909" r="14985" b="14724"/>
          <a:stretch>
            <a:fillRect/>
          </a:stretch>
        </p:blipFill>
        <p:spPr>
          <a:xfrm>
            <a:off x="6321694" y="2507353"/>
            <a:ext cx="1846072" cy="12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45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 animBg="1"/>
      <p:bldP spid="13" grpId="0"/>
      <p:bldP spid="26" grpId="0"/>
      <p:bldP spid="12" grpId="0"/>
      <p:bldP spid="22" grpId="0"/>
      <p:bldP spid="24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3259A-CD2C-0446-CFDB-7C77F895E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63B532-B70B-27B1-177A-CB748A1AE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EB8891-9091-D8AE-274C-311260BAD8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ED59B6F3-FE94-D3AD-FBDF-FCCA6423DC88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Key Learning Outcomes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A16CE7-2A01-E640-0FE1-E69B0F92F97D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773C611-BA6D-FC93-DE06-38892BF0DB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2820184"/>
              </p:ext>
            </p:extLst>
          </p:nvPr>
        </p:nvGraphicFramePr>
        <p:xfrm>
          <a:off x="255320" y="2042651"/>
          <a:ext cx="10041205" cy="4172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7D0D5BC5-AA51-6124-3A42-ADDC656CF4D1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81267" y="642643"/>
            <a:ext cx="1853533" cy="187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13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B558E55-37DC-4859-9ABB-EFE02DEEEF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1B558E55-37DC-4859-9ABB-EFE02DEEEF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E73B1EC-B7E1-4848-84E7-7115730A32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BE73B1EC-B7E1-4848-84E7-7115730A32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6FD1FEE-6916-469C-AC20-5281BA3533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dgm id="{66FD1FEE-6916-469C-AC20-5281BA3533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252F9F4-D0DC-4D13-9592-F953C7F496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graphicEl>
                                              <a:dgm id="{6252F9F4-D0DC-4D13-9592-F953C7F496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2AE5A2B-7540-4FDD-87BF-1494829FA0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dgm id="{22AE5A2B-7540-4FDD-87BF-1494829FA0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DCD9D-B92B-5E1A-D56D-A121B486E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576406-FC6B-3E24-5D7A-5AF783E7B1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0E6C6B-0420-30EF-0BB5-821627AF4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7F8068-005D-5880-1F2A-CA8E19DBA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3B772B-8079-F124-FF0E-60F464B186A7}"/>
              </a:ext>
            </a:extLst>
          </p:cNvPr>
          <p:cNvSpPr txBox="1"/>
          <p:nvPr/>
        </p:nvSpPr>
        <p:spPr>
          <a:xfrm>
            <a:off x="550506" y="536130"/>
            <a:ext cx="5240694" cy="13234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defRPr>
            </a:lvl1pPr>
          </a:lstStyle>
          <a:p>
            <a:r>
              <a:rPr lang="en-US" dirty="0"/>
              <a:t>PRACTICE OPPORTUNITY</a:t>
            </a:r>
          </a:p>
        </p:txBody>
      </p:sp>
    </p:spTree>
    <p:extLst>
      <p:ext uri="{BB962C8B-B14F-4D97-AF65-F5344CB8AC3E}">
        <p14:creationId xmlns:p14="http://schemas.microsoft.com/office/powerpoint/2010/main" val="2452095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E9F8B-3995-2541-B522-ACD01DC51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D6A320-CE52-2909-E074-0EB5A97BB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6876FB-685E-FF03-6CB9-3B0465D794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857E617C-A886-6F3F-C316-7FF56B35A945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Practice Opportunity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D1E80A-F878-9C87-1177-31350D9A9E17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375FC-F3BA-DE02-2696-02DC402E72DD}"/>
              </a:ext>
            </a:extLst>
          </p:cNvPr>
          <p:cNvSpPr txBox="1"/>
          <p:nvPr/>
        </p:nvSpPr>
        <p:spPr>
          <a:xfrm>
            <a:off x="616951" y="816543"/>
            <a:ext cx="9579013" cy="5854765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marL="342900" indent="-342900">
              <a:lnSpc>
                <a:spcPct val="100000"/>
              </a:lnSpc>
              <a:spcBef>
                <a:spcPts val="1500"/>
              </a:spcBef>
              <a:spcAft>
                <a:spcPts val="5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600" b="1"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1114425" lvl="1" indent="-42862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6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7145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3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4003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3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30861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3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37719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6pPr>
            <a:lvl7pPr marL="44577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7pPr>
            <a:lvl8pPr marL="51435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8pPr>
            <a:lvl9pPr marL="58293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9pPr>
          </a:lstStyle>
          <a:p>
            <a:pPr marL="228611" indent="-228611" defTabSz="914446" fontAlgn="base">
              <a:spcBef>
                <a:spcPts val="1000"/>
              </a:spcBef>
              <a:spcAft>
                <a:spcPts val="0"/>
              </a:spcAft>
            </a:pPr>
            <a:endParaRPr lang="en-US" sz="900" b="0" dirty="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65F421-6CE5-1938-172B-83FE0D31F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7389" y="1208161"/>
            <a:ext cx="3060152" cy="24214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BD8C6D-FC95-5144-DA10-73CF93A77A75}"/>
              </a:ext>
            </a:extLst>
          </p:cNvPr>
          <p:cNvSpPr txBox="1"/>
          <p:nvPr/>
        </p:nvSpPr>
        <p:spPr>
          <a:xfrm>
            <a:off x="344459" y="794886"/>
            <a:ext cx="11315587" cy="6326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1400" kern="100" dirty="0" err="1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Stemplicity</a:t>
            </a:r>
            <a:r>
              <a:rPr lang="en-CA" sz="1400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employees frequently ask questions about expenses and vendor processes. Your task is to build an AI assistant in Copilot Studio that answers questions using ONLY the two provided documents: 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CA" sz="1400" i="1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CA" sz="1400" i="1" kern="100" dirty="0" err="1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Stemplicity</a:t>
            </a:r>
            <a:r>
              <a:rPr lang="en-CA" sz="1400" i="1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– Travel &amp; Expense Policy.docx”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CA" sz="1400" i="1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CA" sz="1400" i="1" kern="100" dirty="0" err="1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Stemplicity</a:t>
            </a:r>
            <a:r>
              <a:rPr lang="en-CA" sz="1400" i="1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– Procurement &amp; Vendor Management Policy.docx”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1400" b="1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Tasks: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1400" b="1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1. Upload the documents to the Knowledge Base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1400" b="1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2. Build the Agent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1400" b="1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Name: </a:t>
            </a:r>
            <a:r>
              <a:rPr lang="en-CA" sz="1400" kern="100" dirty="0" err="1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Stemplicity</a:t>
            </a:r>
            <a:r>
              <a:rPr lang="en-CA" sz="1400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Finance Assistant</a:t>
            </a:r>
            <a:br>
              <a:rPr lang="en-CA" sz="1400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CA" sz="1400" b="1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Tone: </a:t>
            </a:r>
            <a:r>
              <a:rPr lang="en-CA" sz="1400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Professional, concise, friendly</a:t>
            </a:r>
            <a:br>
              <a:rPr lang="en-CA" sz="1400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CA" sz="1400" b="1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Rules</a:t>
            </a:r>
            <a:r>
              <a:rPr lang="en-CA" sz="1400" b="1" kern="100" dirty="0"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CA" sz="1400" kern="100" dirty="0"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(1) </a:t>
            </a:r>
            <a:r>
              <a:rPr lang="en-CA" sz="1400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Answer only using the uploaded documents, (2) Never guess or invent information, (3) Reference which policy the answer came from, (4) Decline politely when the information is not available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1400" b="1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3. Test Your Agent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1400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Questions the agent should answer (in documents):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1400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What is the per diem for meals at </a:t>
            </a:r>
            <a:r>
              <a:rPr lang="en-CA" sz="1400" kern="100" dirty="0" err="1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Stemplicity</a:t>
            </a:r>
            <a:r>
              <a:rPr lang="en-CA" sz="1400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1400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“Are alcohol expenses reimbursable?”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1400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“Who can approve a $4,000 purchase?”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1400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Questions the agent should decline (not in documents)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1400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1400" kern="100" dirty="0">
                <a:effectLst/>
                <a:latin typeface="Montserrat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831833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EB595-CD1B-9126-A09E-5D7354379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81B9D0-C484-B9E6-1B4D-E94D957B6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2222324-3F5D-8621-0925-C1E3AE9317A6}"/>
              </a:ext>
            </a:extLst>
          </p:cNvPr>
          <p:cNvSpPr/>
          <p:nvPr/>
        </p:nvSpPr>
        <p:spPr>
          <a:xfrm>
            <a:off x="134842" y="490801"/>
            <a:ext cx="480863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RETRIEVAL AUGMENTED GENERATION (RAG) 101</a:t>
            </a:r>
            <a:endParaRPr lang="en-US" sz="3200" b="1" dirty="0">
              <a:solidFill>
                <a:schemeClr val="bg1"/>
              </a:solidFill>
              <a:latin typeface="Montserra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BDAF2F-A5D3-7236-5E3B-E9CC55D9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171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57BD0-78A8-2BBE-3C7D-92314FA0E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026EBD-BDB5-427E-1D36-270A6F6341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7098"/>
          <a:stretch/>
        </p:blipFill>
        <p:spPr>
          <a:xfrm>
            <a:off x="0" y="0"/>
            <a:ext cx="12224773" cy="8848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CD8B4E-175A-732C-4CF7-D9ED068D40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B3124CA5-D7E0-26C3-9EFB-21C797393EF5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charset="0"/>
                <a:ea typeface="Montserrat" charset="0"/>
                <a:cs typeface="Montserrat" charset="0"/>
              </a:rPr>
              <a:t>Retrieval Augmented Generation (RAG)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E7106C-923A-FD55-92A0-19D6161E6A69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All rights reserved for Dr. Ryan Ahmed @Stemplicity Inc.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7E10EF-4180-36B2-28C8-BB36C6D6ED4E}"/>
              </a:ext>
            </a:extLst>
          </p:cNvPr>
          <p:cNvSpPr txBox="1"/>
          <p:nvPr/>
        </p:nvSpPr>
        <p:spPr>
          <a:xfrm>
            <a:off x="146982" y="872745"/>
            <a:ext cx="11898033" cy="1217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RAG is a technique that combines retrieval-based systems with generative AI models.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It's commonly used to enhance the capabilities of LLMs by integrating external knowledge sources.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4DA290-CEB3-8CF9-22FD-BC9025B3DBD7}"/>
              </a:ext>
            </a:extLst>
          </p:cNvPr>
          <p:cNvSpPr txBox="1"/>
          <p:nvPr/>
        </p:nvSpPr>
        <p:spPr>
          <a:xfrm>
            <a:off x="546109" y="5026975"/>
            <a:ext cx="66635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R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Lookup the external source to retrieve the relevant information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Add the retrieved information to the user prompt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G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Use LLM to generate a response to the user prompt with the context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184C4FA-A281-15B3-22EE-644B3E86B304}"/>
              </a:ext>
            </a:extLst>
          </p:cNvPr>
          <p:cNvSpPr/>
          <p:nvPr/>
        </p:nvSpPr>
        <p:spPr>
          <a:xfrm>
            <a:off x="3671197" y="2082053"/>
            <a:ext cx="1749373" cy="711332"/>
          </a:xfrm>
          <a:prstGeom prst="roundRect">
            <a:avLst/>
          </a:prstGeom>
          <a:solidFill>
            <a:srgbClr val="D56E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Retriever</a:t>
            </a:r>
          </a:p>
        </p:txBody>
      </p:sp>
      <p:pic>
        <p:nvPicPr>
          <p:cNvPr id="15" name="Graphic 14" descr="User outline">
            <a:extLst>
              <a:ext uri="{FF2B5EF4-FFF2-40B4-BE49-F238E27FC236}">
                <a16:creationId xmlns:a16="http://schemas.microsoft.com/office/drawing/2014/main" id="{286465FF-9476-D1A5-24AF-A7FCAEAC2B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7875" y="1888881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15FAAB6-4189-B26F-2FD0-03099520E959}"/>
              </a:ext>
            </a:extLst>
          </p:cNvPr>
          <p:cNvSpPr txBox="1"/>
          <p:nvPr/>
        </p:nvSpPr>
        <p:spPr>
          <a:xfrm>
            <a:off x="1709048" y="2675684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56E48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User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C09E02D-BABB-BACE-8A2B-6B4362E53961}"/>
              </a:ext>
            </a:extLst>
          </p:cNvPr>
          <p:cNvCxnSpPr>
            <a:cxnSpLocks/>
          </p:cNvCxnSpPr>
          <p:nvPr/>
        </p:nvCxnSpPr>
        <p:spPr>
          <a:xfrm>
            <a:off x="2478049" y="2447254"/>
            <a:ext cx="968486" cy="0"/>
          </a:xfrm>
          <a:prstGeom prst="straightConnector1">
            <a:avLst/>
          </a:prstGeom>
          <a:ln w="38100">
            <a:solidFill>
              <a:srgbClr val="0C17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19B4D13-EDED-BD10-EA71-8C29AC7A5D38}"/>
              </a:ext>
            </a:extLst>
          </p:cNvPr>
          <p:cNvSpPr txBox="1"/>
          <p:nvPr/>
        </p:nvSpPr>
        <p:spPr>
          <a:xfrm>
            <a:off x="2364187" y="2044082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Prompt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640F6A-5B70-A056-44BA-14FD0CE4FFB3}"/>
              </a:ext>
            </a:extLst>
          </p:cNvPr>
          <p:cNvSpPr txBox="1"/>
          <p:nvPr/>
        </p:nvSpPr>
        <p:spPr>
          <a:xfrm>
            <a:off x="4263754" y="1476098"/>
            <a:ext cx="524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56E48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R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D56E48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8B9117B-ABB1-D5C8-5E04-36D5BC890269}"/>
              </a:ext>
            </a:extLst>
          </p:cNvPr>
          <p:cNvCxnSpPr>
            <a:cxnSpLocks/>
          </p:cNvCxnSpPr>
          <p:nvPr/>
        </p:nvCxnSpPr>
        <p:spPr>
          <a:xfrm>
            <a:off x="5644290" y="2461659"/>
            <a:ext cx="2123514" cy="0"/>
          </a:xfrm>
          <a:prstGeom prst="straightConnector1">
            <a:avLst/>
          </a:prstGeom>
          <a:ln w="38100">
            <a:solidFill>
              <a:srgbClr val="0C17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D98ABE6-0E3E-E0B1-AB8F-246AF7228672}"/>
              </a:ext>
            </a:extLst>
          </p:cNvPr>
          <p:cNvSpPr txBox="1"/>
          <p:nvPr/>
        </p:nvSpPr>
        <p:spPr>
          <a:xfrm>
            <a:off x="5530428" y="2058487"/>
            <a:ext cx="2313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Prompt + Context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B621731-7DDD-EB66-A8D0-3D722C832BD6}"/>
              </a:ext>
            </a:extLst>
          </p:cNvPr>
          <p:cNvCxnSpPr>
            <a:cxnSpLocks/>
          </p:cNvCxnSpPr>
          <p:nvPr/>
        </p:nvCxnSpPr>
        <p:spPr>
          <a:xfrm>
            <a:off x="9004684" y="2461476"/>
            <a:ext cx="968486" cy="0"/>
          </a:xfrm>
          <a:prstGeom prst="straightConnector1">
            <a:avLst/>
          </a:prstGeom>
          <a:ln w="38100">
            <a:solidFill>
              <a:srgbClr val="0C17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627F5A2-3784-CD09-2D63-4CF76CEFFB52}"/>
              </a:ext>
            </a:extLst>
          </p:cNvPr>
          <p:cNvSpPr txBox="1"/>
          <p:nvPr/>
        </p:nvSpPr>
        <p:spPr>
          <a:xfrm>
            <a:off x="8890822" y="2058304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Output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654505-3A6F-0E60-1C57-5CEAD15C2B49}"/>
              </a:ext>
            </a:extLst>
          </p:cNvPr>
          <p:cNvSpPr txBox="1"/>
          <p:nvPr/>
        </p:nvSpPr>
        <p:spPr>
          <a:xfrm>
            <a:off x="6351525" y="1461693"/>
            <a:ext cx="538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56E48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D56E48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9161D3-4764-5F10-D925-C68A1AFA7BBD}"/>
              </a:ext>
            </a:extLst>
          </p:cNvPr>
          <p:cNvSpPr txBox="1"/>
          <p:nvPr/>
        </p:nvSpPr>
        <p:spPr>
          <a:xfrm>
            <a:off x="8086446" y="1476097"/>
            <a:ext cx="538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56E48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G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D56E48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9" name="Graphic 28" descr="Database with solid fill">
            <a:extLst>
              <a:ext uri="{FF2B5EF4-FFF2-40B4-BE49-F238E27FC236}">
                <a16:creationId xmlns:a16="http://schemas.microsoft.com/office/drawing/2014/main" id="{AA4FF6DD-8A88-B60C-8368-5FA30DFA9D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55651" y="3370248"/>
            <a:ext cx="914400" cy="9144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2D51BAF-562F-800B-903F-44130EA9E191}"/>
              </a:ext>
            </a:extLst>
          </p:cNvPr>
          <p:cNvSpPr txBox="1"/>
          <p:nvPr/>
        </p:nvSpPr>
        <p:spPr>
          <a:xfrm>
            <a:off x="3468218" y="4133751"/>
            <a:ext cx="2361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56E48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Database (context)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0690392-3B5F-8F4A-8C50-4AA8A4546BAC}"/>
              </a:ext>
            </a:extLst>
          </p:cNvPr>
          <p:cNvCxnSpPr>
            <a:cxnSpLocks/>
          </p:cNvCxnSpPr>
          <p:nvPr/>
        </p:nvCxnSpPr>
        <p:spPr>
          <a:xfrm>
            <a:off x="4372657" y="2860350"/>
            <a:ext cx="0" cy="580142"/>
          </a:xfrm>
          <a:prstGeom prst="straightConnector1">
            <a:avLst/>
          </a:prstGeom>
          <a:ln w="38100">
            <a:solidFill>
              <a:srgbClr val="0C17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77D511F-3211-44B3-355D-4AA7292D4AE6}"/>
              </a:ext>
            </a:extLst>
          </p:cNvPr>
          <p:cNvSpPr txBox="1"/>
          <p:nvPr/>
        </p:nvSpPr>
        <p:spPr>
          <a:xfrm>
            <a:off x="3387220" y="2960812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Search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FDB5F36-EB68-E34B-889A-64174630BBDF}"/>
              </a:ext>
            </a:extLst>
          </p:cNvPr>
          <p:cNvCxnSpPr>
            <a:cxnSpLocks/>
          </p:cNvCxnSpPr>
          <p:nvPr/>
        </p:nvCxnSpPr>
        <p:spPr>
          <a:xfrm flipV="1">
            <a:off x="4808354" y="2881284"/>
            <a:ext cx="0" cy="487579"/>
          </a:xfrm>
          <a:prstGeom prst="straightConnector1">
            <a:avLst/>
          </a:prstGeom>
          <a:ln w="38100">
            <a:solidFill>
              <a:srgbClr val="0C17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8E72D74-115E-69A8-9337-22C6AB5CD12B}"/>
              </a:ext>
            </a:extLst>
          </p:cNvPr>
          <p:cNvSpPr txBox="1"/>
          <p:nvPr/>
        </p:nvSpPr>
        <p:spPr>
          <a:xfrm>
            <a:off x="4929890" y="2952313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Fetch</a:t>
            </a:r>
          </a:p>
        </p:txBody>
      </p:sp>
      <p:pic>
        <p:nvPicPr>
          <p:cNvPr id="38" name="Graphic 37" descr="Left Brain with solid fill">
            <a:extLst>
              <a:ext uri="{FF2B5EF4-FFF2-40B4-BE49-F238E27FC236}">
                <a16:creationId xmlns:a16="http://schemas.microsoft.com/office/drawing/2014/main" id="{0EDC018B-B64F-CA03-9392-314BC3B8B0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52037" y="1929751"/>
            <a:ext cx="1063450" cy="106345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BA8A28D-5888-1F3F-031A-9A30D8865F19}"/>
              </a:ext>
            </a:extLst>
          </p:cNvPr>
          <p:cNvSpPr txBox="1"/>
          <p:nvPr/>
        </p:nvSpPr>
        <p:spPr>
          <a:xfrm>
            <a:off x="8047853" y="2815934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56E48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LLM</a:t>
            </a:r>
          </a:p>
        </p:txBody>
      </p:sp>
    </p:spTree>
    <p:extLst>
      <p:ext uri="{BB962C8B-B14F-4D97-AF65-F5344CB8AC3E}">
        <p14:creationId xmlns:p14="http://schemas.microsoft.com/office/powerpoint/2010/main" val="246549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13" grpId="0" animBg="1"/>
      <p:bldP spid="16" grpId="0"/>
      <p:bldP spid="19" grpId="0"/>
      <p:bldP spid="20" grpId="0"/>
      <p:bldP spid="22" grpId="0"/>
      <p:bldP spid="24" grpId="0"/>
      <p:bldP spid="26" grpId="0"/>
      <p:bldP spid="27" grpId="0"/>
      <p:bldP spid="30" grpId="0"/>
      <p:bldP spid="32" grpId="0"/>
      <p:bldP spid="35" grpId="0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59C46-4F03-9C45-AD6F-583B3961C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96CE21-1B93-0BE7-236C-89BB4E7CE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A2D14-1F09-C1AE-9EC6-59CAC4C7D6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0CEB80E-B0D0-74E3-4D97-28BB4FE911AC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charset="0"/>
                <a:ea typeface="Montserrat" charset="0"/>
                <a:cs typeface="Montserrat" charset="0"/>
              </a:rPr>
              <a:t>Retrieval Augmented Generation (RAG)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A1BD2C-03E2-FD3A-9A0B-9104C55083A8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All rights reserved for Dr. Ryan Ahmed @Stemplicity Inc. 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A6C7286-07B0-61A9-64EE-22EA5500D6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5255184"/>
              </p:ext>
            </p:extLst>
          </p:nvPr>
        </p:nvGraphicFramePr>
        <p:xfrm>
          <a:off x="271942" y="1809574"/>
          <a:ext cx="11345536" cy="4650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E6F936CC-D14B-415F-3823-24C5617B51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5780" y="742598"/>
            <a:ext cx="5853945" cy="207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95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B3E5DA5-9585-4FF0-9145-A50FC9BDF1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FB3E5DA5-9585-4FF0-9145-A50FC9BDF13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1134578-4258-4310-8E42-7A578A46F8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51134578-4258-4310-8E42-7A578A46F8C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47E697D-2C19-4764-9F48-FDA290B66F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847E697D-2C19-4764-9F48-FDA290B66F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F33DA7F-74CF-49D6-B1FF-1F0A031628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graphicEl>
                                              <a:dgm id="{CF33DA7F-74CF-49D6-B1FF-1F0A031628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106665E-27E5-4E9C-9D87-44DA6F8D69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B106665E-27E5-4E9C-9D87-44DA6F8D693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3DE5CD3-7C5C-424D-B2B0-FF9055ED22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graphicEl>
                                              <a:dgm id="{D3DE5CD3-7C5C-424D-B2B0-FF9055ED22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0195FCE-B125-4A20-ACFF-07515B0A9E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graphicEl>
                                              <a:dgm id="{40195FCE-B125-4A20-ACFF-07515B0A9E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50D6508-C2B2-4CAA-B088-E71E2236EE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graphicEl>
                                              <a:dgm id="{550D6508-C2B2-4CAA-B088-E71E2236EEF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6021245-121A-4894-AD46-057CCF3AF3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graphicEl>
                                              <a:dgm id="{B6021245-121A-4894-AD46-057CCF3AF33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940DA-8FE3-9288-D137-6B7422E95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407338-1609-A18A-525C-DDE91DD04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387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59D145-BB1F-E3F6-B76D-87D5FAE776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BB10F8D3-4539-D8DF-E33E-A228DCC10254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charset="0"/>
                <a:ea typeface="Montserrat" charset="0"/>
                <a:cs typeface="Montserrat" charset="0"/>
              </a:rPr>
              <a:t>Why use RAG?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A1622A-9D4C-36A4-FCC1-AF553E3782CD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All rights reserved for Dr. Ryan Ahmed @Stemplicity Inc.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951E395-5384-F935-F7A1-81FE822447B3}"/>
              </a:ext>
            </a:extLst>
          </p:cNvPr>
          <p:cNvSpPr txBox="1">
            <a:spLocks/>
          </p:cNvSpPr>
          <p:nvPr/>
        </p:nvSpPr>
        <p:spPr>
          <a:xfrm>
            <a:off x="2694808" y="2578970"/>
            <a:ext cx="11228635" cy="47625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11" indent="-228611" algn="l" defTabSz="914446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87" indent="-285764" algn="l" defTabSz="914446" rtl="0" eaLnBrk="1" latinLnBrk="0" hangingPunct="1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algn="l" defTabSz="914446" rtl="0" eaLnBrk="1" latinLnBrk="0" hangingPunct="1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algn="l" defTabSz="914446" rtl="0" eaLnBrk="1" latinLnBrk="0" hangingPunct="1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algn="l" defTabSz="914446" rtl="0" eaLnBrk="1" latinLnBrk="0" hangingPunct="1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11" marR="0" lvl="0" indent="-228611" algn="l" defTabSz="914446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Clr>
                <a:srgbClr val="0B8EC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F0CBCB6-D6CA-2DD7-F245-FE8F3ABEF6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3364863"/>
              </p:ext>
            </p:extLst>
          </p:nvPr>
        </p:nvGraphicFramePr>
        <p:xfrm>
          <a:off x="885823" y="907669"/>
          <a:ext cx="10376274" cy="5029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94061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6E125B3-1E96-4CD0-A0D1-D0EA9047D1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06E125B3-1E96-4CD0-A0D1-D0EA9047D1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57255D1-1A3B-42EA-976B-09EEE6BDE9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graphicEl>
                                              <a:dgm id="{957255D1-1A3B-42EA-976B-09EEE6BDE9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3216D7E-F334-4282-833C-F510A5D361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graphicEl>
                                              <a:dgm id="{D3216D7E-F334-4282-833C-F510A5D361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057B9F9-BBC0-4808-BC1D-CBC005B41E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graphicEl>
                                              <a:dgm id="{3057B9F9-BBC0-4808-BC1D-CBC005B41E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48F6C53-01AB-41F5-9241-A341BCD0E1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graphicEl>
                                              <a:dgm id="{848F6C53-01AB-41F5-9241-A341BCD0E1D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 uiExpand="1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5166C-A1A8-8EBF-5BA0-C59847708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4DF0EF-257F-E1CF-2E29-5C4DA8547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387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F0CF64-51EF-8043-95FC-842791F575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22534762-8915-5D4A-F17D-DEE8D0CD6457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charset="0"/>
                <a:ea typeface="Montserrat" charset="0"/>
                <a:cs typeface="Montserrat" charset="0"/>
              </a:rPr>
              <a:t>Fine-tuning Vs. RAG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E0C221-3D67-C511-EC66-F637595B33A0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All rights reserved for Dr. Ryan Ahmed @Stemplicity Inc.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DFC18AD-A1E1-5606-0CA0-F3029B8A5A69}"/>
              </a:ext>
            </a:extLst>
          </p:cNvPr>
          <p:cNvSpPr txBox="1">
            <a:spLocks/>
          </p:cNvSpPr>
          <p:nvPr/>
        </p:nvSpPr>
        <p:spPr>
          <a:xfrm>
            <a:off x="2694808" y="2578970"/>
            <a:ext cx="11228635" cy="47625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11" indent="-228611" algn="l" defTabSz="914446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87" indent="-285764" algn="l" defTabSz="914446" rtl="0" eaLnBrk="1" latinLnBrk="0" hangingPunct="1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algn="l" defTabSz="914446" rtl="0" eaLnBrk="1" latinLnBrk="0" hangingPunct="1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algn="l" defTabSz="914446" rtl="0" eaLnBrk="1" latinLnBrk="0" hangingPunct="1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algn="l" defTabSz="914446" rtl="0" eaLnBrk="1" latinLnBrk="0" hangingPunct="1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11" marR="0" lvl="0" indent="-228611" algn="l" defTabSz="914446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Clr>
                <a:srgbClr val="0B8EC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B7031A9-C5FB-98AD-669B-58490E1D8EAA}"/>
              </a:ext>
            </a:extLst>
          </p:cNvPr>
          <p:cNvGraphicFramePr>
            <a:graphicFrameLocks noGrp="1"/>
          </p:cNvGraphicFramePr>
          <p:nvPr/>
        </p:nvGraphicFramePr>
        <p:xfrm>
          <a:off x="64433" y="1294174"/>
          <a:ext cx="11824987" cy="36305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3425">
                  <a:extLst>
                    <a:ext uri="{9D8B030D-6E8A-4147-A177-3AD203B41FA5}">
                      <a16:colId xmlns:a16="http://schemas.microsoft.com/office/drawing/2014/main" val="2620839592"/>
                    </a:ext>
                  </a:extLst>
                </a:gridCol>
                <a:gridCol w="4444181">
                  <a:extLst>
                    <a:ext uri="{9D8B030D-6E8A-4147-A177-3AD203B41FA5}">
                      <a16:colId xmlns:a16="http://schemas.microsoft.com/office/drawing/2014/main" val="445722314"/>
                    </a:ext>
                  </a:extLst>
                </a:gridCol>
                <a:gridCol w="6147381">
                  <a:extLst>
                    <a:ext uri="{9D8B030D-6E8A-4147-A177-3AD203B41FA5}">
                      <a16:colId xmlns:a16="http://schemas.microsoft.com/office/drawing/2014/main" val="1985706799"/>
                    </a:ext>
                  </a:extLst>
                </a:gridCol>
              </a:tblGrid>
              <a:tr h="2327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u="none" strike="noStrike" dirty="0">
                          <a:effectLst/>
                          <a:latin typeface="Montserrat" panose="00000500000000000000" pitchFamily="2" charset="0"/>
                        </a:rPr>
                        <a:t>Aspect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u="none" strike="noStrike" dirty="0">
                          <a:effectLst/>
                          <a:latin typeface="Montserrat" panose="00000500000000000000" pitchFamily="2" charset="0"/>
                        </a:rPr>
                        <a:t>Fine-Tuning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u="none" strike="noStrike" dirty="0">
                          <a:effectLst/>
                          <a:latin typeface="Montserrat" panose="00000500000000000000" pitchFamily="2" charset="0"/>
                        </a:rPr>
                        <a:t>Retrieval-Augmented Generation (RAG)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706270213"/>
                  </a:ext>
                </a:extLst>
              </a:tr>
              <a:tr h="3862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1" u="none" strike="noStrike" dirty="0">
                          <a:effectLst/>
                          <a:latin typeface="Montserrat" panose="00000500000000000000" pitchFamily="2" charset="0"/>
                        </a:rPr>
                        <a:t>What It Is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Training the base model (e.g., GPT) on a specific dataset to adapt it to a particular use case.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Combines GPT's language generation with a retrieval mechanism that fetches external information.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4238248173"/>
                  </a:ext>
                </a:extLst>
              </a:tr>
              <a:tr h="266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1" u="none" strike="noStrike" dirty="0">
                          <a:effectLst/>
                          <a:latin typeface="Montserrat" panose="00000500000000000000" pitchFamily="2" charset="0"/>
                        </a:rPr>
                        <a:t>How It Works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Provide a labeled dataset tailored to your task.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A document or database is indexed using a vector database.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3433075324"/>
                  </a:ext>
                </a:extLst>
              </a:tr>
              <a:tr h="266468">
                <a:tc>
                  <a:txBody>
                    <a:bodyPr/>
                    <a:lstStyle/>
                    <a:p>
                      <a:pPr algn="l" fontAlgn="ctr"/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Retrain the model using this data, updating its weights.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When queried, retrieves the most relevant chunks using similarity search.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3023319182"/>
                  </a:ext>
                </a:extLst>
              </a:tr>
              <a:tr h="307057">
                <a:tc>
                  <a:txBody>
                    <a:bodyPr/>
                    <a:lstStyle/>
                    <a:p>
                      <a:pPr algn="l" fontAlgn="ctr"/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GPT generates responses by combining retrieved information with general knowledge.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951451810"/>
                  </a:ext>
                </a:extLst>
              </a:tr>
              <a:tr h="3070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1" u="none" strike="noStrike" dirty="0">
                          <a:effectLst/>
                          <a:latin typeface="Montserrat" panose="00000500000000000000" pitchFamily="2" charset="0"/>
                        </a:rPr>
                        <a:t>Use Case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Useful for well-structured, high-quality datasets and niche understanding.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Ideal for applications requiring up-to-date or domain-specific knowledge without retraining.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1014829618"/>
                  </a:ext>
                </a:extLst>
              </a:tr>
              <a:tr h="204921">
                <a:tc>
                  <a:txBody>
                    <a:bodyPr/>
                    <a:lstStyle/>
                    <a:p>
                      <a:pPr algn="l" fontAlgn="ctr"/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Requires compute resources and training expertise.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3201459173"/>
                  </a:ext>
                </a:extLst>
              </a:tr>
              <a:tr h="266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1" u="none" strike="noStrike" dirty="0">
                          <a:effectLst/>
                          <a:latin typeface="Montserrat" panose="00000500000000000000" pitchFamily="2" charset="0"/>
                        </a:rPr>
                        <a:t>Advantages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Deeply integrates the knowledge from the dataset.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Does not require retraining the model; integrates external knowledge.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2516522285"/>
                  </a:ext>
                </a:extLst>
              </a:tr>
              <a:tr h="266468">
                <a:tc>
                  <a:txBody>
                    <a:bodyPr/>
                    <a:lstStyle/>
                    <a:p>
                      <a:pPr algn="l" fontAlgn="ctr"/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Easier to maintain; data can be updated without modifying the model.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1234018615"/>
                  </a:ext>
                </a:extLst>
              </a:tr>
              <a:tr h="143962">
                <a:tc>
                  <a:txBody>
                    <a:bodyPr/>
                    <a:lstStyle/>
                    <a:p>
                      <a:pPr algn="l" fontAlgn="ctr"/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Cost-effective compared to fine-tuning.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239066925"/>
                  </a:ext>
                </a:extLst>
              </a:tr>
              <a:tr h="2049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1" u="none" strike="noStrike" dirty="0">
                          <a:effectLst/>
                          <a:latin typeface="Montserrat" panose="00000500000000000000" pitchFamily="2" charset="0"/>
                        </a:rPr>
                        <a:t>Drawbacks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Expensive and time-consuming.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Relies on the quality of the retrieval system and indexed data.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499839283"/>
                  </a:ext>
                </a:extLst>
              </a:tr>
              <a:tr h="307057">
                <a:tc>
                  <a:txBody>
                    <a:bodyPr/>
                    <a:lstStyle/>
                    <a:p>
                      <a:pPr algn="l" fontAlgn="ctr"/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Locks the model into a specific knowledge set, limiting flexibility for dynamic or broad queries.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Retrieval may fail if documents are poorly indexed or irrelevant data is fetched.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588165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9996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F6620-3831-B9AB-F1DB-0BA10580D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5EDF9A-6011-907E-EE5A-ED2477CCD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7B1850-35E4-3ECF-0670-4767056A52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0DEBF56-6EE6-076C-102C-4FD41140BA11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7D3E14-E341-6833-1EBF-896296E335D0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E7600C-84B4-C578-295E-23C9DFFC5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14" y="747533"/>
            <a:ext cx="1924946" cy="1903870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04D8008-416A-3257-C658-8D212E939B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1055978"/>
              </p:ext>
            </p:extLst>
          </p:nvPr>
        </p:nvGraphicFramePr>
        <p:xfrm>
          <a:off x="77361" y="1168129"/>
          <a:ext cx="9827492" cy="51061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24063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B4CCA74-6D60-4F7A-906E-EE23C7443F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4B4CCA74-6D60-4F7A-906E-EE23C7443F7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69268E7-0E1D-44DB-A593-961A3E1565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graphicEl>
                                              <a:dgm id="{B69268E7-0E1D-44DB-A593-961A3E1565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E8E755A-062E-40B4-A94E-1AC8F9D03E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graphicEl>
                                              <a:dgm id="{AE8E755A-062E-40B4-A94E-1AC8F9D03E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9DE3447-2C86-4776-B794-0B57ABDA44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graphicEl>
                                              <a:dgm id="{B9DE3447-2C86-4776-B794-0B57ABDA44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 uiExpand="1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09FB-E671-B17D-77BB-65311A51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5C378-4A8E-9187-A206-DB4730F915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25B6F-0705-62E5-DF16-79898F06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A9FA6F-A71D-92D5-9E16-A91F986E09CE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9615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8913</TotalTime>
  <Words>1040</Words>
  <Application>Microsoft Office PowerPoint</Application>
  <PresentationFormat>Widescreen</PresentationFormat>
  <Paragraphs>119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Ryan Ahmed</cp:lastModifiedBy>
  <cp:revision>524</cp:revision>
  <dcterms:created xsi:type="dcterms:W3CDTF">2019-11-18T17:58:36Z</dcterms:created>
  <dcterms:modified xsi:type="dcterms:W3CDTF">2025-11-30T00:30:42Z</dcterms:modified>
</cp:coreProperties>
</file>