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573" r:id="rId2"/>
    <p:sldId id="4118" r:id="rId3"/>
    <p:sldId id="4119" r:id="rId4"/>
    <p:sldId id="4244" r:id="rId5"/>
    <p:sldId id="4246" r:id="rId6"/>
    <p:sldId id="4121" r:id="rId7"/>
    <p:sldId id="4122" r:id="rId8"/>
    <p:sldId id="4123" r:id="rId9"/>
    <p:sldId id="4247" r:id="rId10"/>
    <p:sldId id="27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0C1752"/>
    <a:srgbClr val="F9F9F9"/>
    <a:srgbClr val="11CCDD"/>
    <a:srgbClr val="1BBFD1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4721"/>
  </p:normalViewPr>
  <p:slideViewPr>
    <p:cSldViewPr snapToGrid="0" snapToObjects="1">
      <p:cViewPr varScale="1">
        <p:scale>
          <a:sx n="157" d="100"/>
          <a:sy n="157" d="100"/>
        </p:scale>
        <p:origin x="274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E133A9-7D45-45CD-A3DC-2774D97681C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377708F-9617-449E-9C75-F2E30BB25EF1}">
      <dgm:prSet phldrT="[Text]"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600" b="1" dirty="0">
              <a:latin typeface="Montserrat" panose="00000500000000000000" pitchFamily="2" charset="0"/>
            </a:rPr>
            <a:t>Force The Model to Avoid Hallucination </a:t>
          </a:r>
        </a:p>
        <a:p>
          <a:pPr>
            <a:buNone/>
          </a:pPr>
          <a:r>
            <a:rPr lang="en-CA" sz="1600" dirty="0">
              <a:latin typeface="Montserrat" panose="00000500000000000000" pitchFamily="2" charset="0"/>
            </a:rPr>
            <a:t>“</a:t>
          </a:r>
          <a:r>
            <a:rPr lang="en-CA" sz="1600" i="1" dirty="0">
              <a:latin typeface="Montserrat" panose="00000500000000000000" pitchFamily="2" charset="0"/>
            </a:rPr>
            <a:t>Don’t hallucinate, ground your results in the provided data. If data is missing, say ‘not enough info’ instead of guessing</a:t>
          </a:r>
          <a:r>
            <a:rPr lang="en-CA" sz="1600" dirty="0">
              <a:latin typeface="Montserrat" panose="00000500000000000000" pitchFamily="2" charset="0"/>
            </a:rPr>
            <a:t>.”</a:t>
          </a:r>
        </a:p>
      </dgm:t>
    </dgm:pt>
    <dgm:pt modelId="{38C8BA5D-BC51-4631-B9B9-45C1F475B179}" type="parTrans" cxnId="{DC6224D7-428A-4605-BDF5-F3D49FE16A9B}">
      <dgm:prSet/>
      <dgm:spPr/>
      <dgm:t>
        <a:bodyPr/>
        <a:lstStyle/>
        <a:p>
          <a:endParaRPr lang="en-CA" sz="2400"/>
        </a:p>
      </dgm:t>
    </dgm:pt>
    <dgm:pt modelId="{78D7DD6B-9583-455E-B820-160EF9925347}" type="sibTrans" cxnId="{DC6224D7-428A-4605-BDF5-F3D49FE16A9B}">
      <dgm:prSet/>
      <dgm:spPr/>
      <dgm:t>
        <a:bodyPr/>
        <a:lstStyle/>
        <a:p>
          <a:endParaRPr lang="en-CA" sz="2400"/>
        </a:p>
      </dgm:t>
    </dgm:pt>
    <dgm:pt modelId="{DFADFC1F-4DCE-48E0-8B20-B38798AEB70E}">
      <dgm:prSet phldrT="[Text]"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600" b="1" dirty="0">
              <a:latin typeface="Montserrat" panose="00000500000000000000" pitchFamily="2" charset="0"/>
            </a:rPr>
            <a:t>Ask for reasoning, not just answers:</a:t>
          </a:r>
        </a:p>
        <a:p>
          <a:pPr>
            <a:buNone/>
          </a:pPr>
          <a:r>
            <a:rPr lang="en-CA" sz="1600" i="1" dirty="0">
              <a:latin typeface="Montserrat" panose="00000500000000000000" pitchFamily="2" charset="0"/>
            </a:rPr>
            <a:t>“explain your steps” or “show the calculation before the result” to build trust and </a:t>
          </a:r>
          <a:r>
            <a:rPr lang="en-CA" sz="1600" i="1">
              <a:latin typeface="Montserrat" panose="00000500000000000000" pitchFamily="2" charset="0"/>
            </a:rPr>
            <a:t>transparency.</a:t>
          </a:r>
          <a:endParaRPr lang="en-CA" sz="1600" b="1" i="1" dirty="0">
            <a:latin typeface="Montserrat" panose="00000500000000000000" pitchFamily="2" charset="0"/>
          </a:endParaRPr>
        </a:p>
      </dgm:t>
    </dgm:pt>
    <dgm:pt modelId="{0E4A02D9-5C07-4C4B-81DB-BAD6CF75123C}" type="parTrans" cxnId="{8DFE8A23-4949-4D8E-8C9F-14DD6F33C9EB}">
      <dgm:prSet/>
      <dgm:spPr/>
      <dgm:t>
        <a:bodyPr/>
        <a:lstStyle/>
        <a:p>
          <a:endParaRPr lang="en-CA" sz="2400"/>
        </a:p>
      </dgm:t>
    </dgm:pt>
    <dgm:pt modelId="{106C6D3A-33A1-4913-976A-58B57DCC7952}" type="sibTrans" cxnId="{8DFE8A23-4949-4D8E-8C9F-14DD6F33C9EB}">
      <dgm:prSet/>
      <dgm:spPr/>
      <dgm:t>
        <a:bodyPr/>
        <a:lstStyle/>
        <a:p>
          <a:endParaRPr lang="en-CA" sz="2400"/>
        </a:p>
      </dgm:t>
    </dgm:pt>
    <dgm:pt modelId="{B91A964C-6172-485A-86B7-4B25EADEC528}">
      <dgm:prSet phldrT="[Text]" custT="1"/>
      <dgm:spPr>
        <a:solidFill>
          <a:srgbClr val="11CCDD"/>
        </a:solidFill>
      </dgm:spPr>
      <dgm:t>
        <a:bodyPr/>
        <a:lstStyle/>
        <a:p>
          <a:pPr>
            <a:buNone/>
          </a:pPr>
          <a:r>
            <a:rPr lang="en-CA" sz="1600" b="1" dirty="0">
              <a:latin typeface="Montserrat" panose="00000500000000000000" pitchFamily="2" charset="0"/>
            </a:rPr>
            <a:t>Add constraints &amp; boundaries:</a:t>
          </a:r>
        </a:p>
        <a:p>
          <a:pPr>
            <a:buNone/>
          </a:pPr>
          <a:r>
            <a:rPr lang="en-CA" sz="1600" i="1" dirty="0">
              <a:latin typeface="Montserrat" panose="00000500000000000000" pitchFamily="2" charset="0"/>
            </a:rPr>
            <a:t>Word limits, style guides, or examples help the model aim correctly. “Explain in 3 bullet points, max 15 words each.”</a:t>
          </a:r>
        </a:p>
      </dgm:t>
    </dgm:pt>
    <dgm:pt modelId="{B1295144-BA29-4E62-828C-01C9F0C06B3A}" type="parTrans" cxnId="{BA57CB58-F18D-4AE8-AD4B-9E4278371107}">
      <dgm:prSet/>
      <dgm:spPr/>
      <dgm:t>
        <a:bodyPr/>
        <a:lstStyle/>
        <a:p>
          <a:endParaRPr lang="en-CA" sz="2400"/>
        </a:p>
      </dgm:t>
    </dgm:pt>
    <dgm:pt modelId="{930AD882-C193-468F-9041-E70A1E3D350F}" type="sibTrans" cxnId="{BA57CB58-F18D-4AE8-AD4B-9E4278371107}">
      <dgm:prSet/>
      <dgm:spPr/>
      <dgm:t>
        <a:bodyPr/>
        <a:lstStyle/>
        <a:p>
          <a:endParaRPr lang="en-CA" sz="2400"/>
        </a:p>
      </dgm:t>
    </dgm:pt>
    <dgm:pt modelId="{E255C582-217A-4F0E-BC96-74D1C2C63503}">
      <dgm:prSet phldrT="[Text]"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600" b="1" dirty="0">
              <a:latin typeface="Montserrat" panose="00000500000000000000" pitchFamily="2" charset="0"/>
            </a:rPr>
            <a:t>Iterate and refine</a:t>
          </a:r>
        </a:p>
        <a:p>
          <a:pPr>
            <a:buNone/>
          </a:pPr>
          <a:r>
            <a:rPr lang="en-CA" sz="1600" i="1" dirty="0">
              <a:latin typeface="Montserrat" panose="00000500000000000000" pitchFamily="2" charset="0"/>
            </a:rPr>
            <a:t>The first draft is rarely the final. Treat prompts like a conversation; tweak wording, add detail, narrow scope until the output clicks.</a:t>
          </a:r>
        </a:p>
      </dgm:t>
    </dgm:pt>
    <dgm:pt modelId="{9731069B-26F2-45D9-A531-87749F2925E9}" type="parTrans" cxnId="{BD866F3E-CD9D-4B46-9597-7DDA595D9029}">
      <dgm:prSet/>
      <dgm:spPr/>
      <dgm:t>
        <a:bodyPr/>
        <a:lstStyle/>
        <a:p>
          <a:endParaRPr lang="en-CA" sz="2400"/>
        </a:p>
      </dgm:t>
    </dgm:pt>
    <dgm:pt modelId="{EE7A146E-B8A7-4923-A9C6-812026F41285}" type="sibTrans" cxnId="{BD866F3E-CD9D-4B46-9597-7DDA595D9029}">
      <dgm:prSet/>
      <dgm:spPr/>
      <dgm:t>
        <a:bodyPr/>
        <a:lstStyle/>
        <a:p>
          <a:endParaRPr lang="en-CA" sz="2400"/>
        </a:p>
      </dgm:t>
    </dgm:pt>
    <dgm:pt modelId="{F70BCC85-1453-41C7-A706-BE87F4D7E851}">
      <dgm:prSet phldrT="[Text]"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600" b="1">
              <a:latin typeface="Montserrat" panose="00000500000000000000" pitchFamily="2" charset="0"/>
            </a:rPr>
            <a:t>Anchor with examples (Few Shot Prompting): </a:t>
          </a:r>
        </a:p>
        <a:p>
          <a:pPr>
            <a:buNone/>
          </a:pPr>
          <a:r>
            <a:rPr lang="en-CA" sz="1600" i="1">
              <a:latin typeface="Montserrat" panose="00000500000000000000" pitchFamily="2" charset="0"/>
            </a:rPr>
            <a:t>Show the AI what “good” looks like. A sample answer, tone, or structure is worth paragraphs of instructions.</a:t>
          </a:r>
          <a:endParaRPr lang="en-CA" sz="1600" i="1" dirty="0">
            <a:latin typeface="Montserrat" panose="00000500000000000000" pitchFamily="2" charset="0"/>
          </a:endParaRPr>
        </a:p>
      </dgm:t>
    </dgm:pt>
    <dgm:pt modelId="{880C7D08-56C8-4EA7-BFCA-B5F6EC6E161E}" type="parTrans" cxnId="{329A5C90-7F6C-4A11-949A-E0320759C099}">
      <dgm:prSet/>
      <dgm:spPr/>
      <dgm:t>
        <a:bodyPr/>
        <a:lstStyle/>
        <a:p>
          <a:endParaRPr lang="en-CA"/>
        </a:p>
      </dgm:t>
    </dgm:pt>
    <dgm:pt modelId="{C6A798C3-4EE7-4A7E-93DA-8B281CE55C74}" type="sibTrans" cxnId="{329A5C90-7F6C-4A11-949A-E0320759C099}">
      <dgm:prSet/>
      <dgm:spPr/>
      <dgm:t>
        <a:bodyPr/>
        <a:lstStyle/>
        <a:p>
          <a:endParaRPr lang="en-CA"/>
        </a:p>
      </dgm:t>
    </dgm:pt>
    <dgm:pt modelId="{359F2AF5-E699-404E-AC6A-F6650BFB7A36}" type="pres">
      <dgm:prSet presAssocID="{E9E133A9-7D45-45CD-A3DC-2774D97681C7}" presName="diagram" presStyleCnt="0">
        <dgm:presLayoutVars>
          <dgm:dir/>
          <dgm:resizeHandles val="exact"/>
        </dgm:presLayoutVars>
      </dgm:prSet>
      <dgm:spPr/>
    </dgm:pt>
    <dgm:pt modelId="{C990541E-9525-4B2C-8234-06662E7CEDC6}" type="pres">
      <dgm:prSet presAssocID="{C377708F-9617-449E-9C75-F2E30BB25EF1}" presName="node" presStyleLbl="node1" presStyleIdx="0" presStyleCnt="5">
        <dgm:presLayoutVars>
          <dgm:bulletEnabled val="1"/>
        </dgm:presLayoutVars>
      </dgm:prSet>
      <dgm:spPr/>
    </dgm:pt>
    <dgm:pt modelId="{DD84BE75-F9A2-4BF3-81E5-71C1E95A6B76}" type="pres">
      <dgm:prSet presAssocID="{78D7DD6B-9583-455E-B820-160EF9925347}" presName="sibTrans" presStyleCnt="0"/>
      <dgm:spPr/>
    </dgm:pt>
    <dgm:pt modelId="{4992DE3B-5367-48F3-A222-767B0D598C85}" type="pres">
      <dgm:prSet presAssocID="{DFADFC1F-4DCE-48E0-8B20-B38798AEB70E}" presName="node" presStyleLbl="node1" presStyleIdx="1" presStyleCnt="5">
        <dgm:presLayoutVars>
          <dgm:bulletEnabled val="1"/>
        </dgm:presLayoutVars>
      </dgm:prSet>
      <dgm:spPr/>
    </dgm:pt>
    <dgm:pt modelId="{ACFE14F9-802B-44C6-BFAF-A395FE6A8896}" type="pres">
      <dgm:prSet presAssocID="{106C6D3A-33A1-4913-976A-58B57DCC7952}" presName="sibTrans" presStyleCnt="0"/>
      <dgm:spPr/>
    </dgm:pt>
    <dgm:pt modelId="{319D02D5-205D-48D9-91D0-F518019683EA}" type="pres">
      <dgm:prSet presAssocID="{B91A964C-6172-485A-86B7-4B25EADEC528}" presName="node" presStyleLbl="node1" presStyleIdx="2" presStyleCnt="5">
        <dgm:presLayoutVars>
          <dgm:bulletEnabled val="1"/>
        </dgm:presLayoutVars>
      </dgm:prSet>
      <dgm:spPr/>
    </dgm:pt>
    <dgm:pt modelId="{0885A1B5-08EE-4C66-807F-2D74C4B2870A}" type="pres">
      <dgm:prSet presAssocID="{930AD882-C193-468F-9041-E70A1E3D350F}" presName="sibTrans" presStyleCnt="0"/>
      <dgm:spPr/>
    </dgm:pt>
    <dgm:pt modelId="{70B3777D-9AB4-4C20-A928-FB7A9E2B8412}" type="pres">
      <dgm:prSet presAssocID="{E255C582-217A-4F0E-BC96-74D1C2C63503}" presName="node" presStyleLbl="node1" presStyleIdx="3" presStyleCnt="5">
        <dgm:presLayoutVars>
          <dgm:bulletEnabled val="1"/>
        </dgm:presLayoutVars>
      </dgm:prSet>
      <dgm:spPr/>
    </dgm:pt>
    <dgm:pt modelId="{61685C48-D859-48BE-9281-B243243DD422}" type="pres">
      <dgm:prSet presAssocID="{EE7A146E-B8A7-4923-A9C6-812026F41285}" presName="sibTrans" presStyleCnt="0"/>
      <dgm:spPr/>
    </dgm:pt>
    <dgm:pt modelId="{F9129A72-9A16-4BF9-8A53-1E4B13A9BCA3}" type="pres">
      <dgm:prSet presAssocID="{F70BCC85-1453-41C7-A706-BE87F4D7E851}" presName="node" presStyleLbl="node1" presStyleIdx="4" presStyleCnt="5">
        <dgm:presLayoutVars>
          <dgm:bulletEnabled val="1"/>
        </dgm:presLayoutVars>
      </dgm:prSet>
      <dgm:spPr/>
    </dgm:pt>
  </dgm:ptLst>
  <dgm:cxnLst>
    <dgm:cxn modelId="{2C743A1B-2E1D-4539-89FC-002D7B269977}" type="presOf" srcId="{F70BCC85-1453-41C7-A706-BE87F4D7E851}" destId="{F9129A72-9A16-4BF9-8A53-1E4B13A9BCA3}" srcOrd="0" destOrd="0" presId="urn:microsoft.com/office/officeart/2005/8/layout/default"/>
    <dgm:cxn modelId="{8DFE8A23-4949-4D8E-8C9F-14DD6F33C9EB}" srcId="{E9E133A9-7D45-45CD-A3DC-2774D97681C7}" destId="{DFADFC1F-4DCE-48E0-8B20-B38798AEB70E}" srcOrd="1" destOrd="0" parTransId="{0E4A02D9-5C07-4C4B-81DB-BAD6CF75123C}" sibTransId="{106C6D3A-33A1-4913-976A-58B57DCC7952}"/>
    <dgm:cxn modelId="{BC23BA25-4B3F-443B-85CB-0215CCC86294}" type="presOf" srcId="{E255C582-217A-4F0E-BC96-74D1C2C63503}" destId="{70B3777D-9AB4-4C20-A928-FB7A9E2B8412}" srcOrd="0" destOrd="0" presId="urn:microsoft.com/office/officeart/2005/8/layout/default"/>
    <dgm:cxn modelId="{BD866F3E-CD9D-4B46-9597-7DDA595D9029}" srcId="{E9E133A9-7D45-45CD-A3DC-2774D97681C7}" destId="{E255C582-217A-4F0E-BC96-74D1C2C63503}" srcOrd="3" destOrd="0" parTransId="{9731069B-26F2-45D9-A531-87749F2925E9}" sibTransId="{EE7A146E-B8A7-4923-A9C6-812026F41285}"/>
    <dgm:cxn modelId="{42C02048-5B19-4FD4-8790-2E15CDAE90BA}" type="presOf" srcId="{DFADFC1F-4DCE-48E0-8B20-B38798AEB70E}" destId="{4992DE3B-5367-48F3-A222-767B0D598C85}" srcOrd="0" destOrd="0" presId="urn:microsoft.com/office/officeart/2005/8/layout/default"/>
    <dgm:cxn modelId="{BA57CB58-F18D-4AE8-AD4B-9E4278371107}" srcId="{E9E133A9-7D45-45CD-A3DC-2774D97681C7}" destId="{B91A964C-6172-485A-86B7-4B25EADEC528}" srcOrd="2" destOrd="0" parTransId="{B1295144-BA29-4E62-828C-01C9F0C06B3A}" sibTransId="{930AD882-C193-468F-9041-E70A1E3D350F}"/>
    <dgm:cxn modelId="{329A5C90-7F6C-4A11-949A-E0320759C099}" srcId="{E9E133A9-7D45-45CD-A3DC-2774D97681C7}" destId="{F70BCC85-1453-41C7-A706-BE87F4D7E851}" srcOrd="4" destOrd="0" parTransId="{880C7D08-56C8-4EA7-BFCA-B5F6EC6E161E}" sibTransId="{C6A798C3-4EE7-4A7E-93DA-8B281CE55C74}"/>
    <dgm:cxn modelId="{EB387CBE-CA18-4740-8E93-F7BBB612CB41}" type="presOf" srcId="{C377708F-9617-449E-9C75-F2E30BB25EF1}" destId="{C990541E-9525-4B2C-8234-06662E7CEDC6}" srcOrd="0" destOrd="0" presId="urn:microsoft.com/office/officeart/2005/8/layout/default"/>
    <dgm:cxn modelId="{DC6224D7-428A-4605-BDF5-F3D49FE16A9B}" srcId="{E9E133A9-7D45-45CD-A3DC-2774D97681C7}" destId="{C377708F-9617-449E-9C75-F2E30BB25EF1}" srcOrd="0" destOrd="0" parTransId="{38C8BA5D-BC51-4631-B9B9-45C1F475B179}" sibTransId="{78D7DD6B-9583-455E-B820-160EF9925347}"/>
    <dgm:cxn modelId="{C761A5DC-6883-4BD8-AB52-86E1DB5CF425}" type="presOf" srcId="{B91A964C-6172-485A-86B7-4B25EADEC528}" destId="{319D02D5-205D-48D9-91D0-F518019683EA}" srcOrd="0" destOrd="0" presId="urn:microsoft.com/office/officeart/2005/8/layout/default"/>
    <dgm:cxn modelId="{ED0109F3-CDB8-41C4-9FA7-34427C3B2956}" type="presOf" srcId="{E9E133A9-7D45-45CD-A3DC-2774D97681C7}" destId="{359F2AF5-E699-404E-AC6A-F6650BFB7A36}" srcOrd="0" destOrd="0" presId="urn:microsoft.com/office/officeart/2005/8/layout/default"/>
    <dgm:cxn modelId="{0D368FC0-26A3-43CC-8EFF-4DF1DFB80A71}" type="presParOf" srcId="{359F2AF5-E699-404E-AC6A-F6650BFB7A36}" destId="{C990541E-9525-4B2C-8234-06662E7CEDC6}" srcOrd="0" destOrd="0" presId="urn:microsoft.com/office/officeart/2005/8/layout/default"/>
    <dgm:cxn modelId="{BDD76070-5507-4FE8-A082-C46E2DED0A7D}" type="presParOf" srcId="{359F2AF5-E699-404E-AC6A-F6650BFB7A36}" destId="{DD84BE75-F9A2-4BF3-81E5-71C1E95A6B76}" srcOrd="1" destOrd="0" presId="urn:microsoft.com/office/officeart/2005/8/layout/default"/>
    <dgm:cxn modelId="{D15B3FC6-5745-4567-B306-3F9510007D84}" type="presParOf" srcId="{359F2AF5-E699-404E-AC6A-F6650BFB7A36}" destId="{4992DE3B-5367-48F3-A222-767B0D598C85}" srcOrd="2" destOrd="0" presId="urn:microsoft.com/office/officeart/2005/8/layout/default"/>
    <dgm:cxn modelId="{F1103A5E-79D2-4B31-B698-237247AC294C}" type="presParOf" srcId="{359F2AF5-E699-404E-AC6A-F6650BFB7A36}" destId="{ACFE14F9-802B-44C6-BFAF-A395FE6A8896}" srcOrd="3" destOrd="0" presId="urn:microsoft.com/office/officeart/2005/8/layout/default"/>
    <dgm:cxn modelId="{4B1BB82F-2CD7-4F9E-9F60-55C2FA1D2986}" type="presParOf" srcId="{359F2AF5-E699-404E-AC6A-F6650BFB7A36}" destId="{319D02D5-205D-48D9-91D0-F518019683EA}" srcOrd="4" destOrd="0" presId="urn:microsoft.com/office/officeart/2005/8/layout/default"/>
    <dgm:cxn modelId="{39FA3CCD-06AD-4F03-8E1A-26C24CEFAA94}" type="presParOf" srcId="{359F2AF5-E699-404E-AC6A-F6650BFB7A36}" destId="{0885A1B5-08EE-4C66-807F-2D74C4B2870A}" srcOrd="5" destOrd="0" presId="urn:microsoft.com/office/officeart/2005/8/layout/default"/>
    <dgm:cxn modelId="{74E0E002-7C45-45F3-AF48-EFBD66451D7D}" type="presParOf" srcId="{359F2AF5-E699-404E-AC6A-F6650BFB7A36}" destId="{70B3777D-9AB4-4C20-A928-FB7A9E2B8412}" srcOrd="6" destOrd="0" presId="urn:microsoft.com/office/officeart/2005/8/layout/default"/>
    <dgm:cxn modelId="{A477B477-6F8D-499E-852A-07D24F7445CB}" type="presParOf" srcId="{359F2AF5-E699-404E-AC6A-F6650BFB7A36}" destId="{61685C48-D859-48BE-9281-B243243DD422}" srcOrd="7" destOrd="0" presId="urn:microsoft.com/office/officeart/2005/8/layout/default"/>
    <dgm:cxn modelId="{2CE5CB43-74E4-40E0-B134-34C7FE4B2FE6}" type="presParOf" srcId="{359F2AF5-E699-404E-AC6A-F6650BFB7A36}" destId="{F9129A72-9A16-4BF9-8A53-1E4B13A9BCA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0541E-9525-4B2C-8234-06662E7CEDC6}">
      <dsp:nvSpPr>
        <dsp:cNvPr id="0" name=""/>
        <dsp:cNvSpPr/>
      </dsp:nvSpPr>
      <dsp:spPr>
        <a:xfrm>
          <a:off x="0" y="674721"/>
          <a:ext cx="3288740" cy="1973244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 dirty="0">
              <a:latin typeface="Montserrat" panose="00000500000000000000" pitchFamily="2" charset="0"/>
            </a:rPr>
            <a:t>Force The Model to Avoid Hallucination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>
              <a:latin typeface="Montserrat" panose="00000500000000000000" pitchFamily="2" charset="0"/>
            </a:rPr>
            <a:t>“</a:t>
          </a:r>
          <a:r>
            <a:rPr lang="en-CA" sz="1600" i="1" kern="1200" dirty="0">
              <a:latin typeface="Montserrat" panose="00000500000000000000" pitchFamily="2" charset="0"/>
            </a:rPr>
            <a:t>Don’t hallucinate, ground your results in the provided data. If data is missing, say ‘not enough info’ instead of guessing</a:t>
          </a:r>
          <a:r>
            <a:rPr lang="en-CA" sz="1600" kern="1200" dirty="0">
              <a:latin typeface="Montserrat" panose="00000500000000000000" pitchFamily="2" charset="0"/>
            </a:rPr>
            <a:t>.”</a:t>
          </a:r>
        </a:p>
      </dsp:txBody>
      <dsp:txXfrm>
        <a:off x="0" y="674721"/>
        <a:ext cx="3288740" cy="1973244"/>
      </dsp:txXfrm>
    </dsp:sp>
    <dsp:sp modelId="{4992DE3B-5367-48F3-A222-767B0D598C85}">
      <dsp:nvSpPr>
        <dsp:cNvPr id="0" name=""/>
        <dsp:cNvSpPr/>
      </dsp:nvSpPr>
      <dsp:spPr>
        <a:xfrm>
          <a:off x="3617615" y="674721"/>
          <a:ext cx="3288740" cy="1973244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 dirty="0">
              <a:latin typeface="Montserrat" panose="00000500000000000000" pitchFamily="2" charset="0"/>
            </a:rPr>
            <a:t>Ask for reasoning, not just answers: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 dirty="0">
              <a:latin typeface="Montserrat" panose="00000500000000000000" pitchFamily="2" charset="0"/>
            </a:rPr>
            <a:t>“explain your steps” or “show the calculation before the result” to build trust and </a:t>
          </a:r>
          <a:r>
            <a:rPr lang="en-CA" sz="1600" i="1" kern="1200">
              <a:latin typeface="Montserrat" panose="00000500000000000000" pitchFamily="2" charset="0"/>
            </a:rPr>
            <a:t>transparency.</a:t>
          </a:r>
          <a:endParaRPr lang="en-CA" sz="1600" b="1" i="1" kern="1200" dirty="0">
            <a:latin typeface="Montserrat" panose="00000500000000000000" pitchFamily="2" charset="0"/>
          </a:endParaRPr>
        </a:p>
      </dsp:txBody>
      <dsp:txXfrm>
        <a:off x="3617615" y="674721"/>
        <a:ext cx="3288740" cy="1973244"/>
      </dsp:txXfrm>
    </dsp:sp>
    <dsp:sp modelId="{319D02D5-205D-48D9-91D0-F518019683EA}">
      <dsp:nvSpPr>
        <dsp:cNvPr id="0" name=""/>
        <dsp:cNvSpPr/>
      </dsp:nvSpPr>
      <dsp:spPr>
        <a:xfrm>
          <a:off x="7235230" y="674721"/>
          <a:ext cx="3288740" cy="1973244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 dirty="0">
              <a:latin typeface="Montserrat" panose="00000500000000000000" pitchFamily="2" charset="0"/>
            </a:rPr>
            <a:t>Add constraints &amp; boundaries: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 dirty="0">
              <a:latin typeface="Montserrat" panose="00000500000000000000" pitchFamily="2" charset="0"/>
            </a:rPr>
            <a:t>Word limits, style guides, or examples help the model aim correctly. “Explain in 3 bullet points, max 15 words each.”</a:t>
          </a:r>
        </a:p>
      </dsp:txBody>
      <dsp:txXfrm>
        <a:off x="7235230" y="674721"/>
        <a:ext cx="3288740" cy="1973244"/>
      </dsp:txXfrm>
    </dsp:sp>
    <dsp:sp modelId="{70B3777D-9AB4-4C20-A928-FB7A9E2B8412}">
      <dsp:nvSpPr>
        <dsp:cNvPr id="0" name=""/>
        <dsp:cNvSpPr/>
      </dsp:nvSpPr>
      <dsp:spPr>
        <a:xfrm>
          <a:off x="1808807" y="2976840"/>
          <a:ext cx="3288740" cy="1973244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 dirty="0">
              <a:latin typeface="Montserrat" panose="00000500000000000000" pitchFamily="2" charset="0"/>
            </a:rPr>
            <a:t>Iterate and refine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 dirty="0">
              <a:latin typeface="Montserrat" panose="00000500000000000000" pitchFamily="2" charset="0"/>
            </a:rPr>
            <a:t>The first draft is rarely the final. Treat prompts like a conversation; tweak wording, add detail, narrow scope until the output clicks.</a:t>
          </a:r>
        </a:p>
      </dsp:txBody>
      <dsp:txXfrm>
        <a:off x="1808807" y="2976840"/>
        <a:ext cx="3288740" cy="1973244"/>
      </dsp:txXfrm>
    </dsp:sp>
    <dsp:sp modelId="{F9129A72-9A16-4BF9-8A53-1E4B13A9BCA3}">
      <dsp:nvSpPr>
        <dsp:cNvPr id="0" name=""/>
        <dsp:cNvSpPr/>
      </dsp:nvSpPr>
      <dsp:spPr>
        <a:xfrm>
          <a:off x="5426422" y="2976840"/>
          <a:ext cx="3288740" cy="1973244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b="1" kern="1200">
              <a:latin typeface="Montserrat" panose="00000500000000000000" pitchFamily="2" charset="0"/>
            </a:rPr>
            <a:t>Anchor with examples (Few Shot Prompting):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i="1" kern="1200">
              <a:latin typeface="Montserrat" panose="00000500000000000000" pitchFamily="2" charset="0"/>
            </a:rPr>
            <a:t>Show the AI what “good” looks like. A sample answer, tone, or structure is worth paragraphs of instructions.</a:t>
          </a:r>
          <a:endParaRPr lang="en-CA" sz="1600" i="1" kern="1200" dirty="0">
            <a:latin typeface="Montserrat" panose="00000500000000000000" pitchFamily="2" charset="0"/>
          </a:endParaRPr>
        </a:p>
      </dsp:txBody>
      <dsp:txXfrm>
        <a:off x="5426422" y="2976840"/>
        <a:ext cx="3288740" cy="1973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17EF2-AB95-6FCA-3F07-F6B9D0D77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99AB7-5D37-A013-F362-D21E5698BD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875BA6-4FC4-9ACF-6E3E-193BEE24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55F104-A74E-EAA9-DBF2-A0114B4EC8CF}"/>
              </a:ext>
            </a:extLst>
          </p:cNvPr>
          <p:cNvSpPr/>
          <p:nvPr/>
        </p:nvSpPr>
        <p:spPr>
          <a:xfrm>
            <a:off x="293914" y="793804"/>
            <a:ext cx="604592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AI AGENTS TEMPLATES, PROMPT ENGINEERING, &amp; PRE-BUILT AI AGENTS </a:t>
            </a:r>
          </a:p>
          <a:p>
            <a:endParaRPr lang="en-US" sz="4000" b="1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45EDB-BD4B-3CDE-13DF-350A723126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741" b="16128"/>
          <a:stretch>
            <a:fillRect/>
          </a:stretch>
        </p:blipFill>
        <p:spPr>
          <a:xfrm>
            <a:off x="553915" y="5956679"/>
            <a:ext cx="3900021" cy="745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D14EC5-4BFB-6526-DCBA-7499B9ACE230}"/>
              </a:ext>
            </a:extLst>
          </p:cNvPr>
          <p:cNvSpPr txBox="1"/>
          <p:nvPr/>
        </p:nvSpPr>
        <p:spPr>
          <a:xfrm>
            <a:off x="312887" y="3781003"/>
            <a:ext cx="6098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Montserrat" charset="0"/>
              </a:rPr>
              <a:t>By Dr. Ryan Ahmed </a:t>
            </a:r>
            <a:endParaRPr lang="en-US" sz="2400" i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09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A0AF0-F86C-94D4-AAA6-5E8436A2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30408-F074-D832-A3A0-E25D3D34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1935F2-0703-162F-14BA-812C9421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E4C690D-E529-18C5-5690-87D18FE7142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FB8CB-C147-4A2E-3D2C-9C3F6CCE7DA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1796F8B-9DA9-613E-7780-54E66F3E50A9}"/>
              </a:ext>
            </a:extLst>
          </p:cNvPr>
          <p:cNvSpPr txBox="1">
            <a:spLocks/>
          </p:cNvSpPr>
          <p:nvPr/>
        </p:nvSpPr>
        <p:spPr>
          <a:xfrm>
            <a:off x="154722" y="843061"/>
            <a:ext cx="11926147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11CCDD"/>
              </a:buClr>
              <a:buFont typeface="Arial" panose="020B0604020202020204" pitchFamily="34" charset="0"/>
              <a:buChar char="•"/>
            </a:pPr>
            <a:r>
              <a:rPr lang="en-US" dirty="0"/>
              <a:t>Prompt engineering is the practice of designing and optimizing text input to generative AI models to obtain desired responses.</a:t>
            </a:r>
          </a:p>
          <a:p>
            <a:pPr marL="342900" indent="-342900">
              <a:buClr>
                <a:srgbClr val="11CCDD"/>
              </a:buClr>
              <a:buFont typeface="Arial" panose="020B0604020202020204" pitchFamily="34" charset="0"/>
              <a:buChar char="•"/>
            </a:pPr>
            <a:r>
              <a:rPr lang="en-US" dirty="0"/>
              <a:t>It is the art of communicating with a generative AI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1566C-5DE7-6203-E3A4-44648661F3FF}"/>
              </a:ext>
            </a:extLst>
          </p:cNvPr>
          <p:cNvSpPr txBox="1"/>
          <p:nvPr/>
        </p:nvSpPr>
        <p:spPr>
          <a:xfrm>
            <a:off x="3634989" y="2014200"/>
            <a:ext cx="5835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endParaRPr lang="en-US" sz="2400" i="1" dirty="0">
              <a:solidFill>
                <a:srgbClr val="0C1752"/>
              </a:solidFill>
              <a:latin typeface="Cambria" panose="02040503050406030204"/>
            </a:endParaRPr>
          </a:p>
          <a:p>
            <a:pPr defTabSz="914446"/>
            <a:r>
              <a:rPr lang="en-US" sz="2400" i="1" dirty="0">
                <a:solidFill>
                  <a:srgbClr val="0C1752"/>
                </a:solidFill>
                <a:latin typeface="Cambria" panose="02040503050406030204"/>
              </a:rPr>
              <a:t>“Recommend a book.”</a:t>
            </a:r>
          </a:p>
          <a:p>
            <a:pPr defTabSz="914446"/>
            <a:endParaRPr lang="en-US" sz="2400" i="1" dirty="0">
              <a:solidFill>
                <a:srgbClr val="0C1752"/>
              </a:solidFill>
              <a:latin typeface="Cambria" panose="02040503050406030204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0BDB679-5B33-11DC-645E-A1D5C8331D51}"/>
              </a:ext>
            </a:extLst>
          </p:cNvPr>
          <p:cNvCxnSpPr>
            <a:cxnSpLocks/>
          </p:cNvCxnSpPr>
          <p:nvPr/>
        </p:nvCxnSpPr>
        <p:spPr>
          <a:xfrm>
            <a:off x="3437938" y="2435839"/>
            <a:ext cx="0" cy="2189480"/>
          </a:xfrm>
          <a:prstGeom prst="straightConnector1">
            <a:avLst/>
          </a:prstGeom>
          <a:ln w="76200">
            <a:solidFill>
              <a:srgbClr val="11CCD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EF05BC-C16E-D505-C9E5-58DB52BB443C}"/>
              </a:ext>
            </a:extLst>
          </p:cNvPr>
          <p:cNvSpPr txBox="1"/>
          <p:nvPr/>
        </p:nvSpPr>
        <p:spPr>
          <a:xfrm>
            <a:off x="307900" y="2492773"/>
            <a:ext cx="29329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2400" dirty="0">
                <a:solidFill>
                  <a:srgbClr val="D56E48"/>
                </a:solidFill>
                <a:latin typeface="Cambria" panose="02040503050406030204"/>
              </a:rPr>
              <a:t>High-quality prompts guide the AI model to generate better outputs.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08CE1-C802-3AD4-9BD3-5EF82ABC1F39}"/>
              </a:ext>
            </a:extLst>
          </p:cNvPr>
          <p:cNvSpPr txBox="1"/>
          <p:nvPr/>
        </p:nvSpPr>
        <p:spPr>
          <a:xfrm>
            <a:off x="3634989" y="3258204"/>
            <a:ext cx="4267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 i="1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400" dirty="0">
                <a:solidFill>
                  <a:srgbClr val="0C1752"/>
                </a:solidFill>
                <a:latin typeface="Cambria" panose="02040503050406030204"/>
              </a:rPr>
              <a:t>“Recommend a fiction book.”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17129-31C3-811D-9CED-725667C877AE}"/>
              </a:ext>
            </a:extLst>
          </p:cNvPr>
          <p:cNvSpPr txBox="1"/>
          <p:nvPr/>
        </p:nvSpPr>
        <p:spPr>
          <a:xfrm>
            <a:off x="3634989" y="4194432"/>
            <a:ext cx="8434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 i="1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400" dirty="0">
                <a:solidFill>
                  <a:srgbClr val="0C1752"/>
                </a:solidFill>
                <a:latin typeface="Cambria" panose="02040503050406030204"/>
              </a:rPr>
              <a:t>“Recommend a historical fiction book set in World War II.” </a:t>
            </a:r>
          </a:p>
        </p:txBody>
      </p:sp>
    </p:spTree>
    <p:extLst>
      <p:ext uri="{BB962C8B-B14F-4D97-AF65-F5344CB8AC3E}">
        <p14:creationId xmlns:p14="http://schemas.microsoft.com/office/powerpoint/2010/main" val="132988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6971-7BD5-6E22-DF3D-E7EDCCF0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831AE2-B350-CC8D-E298-1AAA611C5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8267A-B817-F697-7E5E-229925F7B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C517F12-E9DE-419F-4FC4-2B20CE54B45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Components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56E24-AAF7-E9CF-040B-E405D8ED1616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9EBC69-DF22-0171-2DC8-CE15CA8C7CF2}"/>
              </a:ext>
            </a:extLst>
          </p:cNvPr>
          <p:cNvSpPr txBox="1"/>
          <p:nvPr/>
        </p:nvSpPr>
        <p:spPr>
          <a:xfrm>
            <a:off x="4926134" y="1146185"/>
            <a:ext cx="903650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46"/>
            <a:r>
              <a:rPr lang="en-US" sz="1700" b="1" dirty="0">
                <a:solidFill>
                  <a:srgbClr val="0C1752"/>
                </a:solidFill>
                <a:latin typeface="Montserrat" panose="00000500000000000000" pitchFamily="2" charset="0"/>
              </a:rPr>
              <a:t>Assume that you are an expert financial analyst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9BB976-F224-F9BD-464A-597AA196D487}"/>
              </a:ext>
            </a:extLst>
          </p:cNvPr>
          <p:cNvSpPr txBox="1"/>
          <p:nvPr/>
        </p:nvSpPr>
        <p:spPr>
          <a:xfrm>
            <a:off x="6733067" y="2677009"/>
            <a:ext cx="4446811" cy="4719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algn="ctr" defTabSz="609585">
              <a:spcBef>
                <a:spcPct val="20000"/>
              </a:spcBef>
              <a:buFont typeface="Arial"/>
              <a:buNone/>
              <a:defRPr sz="1600" b="1">
                <a:solidFill>
                  <a:srgbClr val="062E6D"/>
                </a:solidFill>
                <a:latin typeface="Cambria Math" panose="02040503050406030204" pitchFamily="18" charset="0"/>
              </a:defRPr>
            </a:lvl1pPr>
            <a:lvl2pPr marL="990575" indent="-380990" defTabSz="609585">
              <a:spcBef>
                <a:spcPct val="20000"/>
              </a:spcBef>
              <a:buFont typeface="Arial"/>
              <a:buChar char="–"/>
              <a:defRPr sz="2133"/>
            </a:lvl2pPr>
            <a:lvl3pPr marL="1523962" indent="-304792" defTabSz="609585">
              <a:spcBef>
                <a:spcPct val="20000"/>
              </a:spcBef>
              <a:buFont typeface="Arial"/>
              <a:buChar char="•"/>
              <a:defRPr sz="2133"/>
            </a:lvl3pPr>
            <a:lvl4pPr marL="2133547" indent="-304792" defTabSz="609585">
              <a:spcBef>
                <a:spcPct val="20000"/>
              </a:spcBef>
              <a:buFont typeface="Arial"/>
              <a:buChar char="–"/>
              <a:defRPr sz="2133"/>
            </a:lvl4pPr>
            <a:lvl5pPr marL="2743131" indent="-304792" defTabSz="609585">
              <a:spcBef>
                <a:spcPct val="20000"/>
              </a:spcBef>
              <a:buFont typeface="Arial"/>
              <a:buChar char="»"/>
              <a:defRPr sz="2133"/>
            </a:lvl5pPr>
            <a:lvl6pPr marL="3352716" indent="-304792" defTabSz="609585">
              <a:spcBef>
                <a:spcPct val="20000"/>
              </a:spcBef>
              <a:buFont typeface="Arial"/>
              <a:buChar char="•"/>
              <a:defRPr sz="2667"/>
            </a:lvl6pPr>
            <a:lvl7pPr marL="3962301" indent="-304792" defTabSz="609585">
              <a:spcBef>
                <a:spcPct val="20000"/>
              </a:spcBef>
              <a:buFont typeface="Arial"/>
              <a:buChar char="•"/>
              <a:defRPr sz="2667"/>
            </a:lvl7pPr>
            <a:lvl8pPr marL="4571886" indent="-304792" defTabSz="609585">
              <a:spcBef>
                <a:spcPct val="20000"/>
              </a:spcBef>
              <a:buFont typeface="Arial"/>
              <a:buChar char="•"/>
              <a:defRPr sz="2667"/>
            </a:lvl8pPr>
            <a:lvl9pPr marL="5181470" indent="-304792" defTabSz="609585">
              <a:spcBef>
                <a:spcPct val="20000"/>
              </a:spcBef>
              <a:buFont typeface="Arial"/>
              <a:buChar char="•"/>
              <a:defRPr sz="2667"/>
            </a:lvl9pPr>
          </a:lstStyle>
          <a:p>
            <a:pPr defTabSz="406410"/>
            <a:endParaRPr lang="en-US" dirty="0">
              <a:solidFill>
                <a:srgbClr val="017ACD"/>
              </a:solidFill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22287-A721-7CA9-BA44-C8D32C8A4CD6}"/>
              </a:ext>
            </a:extLst>
          </p:cNvPr>
          <p:cNvSpPr txBox="1"/>
          <p:nvPr/>
        </p:nvSpPr>
        <p:spPr>
          <a:xfrm>
            <a:off x="8409052" y="1684050"/>
            <a:ext cx="113685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Context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5F6A14-67E8-65F2-5116-71FCFB5B8971}"/>
              </a:ext>
            </a:extLst>
          </p:cNvPr>
          <p:cNvSpPr txBox="1"/>
          <p:nvPr/>
        </p:nvSpPr>
        <p:spPr>
          <a:xfrm>
            <a:off x="6363765" y="2743230"/>
            <a:ext cx="1500732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Instruction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29A758-964D-6060-8C21-9CB048C9D375}"/>
              </a:ext>
            </a:extLst>
          </p:cNvPr>
          <p:cNvSpPr txBox="1"/>
          <p:nvPr/>
        </p:nvSpPr>
        <p:spPr>
          <a:xfrm>
            <a:off x="8399251" y="3796504"/>
            <a:ext cx="152157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Input 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104FBC-2960-2EAC-66A7-ACE43CD75800}"/>
              </a:ext>
            </a:extLst>
          </p:cNvPr>
          <p:cNvSpPr txBox="1"/>
          <p:nvPr/>
        </p:nvSpPr>
        <p:spPr>
          <a:xfrm>
            <a:off x="6411678" y="4826003"/>
            <a:ext cx="223009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46"/>
            <a:r>
              <a:rPr lang="en-US" sz="1867" i="1" dirty="0">
                <a:solidFill>
                  <a:srgbClr val="D56E48"/>
                </a:solidFill>
                <a:latin typeface="Montserrat" panose="00000500000000000000" pitchFamily="2" charset="0"/>
              </a:rPr>
              <a:t>Output Indicator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D92B5FB-3D78-856A-A558-416DA8F1866A}"/>
              </a:ext>
            </a:extLst>
          </p:cNvPr>
          <p:cNvSpPr txBox="1">
            <a:spLocks/>
          </p:cNvSpPr>
          <p:nvPr/>
        </p:nvSpPr>
        <p:spPr>
          <a:xfrm>
            <a:off x="-4755" y="651384"/>
            <a:ext cx="4891221" cy="163301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Context: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background knowledge to help the model understand the domain.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5A657087-C8C0-0CD7-73B2-9CB892A1121E}"/>
              </a:ext>
            </a:extLst>
          </p:cNvPr>
          <p:cNvSpPr txBox="1">
            <a:spLocks/>
          </p:cNvSpPr>
          <p:nvPr/>
        </p:nvSpPr>
        <p:spPr>
          <a:xfrm>
            <a:off x="-6129" y="1725714"/>
            <a:ext cx="4891221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3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spcBef>
                <a:spcPts val="267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Instruction: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A clear statement of the desired goal.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5ABA1B7-19E2-A145-44A4-3D6EC9C7D3C4}"/>
              </a:ext>
            </a:extLst>
          </p:cNvPr>
          <p:cNvSpPr txBox="1">
            <a:spLocks/>
          </p:cNvSpPr>
          <p:nvPr/>
        </p:nvSpPr>
        <p:spPr>
          <a:xfrm>
            <a:off x="-8427" y="2794965"/>
            <a:ext cx="4891221" cy="163301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accent4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Input Data: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The data the model needs to process to produce output.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979358D0-B32D-3DD2-9EA1-5051625EDE8B}"/>
              </a:ext>
            </a:extLst>
          </p:cNvPr>
          <p:cNvSpPr txBox="1">
            <a:spLocks/>
          </p:cNvSpPr>
          <p:nvPr/>
        </p:nvSpPr>
        <p:spPr>
          <a:xfrm>
            <a:off x="-8428" y="3864216"/>
            <a:ext cx="4891221" cy="125867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glow rad="50800">
              <a:schemeClr val="tx1">
                <a:alpha val="5000"/>
              </a:schemeClr>
            </a:glow>
            <a:innerShdw dist="50800" dir="10800000">
              <a:schemeClr val="tx2"/>
            </a:innerShdw>
          </a:effectLst>
        </p:spPr>
        <p:txBody>
          <a:bodyPr vert="horz" wrap="square" lIns="365760" tIns="274320" rIns="182880" bIns="2743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9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9630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anose="00000500000000000000" pitchFamily="2" charset="0"/>
              </a:rPr>
              <a:t>Output Indicator: </a:t>
            </a:r>
            <a:r>
              <a:rPr lang="en-US" sz="2000" dirty="0">
                <a:solidFill>
                  <a:srgbClr val="000000"/>
                </a:solidFill>
                <a:latin typeface="Montserrat" panose="00000500000000000000" pitchFamily="2" charset="0"/>
              </a:rPr>
              <a:t>tells the model the format of the output.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0058166-79A5-51DC-4F51-3F82CFA43ACE}"/>
              </a:ext>
            </a:extLst>
          </p:cNvPr>
          <p:cNvCxnSpPr>
            <a:cxnSpLocks/>
          </p:cNvCxnSpPr>
          <p:nvPr/>
        </p:nvCxnSpPr>
        <p:spPr>
          <a:xfrm>
            <a:off x="7348895" y="1519180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F0B8A4A-5B47-ABC6-BEAF-79FE88CB4CAC}"/>
              </a:ext>
            </a:extLst>
          </p:cNvPr>
          <p:cNvCxnSpPr>
            <a:cxnSpLocks/>
          </p:cNvCxnSpPr>
          <p:nvPr/>
        </p:nvCxnSpPr>
        <p:spPr>
          <a:xfrm>
            <a:off x="5311110" y="2572334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3E79204-107F-82A3-F613-43058C365F48}"/>
              </a:ext>
            </a:extLst>
          </p:cNvPr>
          <p:cNvCxnSpPr>
            <a:cxnSpLocks/>
          </p:cNvCxnSpPr>
          <p:nvPr/>
        </p:nvCxnSpPr>
        <p:spPr>
          <a:xfrm>
            <a:off x="7346596" y="3620222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7FA7A86-41AF-DCE4-29F3-E6B74EBEC148}"/>
              </a:ext>
            </a:extLst>
          </p:cNvPr>
          <p:cNvCxnSpPr>
            <a:cxnSpLocks/>
          </p:cNvCxnSpPr>
          <p:nvPr/>
        </p:nvCxnSpPr>
        <p:spPr>
          <a:xfrm>
            <a:off x="5311110" y="4653343"/>
            <a:ext cx="1052655" cy="373985"/>
          </a:xfrm>
          <a:prstGeom prst="bentConnector3">
            <a:avLst>
              <a:gd name="adj1" fmla="val -2046"/>
            </a:avLst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17088D-339A-CC0C-6034-1CCEB33CD230}"/>
              </a:ext>
            </a:extLst>
          </p:cNvPr>
          <p:cNvSpPr txBox="1"/>
          <p:nvPr/>
        </p:nvSpPr>
        <p:spPr>
          <a:xfrm>
            <a:off x="4886466" y="2052895"/>
            <a:ext cx="756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1800" b="1" dirty="0">
                <a:solidFill>
                  <a:srgbClr val="0C1752"/>
                </a:solidFill>
                <a:latin typeface="Montserrat" panose="00000500000000000000" pitchFamily="2" charset="0"/>
              </a:rPr>
              <a:t>Classify the following text as positive, neutral, or negative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6DA63D-DDEF-72C8-1269-625853C5C3F8}"/>
              </a:ext>
            </a:extLst>
          </p:cNvPr>
          <p:cNvSpPr txBox="1"/>
          <p:nvPr/>
        </p:nvSpPr>
        <p:spPr>
          <a:xfrm>
            <a:off x="4944866" y="3227676"/>
            <a:ext cx="6928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1800" b="1" dirty="0">
                <a:solidFill>
                  <a:srgbClr val="0C1752"/>
                </a:solidFill>
                <a:latin typeface="Montserrat" panose="00000500000000000000" pitchFamily="2" charset="0"/>
              </a:rPr>
              <a:t>Text: “Apple stock increased by 2% in today's trading session”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8BC924-5FE3-9F7D-4250-9A07458059CE}"/>
              </a:ext>
            </a:extLst>
          </p:cNvPr>
          <p:cNvSpPr txBox="1"/>
          <p:nvPr/>
        </p:nvSpPr>
        <p:spPr>
          <a:xfrm>
            <a:off x="4926134" y="4218184"/>
            <a:ext cx="6982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1800" b="1" dirty="0">
                <a:solidFill>
                  <a:srgbClr val="0C1752"/>
                </a:solidFill>
                <a:latin typeface="Montserrat" panose="00000500000000000000" pitchFamily="2" charset="0"/>
              </a:rPr>
              <a:t>Sentiment:</a:t>
            </a:r>
          </a:p>
        </p:txBody>
      </p:sp>
    </p:spTree>
    <p:extLst>
      <p:ext uri="{BB962C8B-B14F-4D97-AF65-F5344CB8AC3E}">
        <p14:creationId xmlns:p14="http://schemas.microsoft.com/office/powerpoint/2010/main" val="208469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5" grpId="0"/>
      <p:bldP spid="36" grpId="0"/>
      <p:bldP spid="37" grpId="0"/>
      <p:bldP spid="3" grpId="0"/>
      <p:bldP spid="8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2E2C-FE04-E3F8-B8AA-50762A958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43217-E728-83F0-1A2D-36544F90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1EE94-A89E-B6AF-ED8F-C008F0A33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0A7BB07-E7C1-6A4B-400D-354DCFA9092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Top 5 Prompting Tips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01F1F-FBAF-2487-4897-3A7668F989B4}"/>
              </a:ext>
            </a:extLst>
          </p:cNvPr>
          <p:cNvSpPr txBox="1"/>
          <p:nvPr/>
        </p:nvSpPr>
        <p:spPr>
          <a:xfrm rot="5400000">
            <a:off x="9505627" y="3450945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DB2E059-44E8-0568-E24E-877B7B8393BD}"/>
              </a:ext>
            </a:extLst>
          </p:cNvPr>
          <p:cNvGraphicFramePr/>
          <p:nvPr/>
        </p:nvGraphicFramePr>
        <p:xfrm>
          <a:off x="348398" y="616596"/>
          <a:ext cx="10523971" cy="5624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751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90541E-9525-4B2C-8234-06662E7CED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C990541E-9525-4B2C-8234-06662E7CED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992DE3B-5367-48F3-A222-767B0D598C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4992DE3B-5367-48F3-A222-767B0D598C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19D02D5-205D-48D9-91D0-F518019683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319D02D5-205D-48D9-91D0-F518019683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0B3777D-9AB4-4C20-A928-FB7A9E2B84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70B3777D-9AB4-4C20-A928-FB7A9E2B84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9129A72-9A16-4BF9-8A53-1E4B13A9BC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F9129A72-9A16-4BF9-8A53-1E4B13A9BC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29CE-A615-7E22-3EE9-A0F43E53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AE94AA-AE97-49BE-59FF-EC76C40805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B9708-109A-D20F-AC60-01CE9F729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68B7F-F853-8124-2D8A-66DEEE0BE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6357B5-D8FF-057B-629C-95C876AC7814}"/>
              </a:ext>
            </a:extLst>
          </p:cNvPr>
          <p:cNvSpPr txBox="1"/>
          <p:nvPr/>
        </p:nvSpPr>
        <p:spPr>
          <a:xfrm>
            <a:off x="550506" y="536130"/>
            <a:ext cx="6102220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PROMPT ENGINEERING TECHNIQUES</a:t>
            </a:r>
          </a:p>
        </p:txBody>
      </p:sp>
    </p:spTree>
    <p:extLst>
      <p:ext uri="{BB962C8B-B14F-4D97-AF65-F5344CB8AC3E}">
        <p14:creationId xmlns:p14="http://schemas.microsoft.com/office/powerpoint/2010/main" val="109239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94D2-5952-405A-2A68-9821FF5F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628F88-E3BB-7197-D425-61C7EF08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1B388-0C07-604F-6EE7-CDD62DECB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02F81CA-ED81-97AB-4302-AD173CD0809C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Zero-Shot Prompting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89F7E-5203-0721-8B20-1FB9823D3683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F70B963-FC2D-A549-F643-4B24C5CE41F4}"/>
              </a:ext>
            </a:extLst>
          </p:cNvPr>
          <p:cNvSpPr txBox="1">
            <a:spLocks/>
          </p:cNvSpPr>
          <p:nvPr/>
        </p:nvSpPr>
        <p:spPr>
          <a:xfrm>
            <a:off x="192213" y="821544"/>
            <a:ext cx="11840155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Zero-shot prompting refers to the ability of a generative AI model to generate responses without being provided with any prior examples.</a:t>
            </a:r>
          </a:p>
          <a:p>
            <a:r>
              <a:rPr lang="en-US" sz="1800" dirty="0"/>
              <a:t>The model relies on its broad general knowledge learned from its training data to complete the task.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BCD39-729B-3442-716D-DDF2773AC26C}"/>
              </a:ext>
            </a:extLst>
          </p:cNvPr>
          <p:cNvSpPr txBox="1"/>
          <p:nvPr/>
        </p:nvSpPr>
        <p:spPr>
          <a:xfrm>
            <a:off x="229677" y="2581475"/>
            <a:ext cx="45665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b="1" dirty="0">
                <a:solidFill>
                  <a:srgbClr val="0C1752"/>
                </a:solidFill>
                <a:latin typeface="Montserrat" panose="00000500000000000000" pitchFamily="2" charset="0"/>
              </a:rPr>
              <a:t>User prompt:</a:t>
            </a:r>
            <a:r>
              <a:rPr lang="en-US" dirty="0">
                <a:solidFill>
                  <a:srgbClr val="0C1752"/>
                </a:solidFill>
                <a:latin typeface="Montserrat" panose="00000500000000000000" pitchFamily="2" charset="0"/>
              </a:rPr>
              <a:t> </a:t>
            </a:r>
          </a:p>
          <a:p>
            <a:pPr defTabSz="914446"/>
            <a:r>
              <a:rPr lang="en-US" i="1" dirty="0">
                <a:solidFill>
                  <a:srgbClr val="0C1752"/>
                </a:solidFill>
                <a:latin typeface="Montserrat" panose="00000500000000000000" pitchFamily="2" charset="0"/>
              </a:rPr>
              <a:t>“Tell me the sentiment of the following headline and categorize it as either positive, negative or neutral: </a:t>
            </a:r>
          </a:p>
          <a:p>
            <a:pPr defTabSz="914446"/>
            <a:endParaRPr lang="en-US" i="1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pPr defTabSz="914446"/>
            <a:r>
              <a:rPr lang="en-US" i="1" dirty="0">
                <a:solidFill>
                  <a:srgbClr val="0C1752"/>
                </a:solidFill>
                <a:latin typeface="Montserrat" panose="00000500000000000000" pitchFamily="2" charset="0"/>
              </a:rPr>
              <a:t>New airline between Seattle and San Francisco offers a great opportunity for both passengers and investors.”</a:t>
            </a:r>
            <a:endParaRPr lang="en-US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51059D-1571-B7B5-6E00-21740757C332}"/>
              </a:ext>
            </a:extLst>
          </p:cNvPr>
          <p:cNvSpPr/>
          <p:nvPr/>
        </p:nvSpPr>
        <p:spPr>
          <a:xfrm>
            <a:off x="5805555" y="3343652"/>
            <a:ext cx="2073713" cy="771331"/>
          </a:xfrm>
          <a:prstGeom prst="roundRect">
            <a:avLst/>
          </a:prstGeom>
          <a:solidFill>
            <a:srgbClr val="D56E48"/>
          </a:solidFill>
          <a:ln>
            <a:solidFill>
              <a:srgbClr val="D56E48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Generative AI model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2B6A8C-33C0-BA9C-0651-43A37D802FAF}"/>
              </a:ext>
            </a:extLst>
          </p:cNvPr>
          <p:cNvCxnSpPr>
            <a:cxnSpLocks/>
          </p:cNvCxnSpPr>
          <p:nvPr/>
        </p:nvCxnSpPr>
        <p:spPr>
          <a:xfrm>
            <a:off x="4984461" y="3729317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B1FD4C-C843-BE2F-F6B9-8DBFC0179D63}"/>
              </a:ext>
            </a:extLst>
          </p:cNvPr>
          <p:cNvCxnSpPr>
            <a:cxnSpLocks/>
          </p:cNvCxnSpPr>
          <p:nvPr/>
        </p:nvCxnSpPr>
        <p:spPr>
          <a:xfrm>
            <a:off x="8038051" y="3701623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6FC2E8-F1B2-2CA9-6A40-1CEC62240C28}"/>
              </a:ext>
            </a:extLst>
          </p:cNvPr>
          <p:cNvSpPr txBox="1"/>
          <p:nvPr/>
        </p:nvSpPr>
        <p:spPr>
          <a:xfrm>
            <a:off x="8887299" y="3378458"/>
            <a:ext cx="1461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r>
              <a:rPr lang="en-US" dirty="0">
                <a:solidFill>
                  <a:srgbClr val="0C1752"/>
                </a:solidFill>
              </a:rPr>
              <a:t>Output: </a:t>
            </a:r>
          </a:p>
          <a:p>
            <a:pPr defTabSz="914446"/>
            <a:r>
              <a:rPr lang="en-US" b="0" dirty="0">
                <a:solidFill>
                  <a:srgbClr val="0C1752"/>
                </a:solidFill>
              </a:rPr>
              <a:t>Positive</a:t>
            </a:r>
          </a:p>
        </p:txBody>
      </p:sp>
      <p:pic>
        <p:nvPicPr>
          <p:cNvPr id="13" name="Picture 2" descr="Copilot horizontal logo transparent PNG - StickPNG">
            <a:extLst>
              <a:ext uri="{FF2B5EF4-FFF2-40B4-BE49-F238E27FC236}">
                <a16:creationId xmlns:a16="http://schemas.microsoft.com/office/drawing/2014/main" id="{983E5569-41A4-F5F8-D6EF-F71AD2889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746" y="2316820"/>
            <a:ext cx="2903305" cy="102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01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5B9B-C69E-EC81-21F0-BD6F14E1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BA4C29-8FD4-9752-13F1-D2FE9F011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E6E1FD-6E83-567E-6663-3FB84CE5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46ADABE-386B-C801-2305-AE4B91CFC52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Few-Shot Prompting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BA370-2D50-4936-695E-50249376814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8BD57C7-BF25-88B8-F523-FAD0CE3B2B88}"/>
              </a:ext>
            </a:extLst>
          </p:cNvPr>
          <p:cNvSpPr txBox="1">
            <a:spLocks/>
          </p:cNvSpPr>
          <p:nvPr/>
        </p:nvSpPr>
        <p:spPr>
          <a:xfrm>
            <a:off x="177495" y="728764"/>
            <a:ext cx="11355493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Few-shot prompting (in-context learning) involves providing a few example pairs of input and desired output to the generative AI model to guide its responses.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7FFA6-A895-BA82-E61B-0EB1C652997B}"/>
              </a:ext>
            </a:extLst>
          </p:cNvPr>
          <p:cNvSpPr txBox="1"/>
          <p:nvPr/>
        </p:nvSpPr>
        <p:spPr>
          <a:xfrm>
            <a:off x="9173460" y="3091928"/>
            <a:ext cx="1461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r>
              <a:rPr lang="en-US" dirty="0">
                <a:solidFill>
                  <a:srgbClr val="0C1752"/>
                </a:solidFill>
              </a:rPr>
              <a:t>Output: </a:t>
            </a:r>
          </a:p>
          <a:p>
            <a:pPr defTabSz="914446"/>
            <a:r>
              <a:rPr lang="en-US" b="0" dirty="0">
                <a:solidFill>
                  <a:srgbClr val="0C1752"/>
                </a:solidFill>
              </a:rPr>
              <a:t>Positive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4E518-8894-ADB7-7FFB-8721EC4CFE2A}"/>
              </a:ext>
            </a:extLst>
          </p:cNvPr>
          <p:cNvSpPr txBox="1"/>
          <p:nvPr/>
        </p:nvSpPr>
        <p:spPr>
          <a:xfrm>
            <a:off x="573413" y="1743451"/>
            <a:ext cx="55825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 i="0">
                <a:solidFill>
                  <a:srgbClr val="16191F"/>
                </a:solidFill>
                <a:effectLst/>
                <a:latin typeface="Montserrat" panose="00000500000000000000" pitchFamily="2" charset="0"/>
              </a:defRPr>
            </a:lvl1pPr>
          </a:lstStyle>
          <a:p>
            <a:pPr defTabSz="914446"/>
            <a:r>
              <a:rPr lang="en-US" dirty="0">
                <a:solidFill>
                  <a:srgbClr val="0C1752"/>
                </a:solidFill>
              </a:rPr>
              <a:t>User prompt: 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“Tell me the sentiment of the following. Here are some examples: </a:t>
            </a:r>
          </a:p>
          <a:p>
            <a:pPr defTabSz="914446"/>
            <a:endParaRPr lang="en-US" b="0" i="1" dirty="0">
              <a:solidFill>
                <a:srgbClr val="0C1752"/>
              </a:solidFill>
            </a:endParaRP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Apple stock declined 2% today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Answer: Negative </a:t>
            </a:r>
          </a:p>
          <a:p>
            <a:pPr defTabSz="914446"/>
            <a:endParaRPr lang="en-US" b="0" i="1" dirty="0">
              <a:solidFill>
                <a:srgbClr val="0C1752"/>
              </a:solidFill>
            </a:endParaRP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Tesla stock gained 5% after successful self-driving demo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Answer: Positive </a:t>
            </a:r>
          </a:p>
          <a:p>
            <a:pPr defTabSz="914446"/>
            <a:endParaRPr lang="en-US" b="0" i="1" dirty="0">
              <a:solidFill>
                <a:srgbClr val="0C1752"/>
              </a:solidFill>
            </a:endParaRP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OpenAI expanded its userbase to 100 million</a:t>
            </a:r>
          </a:p>
          <a:p>
            <a:pPr defTabSz="914446"/>
            <a:r>
              <a:rPr lang="en-US" b="0" i="1" dirty="0">
                <a:solidFill>
                  <a:srgbClr val="0C1752"/>
                </a:solidFill>
              </a:rPr>
              <a:t>Answer:”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80CDF9-B37F-5615-2098-0FB8D8BB33FC}"/>
              </a:ext>
            </a:extLst>
          </p:cNvPr>
          <p:cNvSpPr/>
          <p:nvPr/>
        </p:nvSpPr>
        <p:spPr>
          <a:xfrm>
            <a:off x="5985871" y="3043334"/>
            <a:ext cx="2073713" cy="771331"/>
          </a:xfrm>
          <a:prstGeom prst="roundRect">
            <a:avLst/>
          </a:prstGeom>
          <a:solidFill>
            <a:srgbClr val="D56E48"/>
          </a:solidFill>
          <a:ln>
            <a:solidFill>
              <a:srgbClr val="D56E48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Generative AI model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DE06DB-19F2-9724-8B06-2A0B502B62EA}"/>
              </a:ext>
            </a:extLst>
          </p:cNvPr>
          <p:cNvCxnSpPr>
            <a:cxnSpLocks/>
          </p:cNvCxnSpPr>
          <p:nvPr/>
        </p:nvCxnSpPr>
        <p:spPr>
          <a:xfrm>
            <a:off x="5164777" y="3428999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696446-02BD-E5AF-C94A-C280697C3E97}"/>
              </a:ext>
            </a:extLst>
          </p:cNvPr>
          <p:cNvCxnSpPr>
            <a:cxnSpLocks/>
          </p:cNvCxnSpPr>
          <p:nvPr/>
        </p:nvCxnSpPr>
        <p:spPr>
          <a:xfrm>
            <a:off x="8218367" y="3401305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opilot horizontal logo transparent PNG - StickPNG">
            <a:extLst>
              <a:ext uri="{FF2B5EF4-FFF2-40B4-BE49-F238E27FC236}">
                <a16:creationId xmlns:a16="http://schemas.microsoft.com/office/drawing/2014/main" id="{D8563C8C-75E8-FF72-A32D-51BBC834D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009" y="2174350"/>
            <a:ext cx="2903305" cy="102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71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92DA-C36F-C8F9-9CB9-7DDC6274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6B050-BF30-BC5C-6469-2F7DA84A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CEF9D-70DA-43B9-85CB-3E96A9EF81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1495ACA-26D1-3853-51A3-9BAD879B86B9}"/>
              </a:ext>
            </a:extLst>
          </p:cNvPr>
          <p:cNvSpPr/>
          <p:nvPr/>
        </p:nvSpPr>
        <p:spPr>
          <a:xfrm>
            <a:off x="154721" y="90489"/>
            <a:ext cx="10389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Chain-of-Thought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7DFF2-67A1-1ED8-7FCE-A63A757349F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252E9F1-26E6-DA5A-75BA-8CA39DACA1E9}"/>
              </a:ext>
            </a:extLst>
          </p:cNvPr>
          <p:cNvSpPr txBox="1">
            <a:spLocks/>
          </p:cNvSpPr>
          <p:nvPr/>
        </p:nvSpPr>
        <p:spPr>
          <a:xfrm>
            <a:off x="27094" y="725193"/>
            <a:ext cx="11622456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Chain-of-thought prompting is a technique that improves the reasoning abilities of AI  models by breaking down complex questions or tasks into smaller manageable steps. </a:t>
            </a:r>
          </a:p>
          <a:p>
            <a:r>
              <a:rPr lang="en-US" sz="1600" dirty="0"/>
              <a:t>It mimics how humans' reason and solve problems by systematically breaking down the decision-making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F272F2-BE06-B8FE-BACC-114351C812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55" t="12399" r="4292"/>
          <a:stretch/>
        </p:blipFill>
        <p:spPr>
          <a:xfrm>
            <a:off x="154721" y="2432817"/>
            <a:ext cx="5117548" cy="22699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D4C3A0-3C15-F7E8-FBD7-7BF367A6EA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468"/>
          <a:stretch/>
        </p:blipFill>
        <p:spPr>
          <a:xfrm>
            <a:off x="5272269" y="2538176"/>
            <a:ext cx="4972665" cy="22491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AFBAC3-2688-2E88-3385-7ED75BE80DBC}"/>
              </a:ext>
            </a:extLst>
          </p:cNvPr>
          <p:cNvSpPr txBox="1"/>
          <p:nvPr/>
        </p:nvSpPr>
        <p:spPr>
          <a:xfrm>
            <a:off x="1278641" y="2192257"/>
            <a:ext cx="3303065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46"/>
            <a:r>
              <a:rPr lang="en-US" sz="2133" b="1" dirty="0">
                <a:solidFill>
                  <a:srgbClr val="0C1752"/>
                </a:solidFill>
                <a:latin typeface="Montserrat" panose="00000500000000000000" pitchFamily="2" charset="0"/>
              </a:rPr>
              <a:t>Standard Prompting</a:t>
            </a:r>
            <a:endParaRPr lang="en-US" sz="21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B8907-C961-B1E4-1E9B-7664078A8B98}"/>
              </a:ext>
            </a:extLst>
          </p:cNvPr>
          <p:cNvSpPr txBox="1"/>
          <p:nvPr/>
        </p:nvSpPr>
        <p:spPr>
          <a:xfrm>
            <a:off x="5727988" y="2192257"/>
            <a:ext cx="4642733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 i="0">
                <a:solidFill>
                  <a:srgbClr val="16191F"/>
                </a:solidFill>
                <a:effectLst/>
                <a:latin typeface="+mj-lt"/>
              </a:defRPr>
            </a:lvl1pPr>
          </a:lstStyle>
          <a:p>
            <a:pPr defTabSz="914446"/>
            <a:r>
              <a:rPr lang="en-US" sz="2133" dirty="0">
                <a:solidFill>
                  <a:srgbClr val="0C1752"/>
                </a:solidFill>
                <a:latin typeface="Montserrat" panose="00000500000000000000" pitchFamily="2" charset="0"/>
              </a:rPr>
              <a:t>Chain-of-thought Prompting</a:t>
            </a:r>
          </a:p>
        </p:txBody>
      </p:sp>
    </p:spTree>
    <p:extLst>
      <p:ext uri="{BB962C8B-B14F-4D97-AF65-F5344CB8AC3E}">
        <p14:creationId xmlns:p14="http://schemas.microsoft.com/office/powerpoint/2010/main" val="299004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0F48-6252-FFFB-93F9-194E3A7D2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7D45CA-16F3-EF52-3748-78930F23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5934A4-83EE-FF75-B7CE-A97286587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9B04D11C-EA88-1982-B526-B6081B9E4109}"/>
              </a:ext>
            </a:extLst>
          </p:cNvPr>
          <p:cNvSpPr/>
          <p:nvPr/>
        </p:nvSpPr>
        <p:spPr>
          <a:xfrm>
            <a:off x="154721" y="90489"/>
            <a:ext cx="10389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Prompt Engineering Techniques: </a:t>
            </a:r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ReAct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(Reason + Act)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C90B1-0C2B-E082-E4D9-1E4BCB2A465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F73FD5B-3E65-394D-F9D1-6AE40AEF0EC2}"/>
              </a:ext>
            </a:extLst>
          </p:cNvPr>
          <p:cNvSpPr txBox="1">
            <a:spLocks/>
          </p:cNvSpPr>
          <p:nvPr/>
        </p:nvSpPr>
        <p:spPr>
          <a:xfrm>
            <a:off x="154721" y="871720"/>
            <a:ext cx="11622456" cy="1656067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Clr>
                <a:srgbClr val="11CCDD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40" lvl="1" indent="-342917" defTabSz="914446">
              <a:lnSpc>
                <a:spcPct val="120000"/>
              </a:lnSpc>
              <a:spcBef>
                <a:spcPts val="1000"/>
              </a:spcBef>
              <a:spcAft>
                <a:spcPts val="333"/>
              </a:spcAft>
              <a:buFont typeface="+mj-lt"/>
              <a:buAutoNum type="arabicPeriod"/>
              <a:defRPr sz="2000">
                <a:solidFill>
                  <a:srgbClr val="000000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 err="1"/>
              <a:t>ReAct</a:t>
            </a:r>
            <a:r>
              <a:rPr lang="en-US" sz="1600" b="1" dirty="0"/>
              <a:t> (Reason + Act) Prompting</a:t>
            </a:r>
            <a:r>
              <a:rPr lang="en-US" sz="1600" dirty="0"/>
              <a:t> is a technique that boosts an AI model’s problem-solving accuracy by making it do two things:</a:t>
            </a:r>
          </a:p>
          <a:p>
            <a:pPr marL="742973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Reason:</a:t>
            </a:r>
            <a:r>
              <a:rPr lang="en-US" sz="1600" dirty="0"/>
              <a:t> think through the problem step-by-step, analyze information, and plan.</a:t>
            </a:r>
          </a:p>
          <a:p>
            <a:pPr marL="742973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Act: </a:t>
            </a:r>
            <a:r>
              <a:rPr lang="en-US" sz="1600" dirty="0"/>
              <a:t>take a specific action based on that reasoning, such as generating an answer, extracting data, or making a decision.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405A9F-0501-EBD7-9CB1-1C0B7202F8F6}"/>
              </a:ext>
            </a:extLst>
          </p:cNvPr>
          <p:cNvSpPr/>
          <p:nvPr/>
        </p:nvSpPr>
        <p:spPr>
          <a:xfrm>
            <a:off x="4340455" y="3967387"/>
            <a:ext cx="2073713" cy="771331"/>
          </a:xfrm>
          <a:prstGeom prst="roundRect">
            <a:avLst/>
          </a:prstGeom>
          <a:solidFill>
            <a:srgbClr val="D56E48"/>
          </a:solidFill>
          <a:ln>
            <a:solidFill>
              <a:srgbClr val="D56E48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46"/>
            <a:r>
              <a:rPr lang="en-US" b="1" dirty="0">
                <a:solidFill>
                  <a:srgbClr val="FFFFFF"/>
                </a:solidFill>
                <a:latin typeface="Montserrat" panose="00000500000000000000" pitchFamily="2" charset="0"/>
              </a:rPr>
              <a:t>Generative AI model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36ACF6-9FD4-20F5-44EE-E0C9FF996C7A}"/>
              </a:ext>
            </a:extLst>
          </p:cNvPr>
          <p:cNvCxnSpPr>
            <a:cxnSpLocks/>
          </p:cNvCxnSpPr>
          <p:nvPr/>
        </p:nvCxnSpPr>
        <p:spPr>
          <a:xfrm>
            <a:off x="3519361" y="4353052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0BE904-EB36-37CF-8708-436F91B48D3D}"/>
              </a:ext>
            </a:extLst>
          </p:cNvPr>
          <p:cNvCxnSpPr>
            <a:cxnSpLocks/>
          </p:cNvCxnSpPr>
          <p:nvPr/>
        </p:nvCxnSpPr>
        <p:spPr>
          <a:xfrm>
            <a:off x="6572951" y="4325358"/>
            <a:ext cx="6904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Copilot horizontal logo transparent PNG - StickPNG">
            <a:extLst>
              <a:ext uri="{FF2B5EF4-FFF2-40B4-BE49-F238E27FC236}">
                <a16:creationId xmlns:a16="http://schemas.microsoft.com/office/drawing/2014/main" id="{EDEB61C0-41F6-A6AA-28BE-065834116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593" y="3098403"/>
            <a:ext cx="2903305" cy="102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F4B884B-C7B3-A0FF-46FA-4C02E7C93FE5}"/>
              </a:ext>
            </a:extLst>
          </p:cNvPr>
          <p:cNvSpPr txBox="1"/>
          <p:nvPr/>
        </p:nvSpPr>
        <p:spPr>
          <a:xfrm>
            <a:off x="243159" y="2706447"/>
            <a:ext cx="361823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Montserrat" panose="00000500000000000000" pitchFamily="2" charset="0"/>
              </a:rPr>
              <a:t>Prompt</a:t>
            </a:r>
          </a:p>
          <a:p>
            <a:r>
              <a:rPr lang="en-US" sz="1600" b="1" dirty="0">
                <a:latin typeface="Montserrat" panose="00000500000000000000" pitchFamily="2" charset="0"/>
              </a:rPr>
              <a:t>Reason:</a:t>
            </a:r>
            <a:r>
              <a:rPr lang="en-US" sz="1600" dirty="0">
                <a:latin typeface="Montserrat" panose="00000500000000000000" pitchFamily="2" charset="0"/>
              </a:rPr>
              <a:t> Understand the user request, identify the required subtasks, and choose the tools the agent must use.</a:t>
            </a:r>
          </a:p>
          <a:p>
            <a:br>
              <a:rPr lang="en-US" sz="1600" dirty="0">
                <a:latin typeface="Montserrat" panose="00000500000000000000" pitchFamily="2" charset="0"/>
              </a:rPr>
            </a:br>
            <a:r>
              <a:rPr lang="en-US" sz="1600" b="1" dirty="0">
                <a:latin typeface="Montserrat" panose="00000500000000000000" pitchFamily="2" charset="0"/>
              </a:rPr>
              <a:t>Act:</a:t>
            </a:r>
            <a:r>
              <a:rPr lang="en-US" sz="1600" dirty="0">
                <a:latin typeface="Montserrat" panose="00000500000000000000" pitchFamily="2" charset="0"/>
              </a:rPr>
              <a:t> Return an action plan with the tool sequence.</a:t>
            </a:r>
          </a:p>
          <a:p>
            <a:endParaRPr lang="en-US" sz="1600" dirty="0">
              <a:latin typeface="Montserrat" panose="00000500000000000000" pitchFamily="2" charset="0"/>
            </a:endParaRPr>
          </a:p>
          <a:p>
            <a:endParaRPr lang="en-US" sz="1600" dirty="0">
              <a:latin typeface="Montserrat" panose="00000500000000000000" pitchFamily="2" charset="0"/>
            </a:endParaRPr>
          </a:p>
          <a:p>
            <a:r>
              <a:rPr lang="en-US" sz="1600" b="1" u="sng" dirty="0">
                <a:latin typeface="Montserrat" panose="00000500000000000000" pitchFamily="2" charset="0"/>
              </a:rPr>
              <a:t>User request:</a:t>
            </a:r>
            <a:br>
              <a:rPr lang="en-US" sz="1600" dirty="0">
                <a:latin typeface="Montserrat" panose="00000500000000000000" pitchFamily="2" charset="0"/>
              </a:rPr>
            </a:br>
            <a:r>
              <a:rPr lang="en-US" sz="1600" dirty="0">
                <a:latin typeface="Montserrat" panose="00000500000000000000" pitchFamily="2" charset="0"/>
              </a:rPr>
              <a:t>“Find all calendar conflicts for next week and notify me.”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EEDD8-E407-2DEF-6A5B-38C70589C30C}"/>
              </a:ext>
            </a:extLst>
          </p:cNvPr>
          <p:cNvSpPr txBox="1"/>
          <p:nvPr/>
        </p:nvSpPr>
        <p:spPr>
          <a:xfrm>
            <a:off x="7794224" y="2714221"/>
            <a:ext cx="30901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latin typeface="Montserrat" panose="00000500000000000000" pitchFamily="2" charset="0"/>
              </a:defRPr>
            </a:lvl1pPr>
          </a:lstStyle>
          <a:p>
            <a:r>
              <a:rPr lang="en-CA" dirty="0"/>
              <a:t>Expected Output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4232671-9341-7B6B-8F06-3827C2294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002" y="3230691"/>
            <a:ext cx="4419173" cy="185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3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5981</TotalTime>
  <Words>788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495</cp:revision>
  <dcterms:created xsi:type="dcterms:W3CDTF">2019-11-18T17:58:36Z</dcterms:created>
  <dcterms:modified xsi:type="dcterms:W3CDTF">2025-12-02T11:46:49Z</dcterms:modified>
</cp:coreProperties>
</file>