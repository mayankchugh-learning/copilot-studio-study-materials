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565" r:id="rId2"/>
    <p:sldId id="4221" r:id="rId3"/>
    <p:sldId id="4218" r:id="rId4"/>
    <p:sldId id="4168" r:id="rId5"/>
    <p:sldId id="4162" r:id="rId6"/>
    <p:sldId id="4229" r:id="rId7"/>
    <p:sldId id="4228" r:id="rId8"/>
    <p:sldId id="277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1BBFD1"/>
    <a:srgbClr val="0C1752"/>
    <a:srgbClr val="11CCDD"/>
    <a:srgbClr val="E3E9EE"/>
    <a:srgbClr val="FFFFFF"/>
    <a:srgbClr val="F09063"/>
    <a:srgbClr val="F9F9F9"/>
    <a:srgbClr val="E7C24C"/>
    <a:srgbClr val="FF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18" d="100"/>
          <a:sy n="118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BB5DF1-6160-48DA-9244-780755A51C3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66F586A-A994-4804-9C96-3046E55639C7}">
      <dgm:prSet phldrT="[Text]" custT="1"/>
      <dgm:spPr>
        <a:solidFill>
          <a:srgbClr val="0C1752"/>
        </a:solidFill>
        <a:ln>
          <a:solidFill>
            <a:srgbClr val="0C1752"/>
          </a:solidFill>
        </a:ln>
      </dgm:spPr>
      <dgm:t>
        <a:bodyPr/>
        <a:lstStyle/>
        <a:p>
          <a:r>
            <a:rPr lang="en-CA" sz="1800" dirty="0">
              <a:latin typeface="Montserrat" panose="00000500000000000000" pitchFamily="2" charset="0"/>
              <a:cs typeface="Mongolian Baiti" panose="03000500000000000000" pitchFamily="66" charset="0"/>
            </a:rPr>
            <a:t>Build an Autonomous AI agent in Copilot Studio.</a:t>
          </a:r>
        </a:p>
      </dgm:t>
    </dgm:pt>
    <dgm:pt modelId="{0E646359-7774-44D7-A78E-48FF645A581F}" type="par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354A0CE6-2E67-42BB-BD99-61C4184CA873}" type="sibTrans" cxnId="{9FB5AB61-78F8-4CE9-BA1C-2D3174FA942B}">
      <dgm:prSet/>
      <dgm:spPr/>
      <dgm:t>
        <a:bodyPr/>
        <a:lstStyle/>
        <a:p>
          <a:endParaRPr lang="en-CA" sz="2200">
            <a:latin typeface="Montserrat" panose="00000500000000000000" pitchFamily="2" charset="0"/>
            <a:cs typeface="Mongolian Baiti" panose="03000500000000000000" pitchFamily="66" charset="0"/>
          </a:endParaRPr>
        </a:p>
      </dgm:t>
    </dgm:pt>
    <dgm:pt modelId="{B748CD7C-02FD-44C4-B494-1F9165E415A7}">
      <dgm:prSet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Master how to add advanced instructions to the agent with tool reference. </a:t>
          </a:r>
        </a:p>
      </dgm:t>
    </dgm:pt>
    <dgm:pt modelId="{75633EF6-3651-49F2-9C03-9B1C9DED27FC}" type="parTrans" cxnId="{F2C1E8F5-A05B-4B6C-ACA9-4D950A05A7C7}">
      <dgm:prSet/>
      <dgm:spPr/>
      <dgm:t>
        <a:bodyPr/>
        <a:lstStyle/>
        <a:p>
          <a:endParaRPr lang="en-CA"/>
        </a:p>
      </dgm:t>
    </dgm:pt>
    <dgm:pt modelId="{0D010DA5-31AB-48DF-9B53-E1F5217872FD}" type="sibTrans" cxnId="{F2C1E8F5-A05B-4B6C-ACA9-4D950A05A7C7}">
      <dgm:prSet/>
      <dgm:spPr/>
      <dgm:t>
        <a:bodyPr/>
        <a:lstStyle/>
        <a:p>
          <a:endParaRPr lang="en-CA"/>
        </a:p>
      </dgm:t>
    </dgm:pt>
    <dgm:pt modelId="{A3285C98-AA88-4637-97EA-786313CE6411}">
      <dgm:prSet custT="1"/>
      <dgm:spPr>
        <a:solidFill>
          <a:srgbClr val="11CCDD"/>
        </a:solidFill>
      </dgm:spPr>
      <dgm:t>
        <a:bodyPr/>
        <a:lstStyle/>
        <a:p>
          <a:pPr>
            <a:buNone/>
          </a:pPr>
          <a:r>
            <a:rPr lang="en-US" sz="1800" dirty="0">
              <a:latin typeface="Montserrat" panose="00000500000000000000" pitchFamily="2" charset="0"/>
            </a:rPr>
            <a:t>Automate drafting and sending emails with Copilot Studio</a:t>
          </a:r>
          <a:endParaRPr lang="en-CA" sz="1800" dirty="0">
            <a:latin typeface="Montserrat" panose="00000500000000000000" pitchFamily="2" charset="0"/>
          </a:endParaRPr>
        </a:p>
      </dgm:t>
    </dgm:pt>
    <dgm:pt modelId="{B9FA6B9C-F558-405F-83AC-07A99FECA3D5}" type="parTrans" cxnId="{DB18EF07-1110-4A97-8277-3159765C5A05}">
      <dgm:prSet/>
      <dgm:spPr/>
      <dgm:t>
        <a:bodyPr/>
        <a:lstStyle/>
        <a:p>
          <a:endParaRPr lang="en-CA"/>
        </a:p>
      </dgm:t>
    </dgm:pt>
    <dgm:pt modelId="{0654A194-C5A6-4D5B-9DF7-8777FDE3DC89}" type="sibTrans" cxnId="{DB18EF07-1110-4A97-8277-3159765C5A05}">
      <dgm:prSet/>
      <dgm:spPr/>
      <dgm:t>
        <a:bodyPr/>
        <a:lstStyle/>
        <a:p>
          <a:endParaRPr lang="en-CA"/>
        </a:p>
      </dgm:t>
    </dgm:pt>
    <dgm:pt modelId="{FF0EA3FF-F38A-4267-B4D2-62D3A2DCDB36}">
      <dgm:prSet custT="1"/>
      <dgm:spPr>
        <a:solidFill>
          <a:srgbClr val="0C1752"/>
        </a:solidFill>
      </dgm:spPr>
      <dgm:t>
        <a:bodyPr/>
        <a:lstStyle/>
        <a:p>
          <a:pPr>
            <a:buNone/>
          </a:pPr>
          <a:r>
            <a:rPr lang="en-CA" sz="1800" dirty="0">
              <a:latin typeface="Montserrat" panose="00000500000000000000" pitchFamily="2" charset="0"/>
            </a:rPr>
            <a:t>Automate updating excel sheets available on OneDrive.</a:t>
          </a:r>
        </a:p>
      </dgm:t>
    </dgm:pt>
    <dgm:pt modelId="{E818C447-7B57-467F-B124-1AF6E938BCCC}" type="parTrans" cxnId="{E4A50F7E-B0F7-4A34-BDEA-B41BC0BE7FA9}">
      <dgm:prSet/>
      <dgm:spPr/>
      <dgm:t>
        <a:bodyPr/>
        <a:lstStyle/>
        <a:p>
          <a:endParaRPr lang="en-CA"/>
        </a:p>
      </dgm:t>
    </dgm:pt>
    <dgm:pt modelId="{9067106F-ACB3-405D-8D8B-88EB19657621}" type="sibTrans" cxnId="{E4A50F7E-B0F7-4A34-BDEA-B41BC0BE7FA9}">
      <dgm:prSet/>
      <dgm:spPr/>
      <dgm:t>
        <a:bodyPr/>
        <a:lstStyle/>
        <a:p>
          <a:endParaRPr lang="en-CA"/>
        </a:p>
      </dgm:t>
    </dgm:pt>
    <dgm:pt modelId="{2592CD0D-80B1-45B8-A98B-157F5B52F686}">
      <dgm:prSet phldrT="[Text]"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 how to connect multiple Microsoft 365 tools (Excel, Outlook, Forms) to the Agent. </a:t>
          </a:r>
        </a:p>
      </dgm:t>
    </dgm:pt>
    <dgm:pt modelId="{40A13D9E-B7ED-47DF-AE65-FB5002D290D2}" type="parTrans" cxnId="{B01AD941-1F30-41FB-B394-B61CB12CBC7D}">
      <dgm:prSet/>
      <dgm:spPr/>
      <dgm:t>
        <a:bodyPr/>
        <a:lstStyle/>
        <a:p>
          <a:endParaRPr lang="en-CA"/>
        </a:p>
      </dgm:t>
    </dgm:pt>
    <dgm:pt modelId="{E8A1930A-6356-4A34-9182-8C104174EAC8}" type="sibTrans" cxnId="{B01AD941-1F30-41FB-B394-B61CB12CBC7D}">
      <dgm:prSet/>
      <dgm:spPr/>
      <dgm:t>
        <a:bodyPr/>
        <a:lstStyle/>
        <a:p>
          <a:endParaRPr lang="en-CA"/>
        </a:p>
      </dgm:t>
    </dgm:pt>
    <dgm:pt modelId="{83250963-A212-4FC1-AA0C-CBA9908C649A}">
      <dgm:prSet custT="1"/>
      <dgm:spPr>
        <a:solidFill>
          <a:srgbClr val="D56E48"/>
        </a:solidFill>
      </dgm:spPr>
      <dgm:t>
        <a:bodyPr/>
        <a:lstStyle/>
        <a:p>
          <a:pPr>
            <a:buNone/>
          </a:pPr>
          <a:r>
            <a:rPr lang="en-US" sz="1800">
              <a:latin typeface="Montserrat" panose="00000500000000000000" pitchFamily="2" charset="0"/>
            </a:rPr>
            <a:t>Build an end-to-end AI Automation workflows without human intervention.</a:t>
          </a:r>
          <a:endParaRPr lang="en-CA" sz="1800" dirty="0">
            <a:latin typeface="Montserrat" panose="00000500000000000000" pitchFamily="2" charset="0"/>
          </a:endParaRPr>
        </a:p>
      </dgm:t>
    </dgm:pt>
    <dgm:pt modelId="{524E594C-BDAF-4D39-A109-FA0820DAF526}" type="parTrans" cxnId="{6C519FE2-BD93-4939-BDC9-058F726C66D3}">
      <dgm:prSet/>
      <dgm:spPr/>
      <dgm:t>
        <a:bodyPr/>
        <a:lstStyle/>
        <a:p>
          <a:endParaRPr lang="en-CA"/>
        </a:p>
      </dgm:t>
    </dgm:pt>
    <dgm:pt modelId="{B80788B2-8FC4-4AF6-BA25-DD008809105B}" type="sibTrans" cxnId="{6C519FE2-BD93-4939-BDC9-058F726C66D3}">
      <dgm:prSet/>
      <dgm:spPr/>
      <dgm:t>
        <a:bodyPr/>
        <a:lstStyle/>
        <a:p>
          <a:endParaRPr lang="en-CA"/>
        </a:p>
      </dgm:t>
    </dgm:pt>
    <dgm:pt modelId="{91AECCB5-357E-4817-8D8B-617F328E7EE2}" type="pres">
      <dgm:prSet presAssocID="{C5BB5DF1-6160-48DA-9244-780755A51C37}" presName="diagram" presStyleCnt="0">
        <dgm:presLayoutVars>
          <dgm:dir/>
          <dgm:resizeHandles val="exact"/>
        </dgm:presLayoutVars>
      </dgm:prSet>
      <dgm:spPr/>
    </dgm:pt>
    <dgm:pt modelId="{1B558E55-37DC-4859-9ABB-EFE02DEEEF05}" type="pres">
      <dgm:prSet presAssocID="{566F586A-A994-4804-9C96-3046E55639C7}" presName="node" presStyleLbl="node1" presStyleIdx="0" presStyleCnt="6">
        <dgm:presLayoutVars>
          <dgm:bulletEnabled val="1"/>
        </dgm:presLayoutVars>
      </dgm:prSet>
      <dgm:spPr/>
    </dgm:pt>
    <dgm:pt modelId="{37F8B5B6-4041-4689-A87E-63C71563838F}" type="pres">
      <dgm:prSet presAssocID="{354A0CE6-2E67-42BB-BD99-61C4184CA873}" presName="sibTrans" presStyleCnt="0"/>
      <dgm:spPr/>
    </dgm:pt>
    <dgm:pt modelId="{BE73B1EC-B7E1-4848-84E7-7115730A32AA}" type="pres">
      <dgm:prSet presAssocID="{2592CD0D-80B1-45B8-A98B-157F5B52F686}" presName="node" presStyleLbl="node1" presStyleIdx="1" presStyleCnt="6">
        <dgm:presLayoutVars>
          <dgm:bulletEnabled val="1"/>
        </dgm:presLayoutVars>
      </dgm:prSet>
      <dgm:spPr>
        <a:xfrm>
          <a:off x="3530245" y="33299"/>
          <a:ext cx="3209314" cy="1925588"/>
        </a:xfrm>
        <a:prstGeom prst="rect">
          <a:avLst/>
        </a:prstGeom>
      </dgm:spPr>
    </dgm:pt>
    <dgm:pt modelId="{2964924D-8751-467B-AC4E-6B126E34CBB8}" type="pres">
      <dgm:prSet presAssocID="{E8A1930A-6356-4A34-9182-8C104174EAC8}" presName="sibTrans" presStyleCnt="0"/>
      <dgm:spPr/>
    </dgm:pt>
    <dgm:pt modelId="{66FD1FEE-6916-469C-AC20-5281BA353382}" type="pres">
      <dgm:prSet presAssocID="{B748CD7C-02FD-44C4-B494-1F9165E415A7}" presName="node" presStyleLbl="node1" presStyleIdx="2" presStyleCnt="6">
        <dgm:presLayoutVars>
          <dgm:bulletEnabled val="1"/>
        </dgm:presLayoutVars>
      </dgm:prSet>
      <dgm:spPr/>
    </dgm:pt>
    <dgm:pt modelId="{7287C185-CCD0-4EB3-B506-B1D39F43BD38}" type="pres">
      <dgm:prSet presAssocID="{0D010DA5-31AB-48DF-9B53-E1F5217872FD}" presName="sibTrans" presStyleCnt="0"/>
      <dgm:spPr/>
    </dgm:pt>
    <dgm:pt modelId="{6252F9F4-D0DC-4D13-9592-F953C7F49611}" type="pres">
      <dgm:prSet presAssocID="{A3285C98-AA88-4637-97EA-786313CE6411}" presName="node" presStyleLbl="node1" presStyleIdx="3" presStyleCnt="6">
        <dgm:presLayoutVars>
          <dgm:bulletEnabled val="1"/>
        </dgm:presLayoutVars>
      </dgm:prSet>
      <dgm:spPr/>
    </dgm:pt>
    <dgm:pt modelId="{EFE5D968-21C7-438A-B66B-14772D310431}" type="pres">
      <dgm:prSet presAssocID="{0654A194-C5A6-4D5B-9DF7-8777FDE3DC89}" presName="sibTrans" presStyleCnt="0"/>
      <dgm:spPr/>
    </dgm:pt>
    <dgm:pt modelId="{22AE5A2B-7540-4FDD-87BF-1494829FA0CB}" type="pres">
      <dgm:prSet presAssocID="{FF0EA3FF-F38A-4267-B4D2-62D3A2DCDB36}" presName="node" presStyleLbl="node1" presStyleIdx="4" presStyleCnt="6">
        <dgm:presLayoutVars>
          <dgm:bulletEnabled val="1"/>
        </dgm:presLayoutVars>
      </dgm:prSet>
      <dgm:spPr/>
    </dgm:pt>
    <dgm:pt modelId="{2B878C41-5A2E-420F-BE9F-D20D0ECF162F}" type="pres">
      <dgm:prSet presAssocID="{9067106F-ACB3-405D-8D8B-88EB19657621}" presName="sibTrans" presStyleCnt="0"/>
      <dgm:spPr/>
    </dgm:pt>
    <dgm:pt modelId="{4839296E-99F6-409C-9812-EB9BABB57165}" type="pres">
      <dgm:prSet presAssocID="{83250963-A212-4FC1-AA0C-CBA9908C649A}" presName="node" presStyleLbl="node1" presStyleIdx="5" presStyleCnt="6">
        <dgm:presLayoutVars>
          <dgm:bulletEnabled val="1"/>
        </dgm:presLayoutVars>
      </dgm:prSet>
      <dgm:spPr/>
    </dgm:pt>
  </dgm:ptLst>
  <dgm:cxnLst>
    <dgm:cxn modelId="{8D874905-73C9-4E87-B0B0-20AFAE1624E1}" type="presOf" srcId="{566F586A-A994-4804-9C96-3046E55639C7}" destId="{1B558E55-37DC-4859-9ABB-EFE02DEEEF05}" srcOrd="0" destOrd="0" presId="urn:microsoft.com/office/officeart/2005/8/layout/default"/>
    <dgm:cxn modelId="{DB18EF07-1110-4A97-8277-3159765C5A05}" srcId="{C5BB5DF1-6160-48DA-9244-780755A51C37}" destId="{A3285C98-AA88-4637-97EA-786313CE6411}" srcOrd="3" destOrd="0" parTransId="{B9FA6B9C-F558-405F-83AC-07A99FECA3D5}" sibTransId="{0654A194-C5A6-4D5B-9DF7-8777FDE3DC89}"/>
    <dgm:cxn modelId="{C2707315-FE3B-470C-92E8-57F0D850A6CB}" type="presOf" srcId="{A3285C98-AA88-4637-97EA-786313CE6411}" destId="{6252F9F4-D0DC-4D13-9592-F953C7F49611}" srcOrd="0" destOrd="0" presId="urn:microsoft.com/office/officeart/2005/8/layout/default"/>
    <dgm:cxn modelId="{9FB5AB61-78F8-4CE9-BA1C-2D3174FA942B}" srcId="{C5BB5DF1-6160-48DA-9244-780755A51C37}" destId="{566F586A-A994-4804-9C96-3046E55639C7}" srcOrd="0" destOrd="0" parTransId="{0E646359-7774-44D7-A78E-48FF645A581F}" sibTransId="{354A0CE6-2E67-42BB-BD99-61C4184CA873}"/>
    <dgm:cxn modelId="{B01AD941-1F30-41FB-B394-B61CB12CBC7D}" srcId="{C5BB5DF1-6160-48DA-9244-780755A51C37}" destId="{2592CD0D-80B1-45B8-A98B-157F5B52F686}" srcOrd="1" destOrd="0" parTransId="{40A13D9E-B7ED-47DF-AE65-FB5002D290D2}" sibTransId="{E8A1930A-6356-4A34-9182-8C104174EAC8}"/>
    <dgm:cxn modelId="{E4A50F7E-B0F7-4A34-BDEA-B41BC0BE7FA9}" srcId="{C5BB5DF1-6160-48DA-9244-780755A51C37}" destId="{FF0EA3FF-F38A-4267-B4D2-62D3A2DCDB36}" srcOrd="4" destOrd="0" parTransId="{E818C447-7B57-467F-B124-1AF6E938BCCC}" sibTransId="{9067106F-ACB3-405D-8D8B-88EB19657621}"/>
    <dgm:cxn modelId="{E41DE280-72D1-4AF9-B70D-50139E48E37D}" type="presOf" srcId="{FF0EA3FF-F38A-4267-B4D2-62D3A2DCDB36}" destId="{22AE5A2B-7540-4FDD-87BF-1494829FA0CB}" srcOrd="0" destOrd="0" presId="urn:microsoft.com/office/officeart/2005/8/layout/default"/>
    <dgm:cxn modelId="{F1DC19BC-B069-4CA3-A335-8F4210D25204}" type="presOf" srcId="{B748CD7C-02FD-44C4-B494-1F9165E415A7}" destId="{66FD1FEE-6916-469C-AC20-5281BA353382}" srcOrd="0" destOrd="0" presId="urn:microsoft.com/office/officeart/2005/8/layout/default"/>
    <dgm:cxn modelId="{1DAF93D8-0A13-4E6B-9059-0E6BC149FF82}" type="presOf" srcId="{83250963-A212-4FC1-AA0C-CBA9908C649A}" destId="{4839296E-99F6-409C-9812-EB9BABB57165}" srcOrd="0" destOrd="0" presId="urn:microsoft.com/office/officeart/2005/8/layout/default"/>
    <dgm:cxn modelId="{6C519FE2-BD93-4939-BDC9-058F726C66D3}" srcId="{C5BB5DF1-6160-48DA-9244-780755A51C37}" destId="{83250963-A212-4FC1-AA0C-CBA9908C649A}" srcOrd="5" destOrd="0" parTransId="{524E594C-BDAF-4D39-A109-FA0820DAF526}" sibTransId="{B80788B2-8FC4-4AF6-BA25-DD008809105B}"/>
    <dgm:cxn modelId="{BCF0D0E2-7832-4736-98E9-D156945CD970}" type="presOf" srcId="{C5BB5DF1-6160-48DA-9244-780755A51C37}" destId="{91AECCB5-357E-4817-8D8B-617F328E7EE2}" srcOrd="0" destOrd="0" presId="urn:microsoft.com/office/officeart/2005/8/layout/default"/>
    <dgm:cxn modelId="{4E3FD8ED-837A-4BC8-B90A-8CBE23121AC5}" type="presOf" srcId="{2592CD0D-80B1-45B8-A98B-157F5B52F686}" destId="{BE73B1EC-B7E1-4848-84E7-7115730A32AA}" srcOrd="0" destOrd="0" presId="urn:microsoft.com/office/officeart/2005/8/layout/default"/>
    <dgm:cxn modelId="{F2C1E8F5-A05B-4B6C-ACA9-4D950A05A7C7}" srcId="{C5BB5DF1-6160-48DA-9244-780755A51C37}" destId="{B748CD7C-02FD-44C4-B494-1F9165E415A7}" srcOrd="2" destOrd="0" parTransId="{75633EF6-3651-49F2-9C03-9B1C9DED27FC}" sibTransId="{0D010DA5-31AB-48DF-9B53-E1F5217872FD}"/>
    <dgm:cxn modelId="{8A1C0F08-D7F6-4EF0-BBC7-A54829BBDEC1}" type="presParOf" srcId="{91AECCB5-357E-4817-8D8B-617F328E7EE2}" destId="{1B558E55-37DC-4859-9ABB-EFE02DEEEF05}" srcOrd="0" destOrd="0" presId="urn:microsoft.com/office/officeart/2005/8/layout/default"/>
    <dgm:cxn modelId="{04309D3C-9431-413A-9C10-C831746B1D70}" type="presParOf" srcId="{91AECCB5-357E-4817-8D8B-617F328E7EE2}" destId="{37F8B5B6-4041-4689-A87E-63C71563838F}" srcOrd="1" destOrd="0" presId="urn:microsoft.com/office/officeart/2005/8/layout/default"/>
    <dgm:cxn modelId="{A52DB994-5C41-4C95-9E17-E6F5B0E8771A}" type="presParOf" srcId="{91AECCB5-357E-4817-8D8B-617F328E7EE2}" destId="{BE73B1EC-B7E1-4848-84E7-7115730A32AA}" srcOrd="2" destOrd="0" presId="urn:microsoft.com/office/officeart/2005/8/layout/default"/>
    <dgm:cxn modelId="{A8F12320-00D4-4EA6-8B70-FCB9F8E41D17}" type="presParOf" srcId="{91AECCB5-357E-4817-8D8B-617F328E7EE2}" destId="{2964924D-8751-467B-AC4E-6B126E34CBB8}" srcOrd="3" destOrd="0" presId="urn:microsoft.com/office/officeart/2005/8/layout/default"/>
    <dgm:cxn modelId="{B925B848-E523-418B-8B5E-36301242031C}" type="presParOf" srcId="{91AECCB5-357E-4817-8D8B-617F328E7EE2}" destId="{66FD1FEE-6916-469C-AC20-5281BA353382}" srcOrd="4" destOrd="0" presId="urn:microsoft.com/office/officeart/2005/8/layout/default"/>
    <dgm:cxn modelId="{8B22A0B6-9164-4C47-8ABC-AB4432639FB3}" type="presParOf" srcId="{91AECCB5-357E-4817-8D8B-617F328E7EE2}" destId="{7287C185-CCD0-4EB3-B506-B1D39F43BD38}" srcOrd="5" destOrd="0" presId="urn:microsoft.com/office/officeart/2005/8/layout/default"/>
    <dgm:cxn modelId="{975A34E7-8A3D-4081-8D61-3087E3909C8E}" type="presParOf" srcId="{91AECCB5-357E-4817-8D8B-617F328E7EE2}" destId="{6252F9F4-D0DC-4D13-9592-F953C7F49611}" srcOrd="6" destOrd="0" presId="urn:microsoft.com/office/officeart/2005/8/layout/default"/>
    <dgm:cxn modelId="{4960E114-E448-44AE-987E-25CD779F8986}" type="presParOf" srcId="{91AECCB5-357E-4817-8D8B-617F328E7EE2}" destId="{EFE5D968-21C7-438A-B66B-14772D310431}" srcOrd="7" destOrd="0" presId="urn:microsoft.com/office/officeart/2005/8/layout/default"/>
    <dgm:cxn modelId="{5BB19C41-3293-4E14-A339-F7983C2B3A54}" type="presParOf" srcId="{91AECCB5-357E-4817-8D8B-617F328E7EE2}" destId="{22AE5A2B-7540-4FDD-87BF-1494829FA0CB}" srcOrd="8" destOrd="0" presId="urn:microsoft.com/office/officeart/2005/8/layout/default"/>
    <dgm:cxn modelId="{DD1C5341-4627-4E63-B85F-74CDA0222EC9}" type="presParOf" srcId="{91AECCB5-357E-4817-8D8B-617F328E7EE2}" destId="{2B878C41-5A2E-420F-BE9F-D20D0ECF162F}" srcOrd="9" destOrd="0" presId="urn:microsoft.com/office/officeart/2005/8/layout/default"/>
    <dgm:cxn modelId="{FC63D771-B4E4-4F44-8276-F3D91732AF0C}" type="presParOf" srcId="{91AECCB5-357E-4817-8D8B-617F328E7EE2}" destId="{4839296E-99F6-409C-9812-EB9BABB57165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75956B-7142-45B3-8DE5-D244F09C1D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0ABCD8D9-4E4F-43E2-988F-D535DD2C693A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Gained hands-on experience building a fully autonomous AI agent inside Copilot Studio.</a:t>
          </a:r>
          <a:endParaRPr lang="en-US" sz="1700" b="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gm:t>
    </dgm:pt>
    <dgm:pt modelId="{415715B1-3D4E-49EB-B880-CAE967F36BC1}" type="parTrans" cxnId="{AEE2BD93-689D-48BF-9699-0AB767B3785D}">
      <dgm:prSet/>
      <dgm:spPr/>
      <dgm:t>
        <a:bodyPr/>
        <a:lstStyle/>
        <a:p>
          <a:endParaRPr lang="en-CA"/>
        </a:p>
      </dgm:t>
    </dgm:pt>
    <dgm:pt modelId="{E776E2CF-D042-4E0E-A182-465E71615883}" type="sibTrans" cxnId="{AEE2BD93-689D-48BF-9699-0AB767B3785D}">
      <dgm:prSet/>
      <dgm:spPr/>
      <dgm:t>
        <a:bodyPr/>
        <a:lstStyle/>
        <a:p>
          <a:endParaRPr lang="en-CA"/>
        </a:p>
      </dgm:t>
    </dgm:pt>
    <dgm:pt modelId="{5C7B186F-ACE0-4DA7-8769-D96B3A54954F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Learned how to connect multiple Microsoft 365 tools (Excel Online, Outlook, Forms) to create multi-step, cross-app automations.</a:t>
          </a:r>
        </a:p>
      </dgm:t>
    </dgm:pt>
    <dgm:pt modelId="{F900BBCC-FAC5-4724-8C05-F35CFE127E78}" type="parTrans" cxnId="{0D710B8C-722D-4ABD-8BAD-82B378D523B3}">
      <dgm:prSet/>
      <dgm:spPr/>
      <dgm:t>
        <a:bodyPr/>
        <a:lstStyle/>
        <a:p>
          <a:endParaRPr lang="en-CA"/>
        </a:p>
      </dgm:t>
    </dgm:pt>
    <dgm:pt modelId="{1EE8C113-6CE0-4548-9BFB-CF0B882FC15A}" type="sibTrans" cxnId="{0D710B8C-722D-4ABD-8BAD-82B378D523B3}">
      <dgm:prSet/>
      <dgm:spPr/>
      <dgm:t>
        <a:bodyPr/>
        <a:lstStyle/>
        <a:p>
          <a:endParaRPr lang="en-CA"/>
        </a:p>
      </dgm:t>
    </dgm:pt>
    <dgm:pt modelId="{F41D68F3-5934-401C-8824-EF8A71EA26BC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Understood how to write advanced instructions using tool references to control the agent’s </a:t>
          </a:r>
          <a:r>
            <a:rPr lang="en-US" sz="1700" b="0" kern="1200" dirty="0" err="1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behaviour</a:t>
          </a: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 with precision.</a:t>
          </a:r>
        </a:p>
      </dgm:t>
    </dgm:pt>
    <dgm:pt modelId="{3D1EC6CF-3425-4D98-809D-1048C2E1F3D8}" type="parTrans" cxnId="{A7703FF0-B7D3-44CC-BF9E-DF93624963F7}">
      <dgm:prSet/>
      <dgm:spPr/>
      <dgm:t>
        <a:bodyPr/>
        <a:lstStyle/>
        <a:p>
          <a:endParaRPr lang="en-CA"/>
        </a:p>
      </dgm:t>
    </dgm:pt>
    <dgm:pt modelId="{3DE96A7E-1A7E-419B-BAC2-727ABD1B80A5}" type="sibTrans" cxnId="{A7703FF0-B7D3-44CC-BF9E-DF93624963F7}">
      <dgm:prSet/>
      <dgm:spPr/>
      <dgm:t>
        <a:bodyPr/>
        <a:lstStyle/>
        <a:p>
          <a:endParaRPr lang="en-CA"/>
        </a:p>
      </dgm:t>
    </dgm:pt>
    <dgm:pt modelId="{5D49C09A-5984-4404-870B-0D364644C850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Explored how to automate drafting and sending emails using Copilot Studio workflows.</a:t>
          </a:r>
        </a:p>
      </dgm:t>
    </dgm:pt>
    <dgm:pt modelId="{7DE18EC3-7DEF-4CD8-913F-C7D962125700}" type="parTrans" cxnId="{9F92BD4E-A699-457A-8F87-DF9D68DFB875}">
      <dgm:prSet/>
      <dgm:spPr/>
      <dgm:t>
        <a:bodyPr/>
        <a:lstStyle/>
        <a:p>
          <a:endParaRPr lang="en-CA"/>
        </a:p>
      </dgm:t>
    </dgm:pt>
    <dgm:pt modelId="{F7E6BECA-4E6A-4484-9070-D763D926FD5E}" type="sibTrans" cxnId="{9F92BD4E-A699-457A-8F87-DF9D68DFB875}">
      <dgm:prSet/>
      <dgm:spPr/>
      <dgm:t>
        <a:bodyPr/>
        <a:lstStyle/>
        <a:p>
          <a:endParaRPr lang="en-CA"/>
        </a:p>
      </dgm:t>
    </dgm:pt>
    <dgm:pt modelId="{71F5C4B3-D81A-4E7A-9164-EC07D21CDC4B}">
      <dgm:prSet custT="1"/>
      <dgm:spPr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2390" tIns="72390" rIns="72390" bIns="72390" numCol="1" spcCol="1270" anchor="ctr" anchorCtr="0"/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Practiced building automations that update Excel files stored on OneDrive without manual intervention.</a:t>
          </a:r>
        </a:p>
      </dgm:t>
    </dgm:pt>
    <dgm:pt modelId="{437C4DB3-BA93-45D6-A7C3-D2ABFE22D7EC}" type="parTrans" cxnId="{2393992C-F818-4840-88B4-964786F037AC}">
      <dgm:prSet/>
      <dgm:spPr/>
      <dgm:t>
        <a:bodyPr/>
        <a:lstStyle/>
        <a:p>
          <a:endParaRPr lang="en-CA"/>
        </a:p>
      </dgm:t>
    </dgm:pt>
    <dgm:pt modelId="{CC10726A-CDB9-49BD-823E-75068441A843}" type="sibTrans" cxnId="{2393992C-F818-4840-88B4-964786F037AC}">
      <dgm:prSet/>
      <dgm:spPr/>
      <dgm:t>
        <a:bodyPr/>
        <a:lstStyle/>
        <a:p>
          <a:endParaRPr lang="en-CA"/>
        </a:p>
      </dgm:t>
    </dgm:pt>
    <dgm:pt modelId="{D0CCD457-7D44-40F6-A1E5-BE2FB793C746}" type="pres">
      <dgm:prSet presAssocID="{E375956B-7142-45B3-8DE5-D244F09C1DB8}" presName="linear" presStyleCnt="0">
        <dgm:presLayoutVars>
          <dgm:animLvl val="lvl"/>
          <dgm:resizeHandles val="exact"/>
        </dgm:presLayoutVars>
      </dgm:prSet>
      <dgm:spPr/>
    </dgm:pt>
    <dgm:pt modelId="{1F008D7D-3A69-4F85-9FD3-5284A0F7BAD0}" type="pres">
      <dgm:prSet presAssocID="{0ABCD8D9-4E4F-43E2-988F-D535DD2C693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3BCAD05-1D68-46F3-BAB3-EE366B431738}" type="pres">
      <dgm:prSet presAssocID="{E776E2CF-D042-4E0E-A182-465E71615883}" presName="spacer" presStyleCnt="0"/>
      <dgm:spPr/>
    </dgm:pt>
    <dgm:pt modelId="{00173289-49C6-450E-A7D2-D611A93F56DE}" type="pres">
      <dgm:prSet presAssocID="{5C7B186F-ACE0-4DA7-8769-D96B3A54954F}" presName="parentText" presStyleLbl="node1" presStyleIdx="1" presStyleCnt="5">
        <dgm:presLayoutVars>
          <dgm:chMax val="0"/>
          <dgm:bulletEnabled val="1"/>
        </dgm:presLayoutVars>
      </dgm:prSet>
      <dgm:spPr>
        <a:xfrm>
          <a:off x="0" y="2842932"/>
          <a:ext cx="9827492" cy="556120"/>
        </a:xfrm>
        <a:prstGeom prst="roundRect">
          <a:avLst/>
        </a:prstGeom>
      </dgm:spPr>
    </dgm:pt>
    <dgm:pt modelId="{4A1CF9DD-49CD-42BB-8A25-DEA51E5CBA01}" type="pres">
      <dgm:prSet presAssocID="{1EE8C113-6CE0-4548-9BFB-CF0B882FC15A}" presName="spacer" presStyleCnt="0"/>
      <dgm:spPr/>
    </dgm:pt>
    <dgm:pt modelId="{E967C8AB-0161-42D6-9B98-10F70ABB26E2}" type="pres">
      <dgm:prSet presAssocID="{F41D68F3-5934-401C-8824-EF8A71EA26BC}" presName="parentText" presStyleLbl="node1" presStyleIdx="2" presStyleCnt="5">
        <dgm:presLayoutVars>
          <dgm:chMax val="0"/>
          <dgm:bulletEnabled val="1"/>
        </dgm:presLayoutVars>
      </dgm:prSet>
      <dgm:spPr>
        <a:xfrm>
          <a:off x="0" y="3410616"/>
          <a:ext cx="9827492" cy="556430"/>
        </a:xfrm>
        <a:prstGeom prst="roundRect">
          <a:avLst/>
        </a:prstGeom>
      </dgm:spPr>
    </dgm:pt>
    <dgm:pt modelId="{084149C3-20D9-4860-8519-D1E47AC338F3}" type="pres">
      <dgm:prSet presAssocID="{3DE96A7E-1A7E-419B-BAC2-727ABD1B80A5}" presName="spacer" presStyleCnt="0"/>
      <dgm:spPr/>
    </dgm:pt>
    <dgm:pt modelId="{67683DA9-0826-4BE6-A981-AAF0B36877B9}" type="pres">
      <dgm:prSet presAssocID="{5D49C09A-5984-4404-870B-0D364644C850}" presName="parentText" presStyleLbl="node1" presStyleIdx="3" presStyleCnt="5">
        <dgm:presLayoutVars>
          <dgm:chMax val="0"/>
          <dgm:bulletEnabled val="1"/>
        </dgm:presLayoutVars>
      </dgm:prSet>
      <dgm:spPr>
        <a:xfrm>
          <a:off x="0" y="3978497"/>
          <a:ext cx="9827492" cy="556430"/>
        </a:xfrm>
        <a:prstGeom prst="roundRect">
          <a:avLst/>
        </a:prstGeom>
      </dgm:spPr>
    </dgm:pt>
    <dgm:pt modelId="{074C7F7A-EB9B-400A-9E0C-E4FA280CDDFE}" type="pres">
      <dgm:prSet presAssocID="{F7E6BECA-4E6A-4484-9070-D763D926FD5E}" presName="spacer" presStyleCnt="0"/>
      <dgm:spPr/>
    </dgm:pt>
    <dgm:pt modelId="{EF84F52A-48EB-468D-A210-F593C960B1D2}" type="pres">
      <dgm:prSet presAssocID="{71F5C4B3-D81A-4E7A-9164-EC07D21CDC4B}" presName="parentText" presStyleLbl="node1" presStyleIdx="4" presStyleCnt="5">
        <dgm:presLayoutVars>
          <dgm:chMax val="0"/>
          <dgm:bulletEnabled val="1"/>
        </dgm:presLayoutVars>
      </dgm:prSet>
      <dgm:spPr>
        <a:xfrm>
          <a:off x="0" y="4546377"/>
          <a:ext cx="9827492" cy="556430"/>
        </a:xfrm>
        <a:prstGeom prst="roundRect">
          <a:avLst/>
        </a:prstGeom>
      </dgm:spPr>
    </dgm:pt>
  </dgm:ptLst>
  <dgm:cxnLst>
    <dgm:cxn modelId="{2393992C-F818-4840-88B4-964786F037AC}" srcId="{E375956B-7142-45B3-8DE5-D244F09C1DB8}" destId="{71F5C4B3-D81A-4E7A-9164-EC07D21CDC4B}" srcOrd="4" destOrd="0" parTransId="{437C4DB3-BA93-45D6-A7C3-D2ABFE22D7EC}" sibTransId="{CC10726A-CDB9-49BD-823E-75068441A843}"/>
    <dgm:cxn modelId="{A846C45E-1AED-47C5-92C9-C9D8083A2782}" type="presOf" srcId="{F41D68F3-5934-401C-8824-EF8A71EA26BC}" destId="{E967C8AB-0161-42D6-9B98-10F70ABB26E2}" srcOrd="0" destOrd="0" presId="urn:microsoft.com/office/officeart/2005/8/layout/vList2"/>
    <dgm:cxn modelId="{4D3FC846-0375-4A7F-8C00-07AB2A97C2AB}" type="presOf" srcId="{71F5C4B3-D81A-4E7A-9164-EC07D21CDC4B}" destId="{EF84F52A-48EB-468D-A210-F593C960B1D2}" srcOrd="0" destOrd="0" presId="urn:microsoft.com/office/officeart/2005/8/layout/vList2"/>
    <dgm:cxn modelId="{9F92BD4E-A699-457A-8F87-DF9D68DFB875}" srcId="{E375956B-7142-45B3-8DE5-D244F09C1DB8}" destId="{5D49C09A-5984-4404-870B-0D364644C850}" srcOrd="3" destOrd="0" parTransId="{7DE18EC3-7DEF-4CD8-913F-C7D962125700}" sibTransId="{F7E6BECA-4E6A-4484-9070-D763D926FD5E}"/>
    <dgm:cxn modelId="{35F47751-77FC-4028-9E3B-9D6EC47C135A}" type="presOf" srcId="{0ABCD8D9-4E4F-43E2-988F-D535DD2C693A}" destId="{1F008D7D-3A69-4F85-9FD3-5284A0F7BAD0}" srcOrd="0" destOrd="0" presId="urn:microsoft.com/office/officeart/2005/8/layout/vList2"/>
    <dgm:cxn modelId="{0D710B8C-722D-4ABD-8BAD-82B378D523B3}" srcId="{E375956B-7142-45B3-8DE5-D244F09C1DB8}" destId="{5C7B186F-ACE0-4DA7-8769-D96B3A54954F}" srcOrd="1" destOrd="0" parTransId="{F900BBCC-FAC5-4724-8C05-F35CFE127E78}" sibTransId="{1EE8C113-6CE0-4548-9BFB-CF0B882FC15A}"/>
    <dgm:cxn modelId="{AEE2BD93-689D-48BF-9699-0AB767B3785D}" srcId="{E375956B-7142-45B3-8DE5-D244F09C1DB8}" destId="{0ABCD8D9-4E4F-43E2-988F-D535DD2C693A}" srcOrd="0" destOrd="0" parTransId="{415715B1-3D4E-49EB-B880-CAE967F36BC1}" sibTransId="{E776E2CF-D042-4E0E-A182-465E71615883}"/>
    <dgm:cxn modelId="{2334A0B9-8EDC-47A9-86DA-45A792C8F7A4}" type="presOf" srcId="{E375956B-7142-45B3-8DE5-D244F09C1DB8}" destId="{D0CCD457-7D44-40F6-A1E5-BE2FB793C746}" srcOrd="0" destOrd="0" presId="urn:microsoft.com/office/officeart/2005/8/layout/vList2"/>
    <dgm:cxn modelId="{4DFC52CB-B1E5-4DB3-8B87-B1C07B318E92}" type="presOf" srcId="{5D49C09A-5984-4404-870B-0D364644C850}" destId="{67683DA9-0826-4BE6-A981-AAF0B36877B9}" srcOrd="0" destOrd="0" presId="urn:microsoft.com/office/officeart/2005/8/layout/vList2"/>
    <dgm:cxn modelId="{558002D6-4B7C-4D95-A6A3-28AF715A9057}" type="presOf" srcId="{5C7B186F-ACE0-4DA7-8769-D96B3A54954F}" destId="{00173289-49C6-450E-A7D2-D611A93F56DE}" srcOrd="0" destOrd="0" presId="urn:microsoft.com/office/officeart/2005/8/layout/vList2"/>
    <dgm:cxn modelId="{A7703FF0-B7D3-44CC-BF9E-DF93624963F7}" srcId="{E375956B-7142-45B3-8DE5-D244F09C1DB8}" destId="{F41D68F3-5934-401C-8824-EF8A71EA26BC}" srcOrd="2" destOrd="0" parTransId="{3D1EC6CF-3425-4D98-809D-1048C2E1F3D8}" sibTransId="{3DE96A7E-1A7E-419B-BAC2-727ABD1B80A5}"/>
    <dgm:cxn modelId="{113AD61A-4C6D-491C-9ECF-CB51E095A5A9}" type="presParOf" srcId="{D0CCD457-7D44-40F6-A1E5-BE2FB793C746}" destId="{1F008D7D-3A69-4F85-9FD3-5284A0F7BAD0}" srcOrd="0" destOrd="0" presId="urn:microsoft.com/office/officeart/2005/8/layout/vList2"/>
    <dgm:cxn modelId="{4B976DF0-AF6D-46C3-A0DD-0B5B1C756AFD}" type="presParOf" srcId="{D0CCD457-7D44-40F6-A1E5-BE2FB793C746}" destId="{63BCAD05-1D68-46F3-BAB3-EE366B431738}" srcOrd="1" destOrd="0" presId="urn:microsoft.com/office/officeart/2005/8/layout/vList2"/>
    <dgm:cxn modelId="{1C0886DE-5F60-4C43-BE05-E03069CD00F5}" type="presParOf" srcId="{D0CCD457-7D44-40F6-A1E5-BE2FB793C746}" destId="{00173289-49C6-450E-A7D2-D611A93F56DE}" srcOrd="2" destOrd="0" presId="urn:microsoft.com/office/officeart/2005/8/layout/vList2"/>
    <dgm:cxn modelId="{8373DA9D-39FB-4713-B2D7-DCB865A433C1}" type="presParOf" srcId="{D0CCD457-7D44-40F6-A1E5-BE2FB793C746}" destId="{4A1CF9DD-49CD-42BB-8A25-DEA51E5CBA01}" srcOrd="3" destOrd="0" presId="urn:microsoft.com/office/officeart/2005/8/layout/vList2"/>
    <dgm:cxn modelId="{5A9F1CD4-9557-4D64-935E-D9462C2FD211}" type="presParOf" srcId="{D0CCD457-7D44-40F6-A1E5-BE2FB793C746}" destId="{E967C8AB-0161-42D6-9B98-10F70ABB26E2}" srcOrd="4" destOrd="0" presId="urn:microsoft.com/office/officeart/2005/8/layout/vList2"/>
    <dgm:cxn modelId="{8CE4DC38-D81A-4A4A-A588-76613140527F}" type="presParOf" srcId="{D0CCD457-7D44-40F6-A1E5-BE2FB793C746}" destId="{084149C3-20D9-4860-8519-D1E47AC338F3}" srcOrd="5" destOrd="0" presId="urn:microsoft.com/office/officeart/2005/8/layout/vList2"/>
    <dgm:cxn modelId="{90C3EEE2-1D06-4B8A-A220-88DA91EFF5A1}" type="presParOf" srcId="{D0CCD457-7D44-40F6-A1E5-BE2FB793C746}" destId="{67683DA9-0826-4BE6-A981-AAF0B36877B9}" srcOrd="6" destOrd="0" presId="urn:microsoft.com/office/officeart/2005/8/layout/vList2"/>
    <dgm:cxn modelId="{E9085263-8238-4B90-9C60-8D27422FBF6E}" type="presParOf" srcId="{D0CCD457-7D44-40F6-A1E5-BE2FB793C746}" destId="{074C7F7A-EB9B-400A-9E0C-E4FA280CDDFE}" srcOrd="7" destOrd="0" presId="urn:microsoft.com/office/officeart/2005/8/layout/vList2"/>
    <dgm:cxn modelId="{02688B5F-4B68-4AC4-83FE-9F269136D875}" type="presParOf" srcId="{D0CCD457-7D44-40F6-A1E5-BE2FB793C746}" destId="{EF84F52A-48EB-468D-A210-F593C960B1D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58E55-37DC-4859-9ABB-EFE02DEEEF05}">
      <dsp:nvSpPr>
        <dsp:cNvPr id="0" name=""/>
        <dsp:cNvSpPr/>
      </dsp:nvSpPr>
      <dsp:spPr>
        <a:xfrm>
          <a:off x="0" y="46733"/>
          <a:ext cx="3137876" cy="1882725"/>
        </a:xfrm>
        <a:prstGeom prst="rect">
          <a:avLst/>
        </a:prstGeom>
        <a:solidFill>
          <a:srgbClr val="0C1752"/>
        </a:solidFill>
        <a:ln w="12700" cap="flat" cmpd="sng" algn="ctr">
          <a:solidFill>
            <a:srgbClr val="0C175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  <a:cs typeface="Mongolian Baiti" panose="03000500000000000000" pitchFamily="66" charset="0"/>
            </a:rPr>
            <a:t>Build an Autonomous AI agent in Copilot Studio.</a:t>
          </a:r>
        </a:p>
      </dsp:txBody>
      <dsp:txXfrm>
        <a:off x="0" y="46733"/>
        <a:ext cx="3137876" cy="1882725"/>
      </dsp:txXfrm>
    </dsp:sp>
    <dsp:sp modelId="{BE73B1EC-B7E1-4848-84E7-7115730A32AA}">
      <dsp:nvSpPr>
        <dsp:cNvPr id="0" name=""/>
        <dsp:cNvSpPr/>
      </dsp:nvSpPr>
      <dsp:spPr>
        <a:xfrm>
          <a:off x="3451664" y="46733"/>
          <a:ext cx="3137876" cy="1882725"/>
        </a:xfrm>
        <a:prstGeom prst="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 how to connect multiple Microsoft 365 tools (Excel, Outlook, Forms) to the Agent. </a:t>
          </a:r>
        </a:p>
      </dsp:txBody>
      <dsp:txXfrm>
        <a:off x="3451664" y="46733"/>
        <a:ext cx="3137876" cy="1882725"/>
      </dsp:txXfrm>
    </dsp:sp>
    <dsp:sp modelId="{66FD1FEE-6916-469C-AC20-5281BA353382}">
      <dsp:nvSpPr>
        <dsp:cNvPr id="0" name=""/>
        <dsp:cNvSpPr/>
      </dsp:nvSpPr>
      <dsp:spPr>
        <a:xfrm>
          <a:off x="6903328" y="46733"/>
          <a:ext cx="3137876" cy="1882725"/>
        </a:xfrm>
        <a:prstGeom prst="rect">
          <a:avLst/>
        </a:prstGeom>
        <a:solidFill>
          <a:schemeClr val="tx1">
            <a:lumMod val="50000"/>
            <a:lumOff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Master how to add advanced instructions to the agent with tool reference. </a:t>
          </a:r>
        </a:p>
      </dsp:txBody>
      <dsp:txXfrm>
        <a:off x="6903328" y="46733"/>
        <a:ext cx="3137876" cy="1882725"/>
      </dsp:txXfrm>
    </dsp:sp>
    <dsp:sp modelId="{6252F9F4-D0DC-4D13-9592-F953C7F49611}">
      <dsp:nvSpPr>
        <dsp:cNvPr id="0" name=""/>
        <dsp:cNvSpPr/>
      </dsp:nvSpPr>
      <dsp:spPr>
        <a:xfrm>
          <a:off x="0" y="2243246"/>
          <a:ext cx="3137876" cy="1882725"/>
        </a:xfrm>
        <a:prstGeom prst="rect">
          <a:avLst/>
        </a:prstGeom>
        <a:solidFill>
          <a:srgbClr val="11CCDD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Montserrat" panose="00000500000000000000" pitchFamily="2" charset="0"/>
            </a:rPr>
            <a:t>Automate drafting and sending emails with Copilot Studio</a:t>
          </a:r>
          <a:endParaRPr lang="en-CA" sz="1800" kern="1200" dirty="0">
            <a:latin typeface="Montserrat" panose="00000500000000000000" pitchFamily="2" charset="0"/>
          </a:endParaRPr>
        </a:p>
      </dsp:txBody>
      <dsp:txXfrm>
        <a:off x="0" y="2243246"/>
        <a:ext cx="3137876" cy="1882725"/>
      </dsp:txXfrm>
    </dsp:sp>
    <dsp:sp modelId="{22AE5A2B-7540-4FDD-87BF-1494829FA0CB}">
      <dsp:nvSpPr>
        <dsp:cNvPr id="0" name=""/>
        <dsp:cNvSpPr/>
      </dsp:nvSpPr>
      <dsp:spPr>
        <a:xfrm>
          <a:off x="3451664" y="2243246"/>
          <a:ext cx="3137876" cy="1882725"/>
        </a:xfrm>
        <a:prstGeom prst="rect">
          <a:avLst/>
        </a:prstGeom>
        <a:solidFill>
          <a:srgbClr val="0C175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>
              <a:latin typeface="Montserrat" panose="00000500000000000000" pitchFamily="2" charset="0"/>
            </a:rPr>
            <a:t>Automate updating excel sheets available on OneDrive.</a:t>
          </a:r>
        </a:p>
      </dsp:txBody>
      <dsp:txXfrm>
        <a:off x="3451664" y="2243246"/>
        <a:ext cx="3137876" cy="1882725"/>
      </dsp:txXfrm>
    </dsp:sp>
    <dsp:sp modelId="{4839296E-99F6-409C-9812-EB9BABB57165}">
      <dsp:nvSpPr>
        <dsp:cNvPr id="0" name=""/>
        <dsp:cNvSpPr/>
      </dsp:nvSpPr>
      <dsp:spPr>
        <a:xfrm>
          <a:off x="6903328" y="2243246"/>
          <a:ext cx="3137876" cy="1882725"/>
        </a:xfrm>
        <a:prstGeom prst="rect">
          <a:avLst/>
        </a:prstGeom>
        <a:solidFill>
          <a:srgbClr val="D56E48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Montserrat" panose="00000500000000000000" pitchFamily="2" charset="0"/>
            </a:rPr>
            <a:t>Build an end-to-end AI Automation workflows without human intervention.</a:t>
          </a:r>
          <a:endParaRPr lang="en-CA" sz="1800" kern="1200" dirty="0">
            <a:latin typeface="Montserrat" panose="00000500000000000000" pitchFamily="2" charset="0"/>
          </a:endParaRPr>
        </a:p>
      </dsp:txBody>
      <dsp:txXfrm>
        <a:off x="6903328" y="2243246"/>
        <a:ext cx="3137876" cy="1882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008D7D-3A69-4F85-9FD3-5284A0F7BAD0}">
      <dsp:nvSpPr>
        <dsp:cNvPr id="0" name=""/>
        <dsp:cNvSpPr/>
      </dsp:nvSpPr>
      <dsp:spPr>
        <a:xfrm>
          <a:off x="0" y="5080"/>
          <a:ext cx="9587240" cy="8611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latin typeface="Montserrat" panose="00000500000000000000" pitchFamily="2" charset="0"/>
            </a:rPr>
            <a:t>Gained hands-on experience building a fully autonomous AI agent inside Copilot Studio.</a:t>
          </a:r>
          <a:endParaRPr lang="en-US" sz="1700" b="0" kern="1200" dirty="0">
            <a:solidFill>
              <a:prstClr val="white"/>
            </a:solidFill>
            <a:latin typeface="Montserrat" panose="00000500000000000000" pitchFamily="2" charset="0"/>
            <a:ea typeface="+mn-ea"/>
            <a:cs typeface="+mn-cs"/>
          </a:endParaRPr>
        </a:p>
      </dsp:txBody>
      <dsp:txXfrm>
        <a:off x="42036" y="47116"/>
        <a:ext cx="9503168" cy="777048"/>
      </dsp:txXfrm>
    </dsp:sp>
    <dsp:sp modelId="{00173289-49C6-450E-A7D2-D611A93F56DE}">
      <dsp:nvSpPr>
        <dsp:cNvPr id="0" name=""/>
        <dsp:cNvSpPr/>
      </dsp:nvSpPr>
      <dsp:spPr>
        <a:xfrm>
          <a:off x="0" y="998680"/>
          <a:ext cx="9587240" cy="8611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Learned how to connect multiple Microsoft 365 tools (Excel Online, Outlook, Forms) to create multi-step, cross-app automations.</a:t>
          </a:r>
        </a:p>
      </dsp:txBody>
      <dsp:txXfrm>
        <a:off x="42036" y="1040716"/>
        <a:ext cx="9503168" cy="777048"/>
      </dsp:txXfrm>
    </dsp:sp>
    <dsp:sp modelId="{E967C8AB-0161-42D6-9B98-10F70ABB26E2}">
      <dsp:nvSpPr>
        <dsp:cNvPr id="0" name=""/>
        <dsp:cNvSpPr/>
      </dsp:nvSpPr>
      <dsp:spPr>
        <a:xfrm>
          <a:off x="0" y="1992280"/>
          <a:ext cx="9587240" cy="8611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Understood how to write advanced instructions using tool references to control the agent’s </a:t>
          </a:r>
          <a:r>
            <a:rPr lang="en-US" sz="1700" b="0" kern="1200" dirty="0" err="1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behaviour</a:t>
          </a: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 with precision.</a:t>
          </a:r>
        </a:p>
      </dsp:txBody>
      <dsp:txXfrm>
        <a:off x="42036" y="2034316"/>
        <a:ext cx="9503168" cy="777048"/>
      </dsp:txXfrm>
    </dsp:sp>
    <dsp:sp modelId="{67683DA9-0826-4BE6-A981-AAF0B36877B9}">
      <dsp:nvSpPr>
        <dsp:cNvPr id="0" name=""/>
        <dsp:cNvSpPr/>
      </dsp:nvSpPr>
      <dsp:spPr>
        <a:xfrm>
          <a:off x="0" y="2985881"/>
          <a:ext cx="9587240" cy="8611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Explored how to automate drafting and sending emails using Copilot Studio workflows.</a:t>
          </a:r>
        </a:p>
      </dsp:txBody>
      <dsp:txXfrm>
        <a:off x="42036" y="3027917"/>
        <a:ext cx="9503168" cy="777048"/>
      </dsp:txXfrm>
    </dsp:sp>
    <dsp:sp modelId="{EF84F52A-48EB-468D-A210-F593C960B1D2}">
      <dsp:nvSpPr>
        <dsp:cNvPr id="0" name=""/>
        <dsp:cNvSpPr/>
      </dsp:nvSpPr>
      <dsp:spPr>
        <a:xfrm>
          <a:off x="0" y="3979481"/>
          <a:ext cx="9587240" cy="861120"/>
        </a:xfrm>
        <a:prstGeom prst="roundRect">
          <a:avLst/>
        </a:prstGeom>
        <a:solidFill>
          <a:srgbClr val="D56E48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>
              <a:solidFill>
                <a:prstClr val="white"/>
              </a:solidFill>
              <a:latin typeface="Montserrat" panose="00000500000000000000" pitchFamily="2" charset="0"/>
              <a:ea typeface="+mn-ea"/>
              <a:cs typeface="+mn-cs"/>
            </a:rPr>
            <a:t>Practiced building automations that update Excel files stored on OneDrive without manual intervention.</a:t>
          </a:r>
        </a:p>
      </dsp:txBody>
      <dsp:txXfrm>
        <a:off x="42036" y="4021517"/>
        <a:ext cx="9503168" cy="7770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6.png"/><Relationship Id="rId9" Type="http://schemas.microsoft.com/office/2007/relationships/diagramDrawing" Target="../diagrams/drawing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134842" y="490801"/>
            <a:ext cx="480863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BUILD A SINGLE AUTONOMOUS AI AGENT IN COPILOT STUDIO</a:t>
            </a:r>
            <a:endParaRPr lang="en-US" sz="3200" b="1" dirty="0">
              <a:solidFill>
                <a:schemeClr val="bg1"/>
              </a:solidFill>
              <a:latin typeface="Montserrat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711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9B9B-E2B4-D0E3-4656-E6F700518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F0B83B-C5A8-E0C4-77C4-95EED0BD9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9A778-13FA-7646-FC26-70569098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20B4547-76A8-D5C9-52EC-A0626E701E3B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Project Overview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6D56BF-CBDD-F0E2-1F12-7693390612A5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CBDCE8-54B3-A7B8-91C2-00217FD0BD00}"/>
              </a:ext>
            </a:extLst>
          </p:cNvPr>
          <p:cNvSpPr txBox="1"/>
          <p:nvPr/>
        </p:nvSpPr>
        <p:spPr>
          <a:xfrm>
            <a:off x="722168" y="692498"/>
            <a:ext cx="11167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algn="ctr">
              <a:defRPr sz="2000" b="0">
                <a:solidFill>
                  <a:srgbClr val="D56E48"/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878A1027-1295-41F0-3DDF-D48F9C0B1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4763DA9-D610-9F3A-2C37-51483C6592FE}"/>
              </a:ext>
            </a:extLst>
          </p:cNvPr>
          <p:cNvSpPr/>
          <p:nvPr/>
        </p:nvSpPr>
        <p:spPr>
          <a:xfrm>
            <a:off x="3236684" y="4864869"/>
            <a:ext cx="2219851" cy="1057127"/>
          </a:xfrm>
          <a:prstGeom prst="round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000" i="1" dirty="0">
                <a:latin typeface="Montserrat" panose="00000500000000000000" pitchFamily="2" charset="0"/>
              </a:rPr>
              <a:t>Autonomous AI Agent</a:t>
            </a:r>
            <a:endParaRPr lang="en-CA" sz="1400" i="1" dirty="0">
              <a:latin typeface="Montserrat" panose="00000500000000000000" pitchFamily="2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CCB5E1A-F6AD-5ACA-3F2F-13EACE7FD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45" t="12909" r="14985" b="14724"/>
          <a:stretch>
            <a:fillRect/>
          </a:stretch>
        </p:blipFill>
        <p:spPr>
          <a:xfrm>
            <a:off x="3137483" y="3299862"/>
            <a:ext cx="2219850" cy="1502248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CD7CB59-F0FA-8D8D-37AF-9E68A2F628E4}"/>
              </a:ext>
            </a:extLst>
          </p:cNvPr>
          <p:cNvCxnSpPr>
            <a:cxnSpLocks/>
          </p:cNvCxnSpPr>
          <p:nvPr/>
        </p:nvCxnSpPr>
        <p:spPr>
          <a:xfrm>
            <a:off x="2584080" y="5382945"/>
            <a:ext cx="621706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12D87CD5-66A0-000E-34F3-775E9CDF36DD}"/>
              </a:ext>
            </a:extLst>
          </p:cNvPr>
          <p:cNvSpPr txBox="1"/>
          <p:nvPr/>
        </p:nvSpPr>
        <p:spPr>
          <a:xfrm>
            <a:off x="628996" y="2937965"/>
            <a:ext cx="1358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b="1" i="1" dirty="0">
                <a:latin typeface="Montserrat" panose="00000500000000000000" pitchFamily="2" charset="0"/>
              </a:rPr>
              <a:t>Trigger</a:t>
            </a:r>
            <a:endParaRPr lang="en-CA" sz="1400" b="1" i="1" dirty="0">
              <a:latin typeface="Montserrat" panose="00000500000000000000" pitchFamily="2" charset="0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C848BB8-F999-724E-C436-20B534793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803" y="1108396"/>
            <a:ext cx="4331810" cy="148182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57529F04-C876-D3FE-A344-75A4DF8EE4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718" y="3429000"/>
            <a:ext cx="2219850" cy="321902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C8D2ADE-17D0-BC02-999B-DF5DDE1CCFE6}"/>
              </a:ext>
            </a:extLst>
          </p:cNvPr>
          <p:cNvCxnSpPr>
            <a:cxnSpLocks/>
          </p:cNvCxnSpPr>
          <p:nvPr/>
        </p:nvCxnSpPr>
        <p:spPr>
          <a:xfrm flipV="1">
            <a:off x="3644038" y="2611553"/>
            <a:ext cx="0" cy="73079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C605153-5F42-0456-29E1-40284FEA34CC}"/>
              </a:ext>
            </a:extLst>
          </p:cNvPr>
          <p:cNvCxnSpPr>
            <a:cxnSpLocks/>
          </p:cNvCxnSpPr>
          <p:nvPr/>
        </p:nvCxnSpPr>
        <p:spPr>
          <a:xfrm>
            <a:off x="4712389" y="2669843"/>
            <a:ext cx="0" cy="67250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8C12CB8-9082-0287-8843-E3EEA46DACAB}"/>
              </a:ext>
            </a:extLst>
          </p:cNvPr>
          <p:cNvCxnSpPr>
            <a:cxnSpLocks/>
          </p:cNvCxnSpPr>
          <p:nvPr/>
        </p:nvCxnSpPr>
        <p:spPr>
          <a:xfrm flipV="1">
            <a:off x="5484497" y="3317203"/>
            <a:ext cx="1651659" cy="1525067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38D5E0A-5B40-0854-1803-9B83B8923B93}"/>
              </a:ext>
            </a:extLst>
          </p:cNvPr>
          <p:cNvCxnSpPr>
            <a:cxnSpLocks/>
          </p:cNvCxnSpPr>
          <p:nvPr/>
        </p:nvCxnSpPr>
        <p:spPr>
          <a:xfrm>
            <a:off x="5525458" y="5359044"/>
            <a:ext cx="618217" cy="0"/>
          </a:xfrm>
          <a:prstGeom prst="straightConnector1">
            <a:avLst/>
          </a:prstGeom>
          <a:ln w="57150">
            <a:solidFill>
              <a:srgbClr val="D56E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icrosoft Forms - Free download and install on Windows | Microsoft Store">
            <a:extLst>
              <a:ext uri="{FF2B5EF4-FFF2-40B4-BE49-F238E27FC236}">
                <a16:creationId xmlns:a16="http://schemas.microsoft.com/office/drawing/2014/main" id="{E7FFCB01-8258-F809-C97D-15FFB00B0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5049" y="2771988"/>
            <a:ext cx="1203316" cy="120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-Excel Vector Icons free download in SVG, PNG Format">
            <a:extLst>
              <a:ext uri="{FF2B5EF4-FFF2-40B4-BE49-F238E27FC236}">
                <a16:creationId xmlns:a16="http://schemas.microsoft.com/office/drawing/2014/main" id="{BD1BB1B9-B706-AF0D-B963-FFC6D40487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3159" y="579136"/>
            <a:ext cx="971806" cy="97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4" descr="Microsoft-Excel Vector Icons free download in SVG, PNG Format">
            <a:extLst>
              <a:ext uri="{FF2B5EF4-FFF2-40B4-BE49-F238E27FC236}">
                <a16:creationId xmlns:a16="http://schemas.microsoft.com/office/drawing/2014/main" id="{AB8ABDBF-84AD-1AE8-34AB-8052BE1E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2179" y="3747792"/>
            <a:ext cx="1004280" cy="100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47AEFE2-798A-1311-FF29-729EB52BA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8443" y="734213"/>
            <a:ext cx="933236" cy="8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DCAF6A0B-8D04-58D5-787C-9D48BDE22A0B}"/>
              </a:ext>
            </a:extLst>
          </p:cNvPr>
          <p:cNvSpPr txBox="1"/>
          <p:nvPr/>
        </p:nvSpPr>
        <p:spPr>
          <a:xfrm>
            <a:off x="2702113" y="662215"/>
            <a:ext cx="1883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dirty="0"/>
              <a:t>Tutors List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AB19D38-9F45-CD88-20AA-CC6E018483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41041" y="1436203"/>
            <a:ext cx="2773367" cy="2832555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1C1B058-F237-288E-DA55-30D48552414B}"/>
              </a:ext>
            </a:extLst>
          </p:cNvPr>
          <p:cNvSpPr txBox="1"/>
          <p:nvPr/>
        </p:nvSpPr>
        <p:spPr>
          <a:xfrm>
            <a:off x="7243461" y="1036093"/>
            <a:ext cx="3073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dirty="0"/>
              <a:t>Draft/Send Email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EFE8FE0-9A3D-43E3-6E71-1639C62E7D00}"/>
              </a:ext>
            </a:extLst>
          </p:cNvPr>
          <p:cNvSpPr txBox="1"/>
          <p:nvPr/>
        </p:nvSpPr>
        <p:spPr>
          <a:xfrm>
            <a:off x="6644217" y="4363905"/>
            <a:ext cx="4057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 b="1" i="1">
                <a:latin typeface="Montserrat" panose="00000500000000000000" pitchFamily="2" charset="0"/>
              </a:defRPr>
            </a:lvl1pPr>
          </a:lstStyle>
          <a:p>
            <a:r>
              <a:rPr lang="en-CA" dirty="0"/>
              <a:t>Customers &amp; Tutors Log</a:t>
            </a: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97A6CE23-96B7-A033-1CD7-397B352DAA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2598" y="4769232"/>
            <a:ext cx="5194300" cy="149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5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9" grpId="0"/>
      <p:bldP spid="67" grpId="0"/>
      <p:bldP spid="72" grpId="0"/>
      <p:bldP spid="7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259A-CD2C-0446-CFDB-7C77F895E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63B532-B70B-27B1-177A-CB748A1AE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EB8891-9091-D8AE-274C-311260BA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ED59B6F3-FE94-D3AD-FBDF-FCCA6423DC8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Key Learning Outcomes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A16CE7-2A01-E640-0FE1-E69B0F92F97D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773C611-BA6D-FC93-DE06-38892BF0DB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6144739"/>
              </p:ext>
            </p:extLst>
          </p:nvPr>
        </p:nvGraphicFramePr>
        <p:xfrm>
          <a:off x="97572" y="1001251"/>
          <a:ext cx="10041205" cy="4172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D0D5BC5-AA51-6124-3A42-ADDC656CF4D1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82214" y="642643"/>
            <a:ext cx="1853533" cy="187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13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1B558E55-37DC-4859-9ABB-EFE02DEEEF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BE73B1EC-B7E1-4848-84E7-7115730A3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66FD1FEE-6916-469C-AC20-5281BA3533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graphicEl>
                                              <a:dgm id="{6252F9F4-D0DC-4D13-9592-F953C7F4961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2AE5A2B-7540-4FDD-87BF-1494829FA0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22AE5A2B-7540-4FDD-87BF-1494829FA0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839296E-99F6-409C-9812-EB9BABB57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graphicEl>
                                              <a:dgm id="{4839296E-99F6-409C-9812-EB9BABB571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DCD9D-B92B-5E1A-D56D-A121B486E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576406-FC6B-3E24-5D7A-5AF783E7B1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0E6C6B-0420-30EF-0BB5-821627AF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77F8068-005D-5880-1F2A-CA8E19DBA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3B772B-8079-F124-FF0E-60F464B186A7}"/>
              </a:ext>
            </a:extLst>
          </p:cNvPr>
          <p:cNvSpPr txBox="1"/>
          <p:nvPr/>
        </p:nvSpPr>
        <p:spPr>
          <a:xfrm>
            <a:off x="550506" y="536130"/>
            <a:ext cx="5240694" cy="132343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defRPr>
            </a:lvl1pPr>
          </a:lstStyle>
          <a:p>
            <a:r>
              <a:rPr lang="en-US" dirty="0"/>
              <a:t>PRACTICE OPPORTUNITY</a:t>
            </a:r>
          </a:p>
        </p:txBody>
      </p:sp>
    </p:spTree>
    <p:extLst>
      <p:ext uri="{BB962C8B-B14F-4D97-AF65-F5344CB8AC3E}">
        <p14:creationId xmlns:p14="http://schemas.microsoft.com/office/powerpoint/2010/main" val="2452095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E9F8B-3995-2541-B522-ACD01DC51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6A320-CE52-2909-E074-0EB5A97BB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6876FB-685E-FF03-6CB9-3B0465D7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7E617C-A886-6F3F-C316-7FF56B35A94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D1E80A-F878-9C87-1177-31350D9A9E1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375FC-F3BA-DE02-2696-02DC402E72DD}"/>
              </a:ext>
            </a:extLst>
          </p:cNvPr>
          <p:cNvSpPr txBox="1"/>
          <p:nvPr/>
        </p:nvSpPr>
        <p:spPr>
          <a:xfrm>
            <a:off x="616952" y="816543"/>
            <a:ext cx="8601694" cy="5854765"/>
          </a:xfrm>
          <a:prstGeom prst="rect">
            <a:avLst/>
          </a:prstGeom>
        </p:spPr>
        <p:txBody>
          <a:bodyPr vert="horz" lIns="60960" tIns="30480" rIns="60960" bIns="30480" rtlCol="0">
            <a:noAutofit/>
          </a:bodyPr>
          <a:lstStyle>
            <a:defPPr>
              <a:defRPr lang="en-US"/>
            </a:defPPr>
            <a:lvl1pPr marL="342900" indent="-342900">
              <a:lnSpc>
                <a:spcPct val="100000"/>
              </a:lnSpc>
              <a:spcBef>
                <a:spcPts val="1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600" b="1"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1114425" lvl="1" indent="-42862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6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7145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24003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3086100" indent="-342900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3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37719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6pPr>
            <a:lvl7pPr marL="44577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7pPr>
            <a:lvl8pPr marL="51435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8pPr>
            <a:lvl9pPr marL="5829300" indent="-3429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lang="en-US" sz="1200" b="0" dirty="0">
                <a:latin typeface="Montserrat" panose="00000500000000000000" pitchFamily="2" charset="0"/>
              </a:rPr>
              <a:t>In this exercise, you’ll enhance the </a:t>
            </a:r>
            <a:r>
              <a:rPr lang="en-US" sz="1200" b="0" dirty="0" err="1">
                <a:latin typeface="Montserrat" panose="00000500000000000000" pitchFamily="2" charset="0"/>
              </a:rPr>
              <a:t>Stemplicity</a:t>
            </a:r>
            <a:r>
              <a:rPr lang="en-US" sz="1200" b="0" dirty="0">
                <a:latin typeface="Montserrat" panose="00000500000000000000" pitchFamily="2" charset="0"/>
              </a:rPr>
              <a:t> Student Intake Agent by adding a Microsoft Teams notification step. Your goal is to ensure that whenever a new student submits their information, the instructor is instantly notified inside Teams.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200" dirty="0">
                <a:latin typeface="Montserrat" panose="00000500000000000000" pitchFamily="2" charset="0"/>
              </a:rPr>
              <a:t>Your Tasks</a:t>
            </a:r>
          </a:p>
          <a:p>
            <a:pPr>
              <a:spcAft>
                <a:spcPts val="0"/>
              </a:spcAft>
            </a:pPr>
            <a:r>
              <a:rPr lang="en-US" sz="1200" dirty="0">
                <a:latin typeface="Montserrat" panose="00000500000000000000" pitchFamily="2" charset="0"/>
              </a:rPr>
              <a:t>Create a New Tool: </a:t>
            </a:r>
            <a:r>
              <a:rPr lang="en-US" sz="1200" b="0" dirty="0">
                <a:latin typeface="Montserrat" panose="00000500000000000000" pitchFamily="2" charset="0"/>
              </a:rPr>
              <a:t>Define a tool named “Post message in a chat or channel.” &amp; configure it to post a message to a Teams chat or channel of your choice.</a:t>
            </a:r>
          </a:p>
          <a:p>
            <a:pPr>
              <a:spcAft>
                <a:spcPts val="0"/>
              </a:spcAft>
            </a:pPr>
            <a:r>
              <a:rPr lang="en-US" sz="1200" dirty="0">
                <a:latin typeface="Montserrat" panose="00000500000000000000" pitchFamily="2" charset="0"/>
              </a:rPr>
              <a:t>Update the Agent Instructions: </a:t>
            </a:r>
            <a:r>
              <a:rPr lang="en-US" sz="1200" b="0" dirty="0">
                <a:latin typeface="Montserrat" panose="00000500000000000000" pitchFamily="2" charset="0"/>
              </a:rPr>
              <a:t>Modify the agent’s system instructions so it knows when and how to use this tool. Ensure the agent includes the student’s name and program of interest in the Teams message.</a:t>
            </a:r>
          </a:p>
          <a:p>
            <a:pPr>
              <a:spcAft>
                <a:spcPts val="0"/>
              </a:spcAft>
            </a:pPr>
            <a:r>
              <a:rPr lang="en-US" sz="1200" dirty="0">
                <a:latin typeface="Montserrat" panose="00000500000000000000" pitchFamily="2" charset="0"/>
              </a:rPr>
              <a:t>Integrate the Tool Into the Workflow: </a:t>
            </a:r>
            <a:r>
              <a:rPr lang="en-US" sz="1200" b="0" dirty="0">
                <a:latin typeface="Montserrat" panose="00000500000000000000" pitchFamily="2" charset="0"/>
              </a:rPr>
              <a:t>Update the Student Intake flow so that after collecting form inputs, the agent triggers the Teams notification tool.</a:t>
            </a:r>
          </a:p>
          <a:p>
            <a:pPr>
              <a:spcAft>
                <a:spcPts val="0"/>
              </a:spcAft>
            </a:pPr>
            <a:r>
              <a:rPr lang="en-US" sz="1200" dirty="0">
                <a:latin typeface="Montserrat" panose="00000500000000000000" pitchFamily="2" charset="0"/>
              </a:rPr>
              <a:t>Test Your Workflow: </a:t>
            </a:r>
            <a:r>
              <a:rPr lang="en-US" sz="1200" b="0" dirty="0">
                <a:latin typeface="Montserrat" panose="00000500000000000000" pitchFamily="2" charset="0"/>
              </a:rPr>
              <a:t>Simulate a new student submission and confirm that (1) the agent processes the intake successfully, (2) A Teams message is automatically sent to the instructor, (3) The message contains the correct student details</a:t>
            </a:r>
          </a:p>
          <a:p>
            <a:pPr marL="228611" indent="-228611" defTabSz="914446" fontAlgn="base">
              <a:spcBef>
                <a:spcPts val="1000"/>
              </a:spcBef>
              <a:spcAft>
                <a:spcPts val="0"/>
              </a:spcAft>
            </a:pPr>
            <a:endParaRPr lang="en-US" sz="900" b="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65F421-6CE5-1938-172B-83FE0D31FE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1848" y="1322461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83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2467-E145-B67A-BF13-C95EE53A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7A9DFD-09B7-5AC9-8D0A-EF36762F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67E430-BF7D-A1F2-0469-BD0BFD5FEF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189C82F-8381-C4F2-82DF-83DAF8BA5A56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 Solution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B5F4A-4BC8-1B53-7D1E-CF832CAA231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6B6C29-1838-25E9-F5BD-56C374757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4942" y="642643"/>
            <a:ext cx="3060152" cy="2421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429326-D6A4-CA4E-033C-DB7ACC505F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31" y="965007"/>
            <a:ext cx="7603376" cy="43958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E00955-B0A8-6DD0-36B2-78FBF474AA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053" y="3064107"/>
            <a:ext cx="5604424" cy="349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731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F6620-3831-B9AB-F1DB-0BA10580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EDF9A-6011-907E-EE5A-ED2477CCD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7B1850-35E4-3ECF-0670-4767056A52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10DEBF56-6EE6-076C-102C-4FD41140BA11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D3E14-E341-6833-1EBF-896296E335D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7600C-84B4-C578-295E-23C9DFFC5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2214" y="747533"/>
            <a:ext cx="1924946" cy="1903870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04D8008-416A-3257-C658-8D212E939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3851607"/>
              </p:ext>
            </p:extLst>
          </p:nvPr>
        </p:nvGraphicFramePr>
        <p:xfrm>
          <a:off x="284840" y="1311004"/>
          <a:ext cx="9587240" cy="4845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4063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1F008D7D-3A69-4F85-9FD3-5284A0F7BA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1F008D7D-3A69-4F85-9FD3-5284A0F7BA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0173289-49C6-450E-A7D2-D611A93F5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00173289-49C6-450E-A7D2-D611A93F56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967C8AB-0161-42D6-9B98-10F70ABB26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E967C8AB-0161-42D6-9B98-10F70ABB26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67683DA9-0826-4BE6-A981-AAF0B36877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graphicEl>
                                              <a:dgm id="{67683DA9-0826-4BE6-A981-AAF0B36877B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EF84F52A-48EB-468D-A210-F593C960B1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EF84F52A-48EB-468D-A210-F593C960B1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 uiExpand="1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8949</TotalTime>
  <Words>438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535</cp:revision>
  <dcterms:created xsi:type="dcterms:W3CDTF">2019-11-18T17:58:36Z</dcterms:created>
  <dcterms:modified xsi:type="dcterms:W3CDTF">2025-11-29T21:02:35Z</dcterms:modified>
</cp:coreProperties>
</file>