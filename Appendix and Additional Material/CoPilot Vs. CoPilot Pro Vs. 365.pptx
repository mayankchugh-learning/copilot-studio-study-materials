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4207" r:id="rId2"/>
    <p:sldId id="4215" r:id="rId3"/>
    <p:sldId id="4199" r:id="rId4"/>
    <p:sldId id="4209" r:id="rId5"/>
    <p:sldId id="4216" r:id="rId6"/>
    <p:sldId id="277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6E48"/>
    <a:srgbClr val="0C1752"/>
    <a:srgbClr val="F9F9F9"/>
    <a:srgbClr val="11CCDD"/>
    <a:srgbClr val="1BBFD1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48" autoAdjust="0"/>
    <p:restoredTop sz="94721"/>
  </p:normalViewPr>
  <p:slideViewPr>
    <p:cSldViewPr snapToGrid="0" snapToObjects="1">
      <p:cViewPr varScale="1">
        <p:scale>
          <a:sx n="111" d="100"/>
          <a:sy n="111" d="100"/>
        </p:scale>
        <p:origin x="390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icrosoft.com/en-ca/store/b/copilotpr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9E1D2-9622-BC71-CCE2-7FDA2C6A0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4764EE-06DF-E5BD-F3F9-5FCD0A50165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555E73-AAD5-E137-3D10-57582957C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C611DC1-405F-11BD-0FEA-DC5BB28DE81A}"/>
              </a:ext>
            </a:extLst>
          </p:cNvPr>
          <p:cNvSpPr/>
          <p:nvPr/>
        </p:nvSpPr>
        <p:spPr>
          <a:xfrm>
            <a:off x="293914" y="793804"/>
            <a:ext cx="647056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MICROSOFT </a:t>
            </a:r>
            <a:r>
              <a:rPr lang="en-US" sz="4000" b="1" dirty="0">
                <a:solidFill>
                  <a:schemeClr val="bg1"/>
                </a:solidFill>
                <a:latin typeface="Montserrat" charset="0"/>
              </a:rPr>
              <a:t>COPILOT Vs. COPILOT PRO Vs. MICROSOFT 365 COPILOT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CAC04-71CB-B302-6DFD-251F5551B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53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405A-276A-563E-1865-4221BCC0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70500A-A967-9677-24D8-32B582278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1A3863-7C88-85D1-98AD-68B38AAE72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F31238F-405C-2158-5214-6CB638EB5FB4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Microsoft CoPilot? (Free)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1EB22-0CA1-5AC7-4624-A5CFAD44895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3111009C-FD32-BF5E-4947-E280CDB3B762}"/>
              </a:ext>
            </a:extLst>
          </p:cNvPr>
          <p:cNvSpPr txBox="1">
            <a:spLocks/>
          </p:cNvSpPr>
          <p:nvPr/>
        </p:nvSpPr>
        <p:spPr>
          <a:xfrm>
            <a:off x="306242" y="844867"/>
            <a:ext cx="11092585" cy="3644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Microsoft Copilot is a free AI service that brings ChatGPT technology to the masses. </a:t>
            </a:r>
          </a:p>
          <a:p>
            <a:r>
              <a:rPr lang="en-US" dirty="0"/>
              <a:t>Copilot can assist in searching the web, creating content, generating images, and answering complex questions or queries.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EC037C-791E-ACEC-3E2D-CC7ED3478F79}"/>
              </a:ext>
            </a:extLst>
          </p:cNvPr>
          <p:cNvGraphicFramePr>
            <a:graphicFrameLocks noGrp="1"/>
          </p:cNvGraphicFramePr>
          <p:nvPr/>
        </p:nvGraphicFramePr>
        <p:xfrm>
          <a:off x="154722" y="2014945"/>
          <a:ext cx="5650609" cy="365976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9019">
                  <a:extLst>
                    <a:ext uri="{9D8B030D-6E8A-4147-A177-3AD203B41FA5}">
                      <a16:colId xmlns:a16="http://schemas.microsoft.com/office/drawing/2014/main" val="1527416320"/>
                    </a:ext>
                  </a:extLst>
                </a:gridCol>
                <a:gridCol w="2941590">
                  <a:extLst>
                    <a:ext uri="{9D8B030D-6E8A-4147-A177-3AD203B41FA5}">
                      <a16:colId xmlns:a16="http://schemas.microsoft.com/office/drawing/2014/main" val="1741726354"/>
                    </a:ext>
                  </a:extLst>
                </a:gridCol>
              </a:tblGrid>
              <a:tr h="3330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Feature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Microsoft Copilot </a:t>
                      </a:r>
                    </a:p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(Free Version)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1489925386"/>
                  </a:ext>
                </a:extLst>
              </a:tr>
              <a:tr h="4162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Get credits for AI usage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Limited usage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552271448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Get real-time results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3166207866"/>
                  </a:ext>
                </a:extLst>
              </a:tr>
              <a:tr h="33302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Preferred access to the latest models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>
                          <a:effectLst/>
                          <a:latin typeface="Montserrat" panose="00000500000000000000" pitchFamily="2" charset="0"/>
                        </a:rPr>
                        <a:t>Non-peak times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2536836434"/>
                  </a:ext>
                </a:extLst>
              </a:tr>
              <a:tr h="28104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Try Copilot Voice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Limited Usage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876492880"/>
                  </a:ext>
                </a:extLst>
              </a:tr>
              <a:tr h="4162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  <a:latin typeface="Montserrat" panose="00000500000000000000" pitchFamily="2" charset="0"/>
                        </a:rPr>
                        <a:t>Get early access to experimental AI features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Not available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201472119"/>
                  </a:ext>
                </a:extLst>
              </a:tr>
              <a:tr h="2497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  <a:latin typeface="Montserrat" panose="00000500000000000000" pitchFamily="2" charset="0"/>
                        </a:rPr>
                        <a:t>Create images with AI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15 boosts per day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2633932416"/>
                  </a:ext>
                </a:extLst>
              </a:tr>
              <a:tr h="4162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  <a:latin typeface="Montserrat" panose="00000500000000000000" pitchFamily="2" charset="0"/>
                        </a:rPr>
                        <a:t>Multiple devices and platforms</a:t>
                      </a:r>
                      <a:endParaRPr lang="en-US" sz="16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3890509826"/>
                  </a:ext>
                </a:extLst>
              </a:tr>
              <a:tr h="4162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  <a:latin typeface="Montserrat" panose="00000500000000000000" pitchFamily="2" charset="0"/>
                        </a:rPr>
                        <a:t>Unlock Copilot in select Microsoft 365 apps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  <a:latin typeface="Montserrat" panose="00000500000000000000" pitchFamily="2" charset="0"/>
                        </a:rPr>
                        <a:t>Not available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4900" marR="4900" marT="4900" marB="0" anchor="ctr"/>
                </a:tc>
                <a:extLst>
                  <a:ext uri="{0D108BD9-81ED-4DB2-BD59-A6C34878D82A}">
                    <a16:rowId xmlns:a16="http://schemas.microsoft.com/office/drawing/2014/main" val="2966359825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E270383-156F-27F4-7802-7E26DAC5F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9489" y="1977108"/>
            <a:ext cx="5686442" cy="352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262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A4F4D-0F73-A062-38B9-389AC7A1D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DDEF34-F721-9756-5C90-9F6BCC94F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B86B483-18A7-7FCC-4D79-33F4B8A0F41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3E7DA4B0-5896-737E-2F75-1E670A50EDC7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Microsoft CoPilot Pro? (Paid)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58785-8886-B99B-FADC-F90A61401D19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BA60E1-CB99-B651-8B26-D2440AE8E83A}"/>
              </a:ext>
            </a:extLst>
          </p:cNvPr>
          <p:cNvSpPr txBox="1"/>
          <p:nvPr/>
        </p:nvSpPr>
        <p:spPr>
          <a:xfrm>
            <a:off x="2288040" y="6376913"/>
            <a:ext cx="61225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Link: </a:t>
            </a:r>
            <a:r>
              <a:rPr lang="en-US" dirty="0">
                <a:hlinkClick r:id="rId4"/>
              </a:rPr>
              <a:t>https://www.microsoft.com/en-ca/store/b/copilotpro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4F85B8-71F5-ED80-97F7-67073D4B230D}"/>
              </a:ext>
            </a:extLst>
          </p:cNvPr>
          <p:cNvSpPr txBox="1"/>
          <p:nvPr/>
        </p:nvSpPr>
        <p:spPr>
          <a:xfrm>
            <a:off x="46599" y="774552"/>
            <a:ext cx="12131574" cy="8402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A Microsoft ​​​​​​​​​​​​Copilot Pro subscription boosts your creativity and productivity by providing priority access to the latest AI models that give you quicker response times, and early access to new features.  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BD6ECAF6-97A5-DE20-1747-464F11DEE6B9}"/>
              </a:ext>
            </a:extLst>
          </p:cNvPr>
          <p:cNvGraphicFramePr>
            <a:graphicFrameLocks noGrp="1"/>
          </p:cNvGraphicFramePr>
          <p:nvPr/>
        </p:nvGraphicFramePr>
        <p:xfrm>
          <a:off x="338933" y="1349156"/>
          <a:ext cx="9089922" cy="4760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28161">
                  <a:extLst>
                    <a:ext uri="{9D8B030D-6E8A-4147-A177-3AD203B41FA5}">
                      <a16:colId xmlns:a16="http://schemas.microsoft.com/office/drawing/2014/main" val="3309888137"/>
                    </a:ext>
                  </a:extLst>
                </a:gridCol>
                <a:gridCol w="2034289">
                  <a:extLst>
                    <a:ext uri="{9D8B030D-6E8A-4147-A177-3AD203B41FA5}">
                      <a16:colId xmlns:a16="http://schemas.microsoft.com/office/drawing/2014/main" val="3946163111"/>
                    </a:ext>
                  </a:extLst>
                </a:gridCol>
                <a:gridCol w="1927472">
                  <a:extLst>
                    <a:ext uri="{9D8B030D-6E8A-4147-A177-3AD203B41FA5}">
                      <a16:colId xmlns:a16="http://schemas.microsoft.com/office/drawing/2014/main" val="3437409864"/>
                    </a:ext>
                  </a:extLst>
                </a:gridCol>
              </a:tblGrid>
              <a:tr h="3945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Feature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Microsoft Copilot Pro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Microsoft Copilot Free Version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204696293"/>
                  </a:ext>
                </a:extLst>
              </a:tr>
              <a:tr h="198011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Subscription Cost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CAD $27.00 user/month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Montserrat" panose="00000500000000000000" pitchFamily="2" charset="0"/>
                        </a:rPr>
                        <a:t>Free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2711278883"/>
                  </a:ext>
                </a:extLst>
              </a:tr>
              <a:tr h="68455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Get credits for AI usage: Receive fresh AI credits at the start of each month to use Copilot in Microsoft 365 apps.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Extensive usage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Limited usage (includes Designer only)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830097125"/>
                  </a:ext>
                </a:extLst>
              </a:tr>
              <a:tr h="4943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Get real-time results: Copilot uses advanced AI grounding to provide up-to-date information.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365915485"/>
                  </a:ext>
                </a:extLst>
              </a:tr>
              <a:tr h="494397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Preferred access to the latest models: During peak usage times, free users may have limited access.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Preferred Access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Non-peak times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10526877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Try Copilot Voice: Engage in natural, spoken conversations with the latest AI technology.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Extended Usage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Limited Usage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059254287"/>
                  </a:ext>
                </a:extLst>
              </a:tr>
              <a:tr h="394593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>
                          <a:effectLst/>
                          <a:latin typeface="Montserrat" panose="00000500000000000000" pitchFamily="2" charset="0"/>
                        </a:rPr>
                        <a:t>Get early access to experimental AI features: Be the first to experience new AI features.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Not Available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115271604"/>
                  </a:ext>
                </a:extLst>
              </a:tr>
              <a:tr h="456366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Create images with AI: Transform your imagination into images and use boosts for faster creation.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100 boosts per day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15 boosts per day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960603432"/>
                  </a:ext>
                </a:extLst>
              </a:tr>
              <a:tr h="60848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Multiple devices and platforms: Use Copilot on the web, in the mobile app, and in Windows and Microsoft Edge.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122090719"/>
                  </a:ext>
                </a:extLst>
              </a:tr>
              <a:tr h="570458"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1" u="none" strike="noStrike" dirty="0">
                          <a:effectLst/>
                          <a:latin typeface="Montserrat" panose="00000500000000000000" pitchFamily="2" charset="0"/>
                        </a:rPr>
                        <a:t>Unlock Copilot in select Microsoft 365 apps: Use Copilot in Word, Excel, PowerPoint, OneNote, and Outlook.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>
                          <a:effectLst/>
                          <a:latin typeface="Montserrat" panose="00000500000000000000" pitchFamily="2" charset="0"/>
                        </a:rPr>
                        <a:t>✔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u="none" strike="noStrike" dirty="0">
                          <a:effectLst/>
                          <a:latin typeface="Montserrat" panose="00000500000000000000" pitchFamily="2" charset="0"/>
                        </a:rPr>
                        <a:t>Not Available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1550" marR="1550" marT="1550" marB="0" anchor="ctr"/>
                </a:tc>
                <a:extLst>
                  <a:ext uri="{0D108BD9-81ED-4DB2-BD59-A6C34878D82A}">
                    <a16:rowId xmlns:a16="http://schemas.microsoft.com/office/drawing/2014/main" val="30642476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769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F4F28-F4E7-F80A-9730-42FD1E4F5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60A0EB-1474-466C-2046-9E991EE7F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A2EB18F-8B81-9D2C-F9C2-2FD4321FB5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902BA913-04D4-59A2-391C-6D4F26EDA27A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is Microsoft 365 CoPilot? (paid)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16BCC5-7C85-9276-D1D5-4BE6F658B468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3B1DBF0-3E5D-A3AB-2544-0A9146540C98}"/>
              </a:ext>
            </a:extLst>
          </p:cNvPr>
          <p:cNvSpPr txBox="1">
            <a:spLocks/>
          </p:cNvSpPr>
          <p:nvPr/>
        </p:nvSpPr>
        <p:spPr>
          <a:xfrm>
            <a:off x="306242" y="844868"/>
            <a:ext cx="11885758" cy="2731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Microsoft 365 Copilot is an AI-powered productivity tool that has real-time access to both your content and context in the Microsoft Graph. </a:t>
            </a:r>
          </a:p>
          <a:p>
            <a:r>
              <a:rPr lang="en-US" dirty="0"/>
              <a:t>This means it generates answers anchored in your business content — your documents, emails, calendar, chats, meetings, contacts and other business data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217E61-F1AD-13CE-2C91-F46F6F823D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42" y="2137706"/>
            <a:ext cx="8735509" cy="3688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96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01C20-AA7C-522B-5ABD-830EAED20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382271-4850-68C6-6E4F-6A57D5CEC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AB79AC-33E8-505D-0C3A-F325A3266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188CE77-8E14-8741-1305-E330E3DB4905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Microsoft CoPilot, CoPilot Pro, &amp; CoPilot 365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FA334D-31F0-D1F8-8F30-5FA1526FACBC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E5AAD7-EABA-67B2-EB14-9904E15ED2E0}"/>
              </a:ext>
            </a:extLst>
          </p:cNvPr>
          <p:cNvGraphicFramePr>
            <a:graphicFrameLocks noGrp="1"/>
          </p:cNvGraphicFramePr>
          <p:nvPr/>
        </p:nvGraphicFramePr>
        <p:xfrm>
          <a:off x="579436" y="981202"/>
          <a:ext cx="10850563" cy="339451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07747">
                  <a:extLst>
                    <a:ext uri="{9D8B030D-6E8A-4147-A177-3AD203B41FA5}">
                      <a16:colId xmlns:a16="http://schemas.microsoft.com/office/drawing/2014/main" val="1334767618"/>
                    </a:ext>
                  </a:extLst>
                </a:gridCol>
                <a:gridCol w="3166178">
                  <a:extLst>
                    <a:ext uri="{9D8B030D-6E8A-4147-A177-3AD203B41FA5}">
                      <a16:colId xmlns:a16="http://schemas.microsoft.com/office/drawing/2014/main" val="1005046106"/>
                    </a:ext>
                  </a:extLst>
                </a:gridCol>
                <a:gridCol w="2791482">
                  <a:extLst>
                    <a:ext uri="{9D8B030D-6E8A-4147-A177-3AD203B41FA5}">
                      <a16:colId xmlns:a16="http://schemas.microsoft.com/office/drawing/2014/main" val="3931320894"/>
                    </a:ext>
                  </a:extLst>
                </a:gridCol>
                <a:gridCol w="2885156">
                  <a:extLst>
                    <a:ext uri="{9D8B030D-6E8A-4147-A177-3AD203B41FA5}">
                      <a16:colId xmlns:a16="http://schemas.microsoft.com/office/drawing/2014/main" val="2640097394"/>
                    </a:ext>
                  </a:extLst>
                </a:gridCol>
              </a:tblGrid>
              <a:tr h="44735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Feature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CoPilot (Free)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CoPilot Pro (Paid)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CoPilot for M365 (Paid)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2070927155"/>
                  </a:ext>
                </a:extLst>
              </a:tr>
              <a:tr h="2484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Cost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Free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Paid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Paid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3929675691"/>
                  </a:ext>
                </a:extLst>
              </a:tr>
              <a:tr h="26772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Target Audience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Individuals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General users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Enterprise and Teams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1838556994"/>
                  </a:ext>
                </a:extLst>
              </a:tr>
              <a:tr h="6688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>
                          <a:effectLst/>
                          <a:latin typeface="Montserrat" panose="00000500000000000000" pitchFamily="2" charset="0"/>
                        </a:rPr>
                        <a:t>Model Access</a:t>
                      </a:r>
                      <a:endParaRPr lang="en-US" sz="1800" b="1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Standard GPT-4 &amp; web grounding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Priority model access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Priority model access + CoPilot in M365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1635526400"/>
                  </a:ext>
                </a:extLst>
              </a:tr>
              <a:tr h="8902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Integration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Not integrated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Integrated in Office tools like Word, Excel, PPT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Integrated with Teams, Graph data (emails, chats, documents)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1651215566"/>
                  </a:ext>
                </a:extLst>
              </a:tr>
              <a:tr h="73566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1" u="none" strike="noStrike" dirty="0">
                          <a:effectLst/>
                          <a:latin typeface="Montserrat" panose="00000500000000000000" pitchFamily="2" charset="0"/>
                        </a:rPr>
                        <a:t>Customization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>
                          <a:effectLst/>
                          <a:latin typeface="Montserrat" panose="00000500000000000000" pitchFamily="2" charset="0"/>
                        </a:rPr>
                        <a:t>Not available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Make your own using CoPilot GPT Builder (additional fee)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u="none" strike="noStrike" dirty="0">
                          <a:effectLst/>
                          <a:latin typeface="Montserrat" panose="00000500000000000000" pitchFamily="2" charset="0"/>
                        </a:rPr>
                        <a:t>Make your own using CoPilot Studio (additional fee)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5494" marR="5494" marT="5494" marB="0" anchor="ctr"/>
                </a:tc>
                <a:extLst>
                  <a:ext uri="{0D108BD9-81ED-4DB2-BD59-A6C34878D82A}">
                    <a16:rowId xmlns:a16="http://schemas.microsoft.com/office/drawing/2014/main" val="25494454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712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5476</TotalTime>
  <Words>599</Words>
  <Application>Microsoft Office PowerPoint</Application>
  <PresentationFormat>Widescreen</PresentationFormat>
  <Paragraphs>89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Ryan Ahmed</cp:lastModifiedBy>
  <cp:revision>443</cp:revision>
  <dcterms:created xsi:type="dcterms:W3CDTF">2019-11-18T17:58:36Z</dcterms:created>
  <dcterms:modified xsi:type="dcterms:W3CDTF">2025-09-17T20:20:52Z</dcterms:modified>
</cp:coreProperties>
</file>