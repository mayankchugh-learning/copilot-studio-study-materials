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565" r:id="rId2"/>
    <p:sldId id="4231" r:id="rId3"/>
    <p:sldId id="4233" r:id="rId4"/>
    <p:sldId id="4232" r:id="rId5"/>
    <p:sldId id="4218" r:id="rId6"/>
    <p:sldId id="4257" r:id="rId7"/>
    <p:sldId id="4258" r:id="rId8"/>
    <p:sldId id="4253" r:id="rId9"/>
    <p:sldId id="4230" r:id="rId10"/>
    <p:sldId id="4254" r:id="rId11"/>
    <p:sldId id="4252" r:id="rId12"/>
    <p:sldId id="4255" r:id="rId13"/>
    <p:sldId id="4228" r:id="rId14"/>
    <p:sldId id="27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56E48"/>
    <a:srgbClr val="0C1752"/>
    <a:srgbClr val="1BBFD1"/>
    <a:srgbClr val="11CCDD"/>
    <a:srgbClr val="E3E9EE"/>
    <a:srgbClr val="FFFFFF"/>
    <a:srgbClr val="F09063"/>
    <a:srgbClr val="F9F9F9"/>
    <a:srgbClr val="E7C24C"/>
    <a:srgbClr val="FF090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4721"/>
  </p:normalViewPr>
  <p:slideViewPr>
    <p:cSldViewPr snapToGrid="0" snapToObjects="1">
      <p:cViewPr varScale="1">
        <p:scale>
          <a:sx n="118" d="100"/>
          <a:sy n="118" d="100"/>
        </p:scale>
        <p:origin x="90"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5BB5DF1-6160-48DA-9244-780755A51C37}"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566F586A-A994-4804-9C96-3046E55639C7}">
      <dgm:prSet phldrT="[Text]" custT="1"/>
      <dgm:spPr>
        <a:solidFill>
          <a:srgbClr val="0C1752"/>
        </a:solidFill>
        <a:ln>
          <a:solidFill>
            <a:srgbClr val="0C1752"/>
          </a:solidFill>
        </a:ln>
      </dgm:spPr>
      <dgm:t>
        <a:bodyPr/>
        <a:lstStyle/>
        <a:p>
          <a:r>
            <a:rPr lang="en-CA" sz="1800" dirty="0">
              <a:latin typeface="Montserrat" panose="00000500000000000000" pitchFamily="2" charset="0"/>
              <a:cs typeface="Mongolian Baiti" panose="03000500000000000000" pitchFamily="66" charset="0"/>
            </a:rPr>
            <a:t>Build a team of Autonomous AI Agents in Copilot Studio.</a:t>
          </a:r>
        </a:p>
      </dgm:t>
    </dgm:pt>
    <dgm:pt modelId="{0E646359-7774-44D7-A78E-48FF645A581F}" type="parTrans" cxnId="{9FB5AB61-78F8-4CE9-BA1C-2D3174FA942B}">
      <dgm:prSet/>
      <dgm:spPr/>
      <dgm:t>
        <a:bodyPr/>
        <a:lstStyle/>
        <a:p>
          <a:endParaRPr lang="en-CA" sz="2200">
            <a:latin typeface="Montserrat" panose="00000500000000000000" pitchFamily="2" charset="0"/>
            <a:cs typeface="Mongolian Baiti" panose="03000500000000000000" pitchFamily="66" charset="0"/>
          </a:endParaRPr>
        </a:p>
      </dgm:t>
    </dgm:pt>
    <dgm:pt modelId="{354A0CE6-2E67-42BB-BD99-61C4184CA873}" type="sibTrans" cxnId="{9FB5AB61-78F8-4CE9-BA1C-2D3174FA942B}">
      <dgm:prSet/>
      <dgm:spPr/>
      <dgm:t>
        <a:bodyPr/>
        <a:lstStyle/>
        <a:p>
          <a:endParaRPr lang="en-CA" sz="2200">
            <a:latin typeface="Montserrat" panose="00000500000000000000" pitchFamily="2" charset="0"/>
            <a:cs typeface="Mongolian Baiti" panose="03000500000000000000" pitchFamily="66" charset="0"/>
          </a:endParaRPr>
        </a:p>
      </dgm:t>
    </dgm:pt>
    <dgm:pt modelId="{B748CD7C-02FD-44C4-B494-1F9165E415A7}">
      <dgm:prSet custT="1"/>
      <dgm:spPr>
        <a:solidFill>
          <a:schemeClr val="tx1">
            <a:lumMod val="50000"/>
            <a:lumOff val="50000"/>
          </a:schemeClr>
        </a:solidFill>
      </dgm:spPr>
      <dgm:t>
        <a:bodyPr/>
        <a:lstStyle/>
        <a:p>
          <a:pPr>
            <a:buNone/>
          </a:pPr>
          <a:r>
            <a:rPr lang="en-CA" sz="1800" dirty="0">
              <a:latin typeface="Montserrat" panose="00000500000000000000" pitchFamily="2" charset="0"/>
            </a:rPr>
            <a:t>Learn how to add and configure child Agent to a master Agent.</a:t>
          </a:r>
        </a:p>
      </dgm:t>
    </dgm:pt>
    <dgm:pt modelId="{75633EF6-3651-49F2-9C03-9B1C9DED27FC}" type="parTrans" cxnId="{F2C1E8F5-A05B-4B6C-ACA9-4D950A05A7C7}">
      <dgm:prSet/>
      <dgm:spPr/>
      <dgm:t>
        <a:bodyPr/>
        <a:lstStyle/>
        <a:p>
          <a:endParaRPr lang="en-CA"/>
        </a:p>
      </dgm:t>
    </dgm:pt>
    <dgm:pt modelId="{0D010DA5-31AB-48DF-9B53-E1F5217872FD}" type="sibTrans" cxnId="{F2C1E8F5-A05B-4B6C-ACA9-4D950A05A7C7}">
      <dgm:prSet/>
      <dgm:spPr/>
      <dgm:t>
        <a:bodyPr/>
        <a:lstStyle/>
        <a:p>
          <a:endParaRPr lang="en-CA"/>
        </a:p>
      </dgm:t>
    </dgm:pt>
    <dgm:pt modelId="{A3285C98-AA88-4637-97EA-786313CE6411}">
      <dgm:prSet custT="1"/>
      <dgm:spPr>
        <a:solidFill>
          <a:srgbClr val="11CCDD"/>
        </a:solidFill>
      </dgm:spPr>
      <dgm:t>
        <a:bodyPr/>
        <a:lstStyle/>
        <a:p>
          <a:pPr>
            <a:buNone/>
          </a:pPr>
          <a:r>
            <a:rPr lang="en-CA" sz="1800" dirty="0">
              <a:latin typeface="Montserrat" panose="00000500000000000000" pitchFamily="2" charset="0"/>
            </a:rPr>
            <a:t>Learn how to select multiple Models with different degrees in Reasoning.</a:t>
          </a:r>
        </a:p>
      </dgm:t>
    </dgm:pt>
    <dgm:pt modelId="{B9FA6B9C-F558-405F-83AC-07A99FECA3D5}" type="parTrans" cxnId="{DB18EF07-1110-4A97-8277-3159765C5A05}">
      <dgm:prSet/>
      <dgm:spPr/>
      <dgm:t>
        <a:bodyPr/>
        <a:lstStyle/>
        <a:p>
          <a:endParaRPr lang="en-CA"/>
        </a:p>
      </dgm:t>
    </dgm:pt>
    <dgm:pt modelId="{0654A194-C5A6-4D5B-9DF7-8777FDE3DC89}" type="sibTrans" cxnId="{DB18EF07-1110-4A97-8277-3159765C5A05}">
      <dgm:prSet/>
      <dgm:spPr/>
      <dgm:t>
        <a:bodyPr/>
        <a:lstStyle/>
        <a:p>
          <a:endParaRPr lang="en-CA"/>
        </a:p>
      </dgm:t>
    </dgm:pt>
    <dgm:pt modelId="{FF0EA3FF-F38A-4267-B4D2-62D3A2DCDB36}">
      <dgm:prSet custT="1"/>
      <dgm:spPr>
        <a:solidFill>
          <a:srgbClr val="0C1752"/>
        </a:solidFill>
      </dgm:spPr>
      <dgm:t>
        <a:bodyPr/>
        <a:lstStyle/>
        <a:p>
          <a:pPr>
            <a:buNone/>
          </a:pPr>
          <a:r>
            <a:rPr lang="en-CA" sz="1800" dirty="0">
              <a:latin typeface="Montserrat" panose="00000500000000000000" pitchFamily="2" charset="0"/>
            </a:rPr>
            <a:t>Compare LLMs using various leaderboards such as Vellum.</a:t>
          </a:r>
        </a:p>
      </dgm:t>
    </dgm:pt>
    <dgm:pt modelId="{E818C447-7B57-467F-B124-1AF6E938BCCC}" type="parTrans" cxnId="{E4A50F7E-B0F7-4A34-BDEA-B41BC0BE7FA9}">
      <dgm:prSet/>
      <dgm:spPr/>
      <dgm:t>
        <a:bodyPr/>
        <a:lstStyle/>
        <a:p>
          <a:endParaRPr lang="en-CA"/>
        </a:p>
      </dgm:t>
    </dgm:pt>
    <dgm:pt modelId="{9067106F-ACB3-405D-8D8B-88EB19657621}" type="sibTrans" cxnId="{E4A50F7E-B0F7-4A34-BDEA-B41BC0BE7FA9}">
      <dgm:prSet/>
      <dgm:spPr/>
      <dgm:t>
        <a:bodyPr/>
        <a:lstStyle/>
        <a:p>
          <a:endParaRPr lang="en-CA"/>
        </a:p>
      </dgm:t>
    </dgm:pt>
    <dgm:pt modelId="{2592CD0D-80B1-45B8-A98B-157F5B52F686}">
      <dgm:prSet phldrT="[Text]" custT="1"/>
      <dgm:spPr>
        <a:solidFill>
          <a:srgbClr val="D56E48"/>
        </a:solidFill>
        <a:ln w="12700" cap="flat" cmpd="sng" algn="ctr">
          <a:solidFill>
            <a:prstClr val="white">
              <a:hueOff val="0"/>
              <a:satOff val="0"/>
              <a:lumOff val="0"/>
              <a:alphaOff val="0"/>
            </a:prstClr>
          </a:solidFill>
          <a:prstDash val="solid"/>
          <a:miter lim="800000"/>
        </a:ln>
        <a:effectLst/>
      </dgm:spPr>
      <dgm:t>
        <a:bodyPr spcFirstLastPara="0" vert="horz" wrap="square" lIns="68580" tIns="68580" rIns="68580" bIns="68580" numCol="1" spcCol="1270" anchor="ctr" anchorCtr="0"/>
        <a:lstStyle/>
        <a:p>
          <a:pPr marL="0" lvl="0" indent="0" algn="ctr" defTabSz="800100">
            <a:lnSpc>
              <a:spcPct val="90000"/>
            </a:lnSpc>
            <a:spcBef>
              <a:spcPct val="0"/>
            </a:spcBef>
            <a:spcAft>
              <a:spcPct val="35000"/>
            </a:spcAft>
            <a:buNone/>
          </a:pPr>
          <a:r>
            <a:rPr lang="en-CA" sz="1800" kern="1200" dirty="0">
              <a:solidFill>
                <a:prstClr val="white"/>
              </a:solidFill>
              <a:latin typeface="Montserrat" panose="00000500000000000000" pitchFamily="2" charset="0"/>
              <a:ea typeface="+mn-ea"/>
              <a:cs typeface="+mn-cs"/>
            </a:rPr>
            <a:t>Learn Agent to Agent feature in Copilot Studio</a:t>
          </a:r>
        </a:p>
      </dgm:t>
    </dgm:pt>
    <dgm:pt modelId="{40A13D9E-B7ED-47DF-AE65-FB5002D290D2}" type="parTrans" cxnId="{B01AD941-1F30-41FB-B394-B61CB12CBC7D}">
      <dgm:prSet/>
      <dgm:spPr/>
      <dgm:t>
        <a:bodyPr/>
        <a:lstStyle/>
        <a:p>
          <a:endParaRPr lang="en-CA"/>
        </a:p>
      </dgm:t>
    </dgm:pt>
    <dgm:pt modelId="{E8A1930A-6356-4A34-9182-8C104174EAC8}" type="sibTrans" cxnId="{B01AD941-1F30-41FB-B394-B61CB12CBC7D}">
      <dgm:prSet/>
      <dgm:spPr/>
      <dgm:t>
        <a:bodyPr/>
        <a:lstStyle/>
        <a:p>
          <a:endParaRPr lang="en-CA"/>
        </a:p>
      </dgm:t>
    </dgm:pt>
    <dgm:pt modelId="{91AECCB5-357E-4817-8D8B-617F328E7EE2}" type="pres">
      <dgm:prSet presAssocID="{C5BB5DF1-6160-48DA-9244-780755A51C37}" presName="diagram" presStyleCnt="0">
        <dgm:presLayoutVars>
          <dgm:dir/>
          <dgm:resizeHandles val="exact"/>
        </dgm:presLayoutVars>
      </dgm:prSet>
      <dgm:spPr/>
    </dgm:pt>
    <dgm:pt modelId="{1B558E55-37DC-4859-9ABB-EFE02DEEEF05}" type="pres">
      <dgm:prSet presAssocID="{566F586A-A994-4804-9C96-3046E55639C7}" presName="node" presStyleLbl="node1" presStyleIdx="0" presStyleCnt="5">
        <dgm:presLayoutVars>
          <dgm:bulletEnabled val="1"/>
        </dgm:presLayoutVars>
      </dgm:prSet>
      <dgm:spPr/>
    </dgm:pt>
    <dgm:pt modelId="{37F8B5B6-4041-4689-A87E-63C71563838F}" type="pres">
      <dgm:prSet presAssocID="{354A0CE6-2E67-42BB-BD99-61C4184CA873}" presName="sibTrans" presStyleCnt="0"/>
      <dgm:spPr/>
    </dgm:pt>
    <dgm:pt modelId="{BE73B1EC-B7E1-4848-84E7-7115730A32AA}" type="pres">
      <dgm:prSet presAssocID="{2592CD0D-80B1-45B8-A98B-157F5B52F686}" presName="node" presStyleLbl="node1" presStyleIdx="1" presStyleCnt="5">
        <dgm:presLayoutVars>
          <dgm:bulletEnabled val="1"/>
        </dgm:presLayoutVars>
      </dgm:prSet>
      <dgm:spPr>
        <a:xfrm>
          <a:off x="3530245" y="33299"/>
          <a:ext cx="3209314" cy="1925588"/>
        </a:xfrm>
        <a:prstGeom prst="rect">
          <a:avLst/>
        </a:prstGeom>
      </dgm:spPr>
    </dgm:pt>
    <dgm:pt modelId="{2964924D-8751-467B-AC4E-6B126E34CBB8}" type="pres">
      <dgm:prSet presAssocID="{E8A1930A-6356-4A34-9182-8C104174EAC8}" presName="sibTrans" presStyleCnt="0"/>
      <dgm:spPr/>
    </dgm:pt>
    <dgm:pt modelId="{66FD1FEE-6916-469C-AC20-5281BA353382}" type="pres">
      <dgm:prSet presAssocID="{B748CD7C-02FD-44C4-B494-1F9165E415A7}" presName="node" presStyleLbl="node1" presStyleIdx="2" presStyleCnt="5">
        <dgm:presLayoutVars>
          <dgm:bulletEnabled val="1"/>
        </dgm:presLayoutVars>
      </dgm:prSet>
      <dgm:spPr/>
    </dgm:pt>
    <dgm:pt modelId="{7287C185-CCD0-4EB3-B506-B1D39F43BD38}" type="pres">
      <dgm:prSet presAssocID="{0D010DA5-31AB-48DF-9B53-E1F5217872FD}" presName="sibTrans" presStyleCnt="0"/>
      <dgm:spPr/>
    </dgm:pt>
    <dgm:pt modelId="{6252F9F4-D0DC-4D13-9592-F953C7F49611}" type="pres">
      <dgm:prSet presAssocID="{A3285C98-AA88-4637-97EA-786313CE6411}" presName="node" presStyleLbl="node1" presStyleIdx="3" presStyleCnt="5">
        <dgm:presLayoutVars>
          <dgm:bulletEnabled val="1"/>
        </dgm:presLayoutVars>
      </dgm:prSet>
      <dgm:spPr/>
    </dgm:pt>
    <dgm:pt modelId="{EFE5D968-21C7-438A-B66B-14772D310431}" type="pres">
      <dgm:prSet presAssocID="{0654A194-C5A6-4D5B-9DF7-8777FDE3DC89}" presName="sibTrans" presStyleCnt="0"/>
      <dgm:spPr/>
    </dgm:pt>
    <dgm:pt modelId="{22AE5A2B-7540-4FDD-87BF-1494829FA0CB}" type="pres">
      <dgm:prSet presAssocID="{FF0EA3FF-F38A-4267-B4D2-62D3A2DCDB36}" presName="node" presStyleLbl="node1" presStyleIdx="4" presStyleCnt="5">
        <dgm:presLayoutVars>
          <dgm:bulletEnabled val="1"/>
        </dgm:presLayoutVars>
      </dgm:prSet>
      <dgm:spPr/>
    </dgm:pt>
  </dgm:ptLst>
  <dgm:cxnLst>
    <dgm:cxn modelId="{8D874905-73C9-4E87-B0B0-20AFAE1624E1}" type="presOf" srcId="{566F586A-A994-4804-9C96-3046E55639C7}" destId="{1B558E55-37DC-4859-9ABB-EFE02DEEEF05}" srcOrd="0" destOrd="0" presId="urn:microsoft.com/office/officeart/2005/8/layout/default"/>
    <dgm:cxn modelId="{DB18EF07-1110-4A97-8277-3159765C5A05}" srcId="{C5BB5DF1-6160-48DA-9244-780755A51C37}" destId="{A3285C98-AA88-4637-97EA-786313CE6411}" srcOrd="3" destOrd="0" parTransId="{B9FA6B9C-F558-405F-83AC-07A99FECA3D5}" sibTransId="{0654A194-C5A6-4D5B-9DF7-8777FDE3DC89}"/>
    <dgm:cxn modelId="{C2707315-FE3B-470C-92E8-57F0D850A6CB}" type="presOf" srcId="{A3285C98-AA88-4637-97EA-786313CE6411}" destId="{6252F9F4-D0DC-4D13-9592-F953C7F49611}" srcOrd="0" destOrd="0" presId="urn:microsoft.com/office/officeart/2005/8/layout/default"/>
    <dgm:cxn modelId="{9FB5AB61-78F8-4CE9-BA1C-2D3174FA942B}" srcId="{C5BB5DF1-6160-48DA-9244-780755A51C37}" destId="{566F586A-A994-4804-9C96-3046E55639C7}" srcOrd="0" destOrd="0" parTransId="{0E646359-7774-44D7-A78E-48FF645A581F}" sibTransId="{354A0CE6-2E67-42BB-BD99-61C4184CA873}"/>
    <dgm:cxn modelId="{B01AD941-1F30-41FB-B394-B61CB12CBC7D}" srcId="{C5BB5DF1-6160-48DA-9244-780755A51C37}" destId="{2592CD0D-80B1-45B8-A98B-157F5B52F686}" srcOrd="1" destOrd="0" parTransId="{40A13D9E-B7ED-47DF-AE65-FB5002D290D2}" sibTransId="{E8A1930A-6356-4A34-9182-8C104174EAC8}"/>
    <dgm:cxn modelId="{E4A50F7E-B0F7-4A34-BDEA-B41BC0BE7FA9}" srcId="{C5BB5DF1-6160-48DA-9244-780755A51C37}" destId="{FF0EA3FF-F38A-4267-B4D2-62D3A2DCDB36}" srcOrd="4" destOrd="0" parTransId="{E818C447-7B57-467F-B124-1AF6E938BCCC}" sibTransId="{9067106F-ACB3-405D-8D8B-88EB19657621}"/>
    <dgm:cxn modelId="{E41DE280-72D1-4AF9-B70D-50139E48E37D}" type="presOf" srcId="{FF0EA3FF-F38A-4267-B4D2-62D3A2DCDB36}" destId="{22AE5A2B-7540-4FDD-87BF-1494829FA0CB}" srcOrd="0" destOrd="0" presId="urn:microsoft.com/office/officeart/2005/8/layout/default"/>
    <dgm:cxn modelId="{F1DC19BC-B069-4CA3-A335-8F4210D25204}" type="presOf" srcId="{B748CD7C-02FD-44C4-B494-1F9165E415A7}" destId="{66FD1FEE-6916-469C-AC20-5281BA353382}" srcOrd="0" destOrd="0" presId="urn:microsoft.com/office/officeart/2005/8/layout/default"/>
    <dgm:cxn modelId="{BCF0D0E2-7832-4736-98E9-D156945CD970}" type="presOf" srcId="{C5BB5DF1-6160-48DA-9244-780755A51C37}" destId="{91AECCB5-357E-4817-8D8B-617F328E7EE2}" srcOrd="0" destOrd="0" presId="urn:microsoft.com/office/officeart/2005/8/layout/default"/>
    <dgm:cxn modelId="{4E3FD8ED-837A-4BC8-B90A-8CBE23121AC5}" type="presOf" srcId="{2592CD0D-80B1-45B8-A98B-157F5B52F686}" destId="{BE73B1EC-B7E1-4848-84E7-7115730A32AA}" srcOrd="0" destOrd="0" presId="urn:microsoft.com/office/officeart/2005/8/layout/default"/>
    <dgm:cxn modelId="{F2C1E8F5-A05B-4B6C-ACA9-4D950A05A7C7}" srcId="{C5BB5DF1-6160-48DA-9244-780755A51C37}" destId="{B748CD7C-02FD-44C4-B494-1F9165E415A7}" srcOrd="2" destOrd="0" parTransId="{75633EF6-3651-49F2-9C03-9B1C9DED27FC}" sibTransId="{0D010DA5-31AB-48DF-9B53-E1F5217872FD}"/>
    <dgm:cxn modelId="{8A1C0F08-D7F6-4EF0-BBC7-A54829BBDEC1}" type="presParOf" srcId="{91AECCB5-357E-4817-8D8B-617F328E7EE2}" destId="{1B558E55-37DC-4859-9ABB-EFE02DEEEF05}" srcOrd="0" destOrd="0" presId="urn:microsoft.com/office/officeart/2005/8/layout/default"/>
    <dgm:cxn modelId="{04309D3C-9431-413A-9C10-C831746B1D70}" type="presParOf" srcId="{91AECCB5-357E-4817-8D8B-617F328E7EE2}" destId="{37F8B5B6-4041-4689-A87E-63C71563838F}" srcOrd="1" destOrd="0" presId="urn:microsoft.com/office/officeart/2005/8/layout/default"/>
    <dgm:cxn modelId="{A52DB994-5C41-4C95-9E17-E6F5B0E8771A}" type="presParOf" srcId="{91AECCB5-357E-4817-8D8B-617F328E7EE2}" destId="{BE73B1EC-B7E1-4848-84E7-7115730A32AA}" srcOrd="2" destOrd="0" presId="urn:microsoft.com/office/officeart/2005/8/layout/default"/>
    <dgm:cxn modelId="{A8F12320-00D4-4EA6-8B70-FCB9F8E41D17}" type="presParOf" srcId="{91AECCB5-357E-4817-8D8B-617F328E7EE2}" destId="{2964924D-8751-467B-AC4E-6B126E34CBB8}" srcOrd="3" destOrd="0" presId="urn:microsoft.com/office/officeart/2005/8/layout/default"/>
    <dgm:cxn modelId="{B925B848-E523-418B-8B5E-36301242031C}" type="presParOf" srcId="{91AECCB5-357E-4817-8D8B-617F328E7EE2}" destId="{66FD1FEE-6916-469C-AC20-5281BA353382}" srcOrd="4" destOrd="0" presId="urn:microsoft.com/office/officeart/2005/8/layout/default"/>
    <dgm:cxn modelId="{8B22A0B6-9164-4C47-8ABC-AB4432639FB3}" type="presParOf" srcId="{91AECCB5-357E-4817-8D8B-617F328E7EE2}" destId="{7287C185-CCD0-4EB3-B506-B1D39F43BD38}" srcOrd="5" destOrd="0" presId="urn:microsoft.com/office/officeart/2005/8/layout/default"/>
    <dgm:cxn modelId="{975A34E7-8A3D-4081-8D61-3087E3909C8E}" type="presParOf" srcId="{91AECCB5-357E-4817-8D8B-617F328E7EE2}" destId="{6252F9F4-D0DC-4D13-9592-F953C7F49611}" srcOrd="6" destOrd="0" presId="urn:microsoft.com/office/officeart/2005/8/layout/default"/>
    <dgm:cxn modelId="{4960E114-E448-44AE-987E-25CD779F8986}" type="presParOf" srcId="{91AECCB5-357E-4817-8D8B-617F328E7EE2}" destId="{EFE5D968-21C7-438A-B66B-14772D310431}" srcOrd="7" destOrd="0" presId="urn:microsoft.com/office/officeart/2005/8/layout/default"/>
    <dgm:cxn modelId="{5BB19C41-3293-4E14-A339-F7983C2B3A54}" type="presParOf" srcId="{91AECCB5-357E-4817-8D8B-617F328E7EE2}" destId="{22AE5A2B-7540-4FDD-87BF-1494829FA0CB}" srcOrd="8"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E701675-2628-48BB-B19A-78E43352844D}"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66160B89-8E34-470E-901A-66C08B8DD8C4}">
      <dgm:prSet phldrT="[Text]"/>
      <dgm:spPr>
        <a:solidFill>
          <a:srgbClr val="0C1752"/>
        </a:solidFill>
      </dgm:spPr>
      <dgm:t>
        <a:bodyPr/>
        <a:lstStyle/>
        <a:p>
          <a:pPr algn="ctr">
            <a:buNone/>
          </a:pPr>
          <a:r>
            <a:rPr lang="en-US" b="1" dirty="0">
              <a:latin typeface="Montserrat" panose="00000500000000000000" pitchFamily="2" charset="0"/>
            </a:rPr>
            <a:t>Open-source or Closed</a:t>
          </a:r>
          <a:endParaRPr lang="en-CA" dirty="0">
            <a:latin typeface="Montserrat" panose="00000500000000000000" pitchFamily="2" charset="0"/>
          </a:endParaRPr>
        </a:p>
      </dgm:t>
    </dgm:pt>
    <dgm:pt modelId="{3B0221C5-0537-4FA5-BFF8-7C4BABA57746}" type="parTrans" cxnId="{55542BFE-A53F-45C7-AAEB-EB3E72D3B2DE}">
      <dgm:prSet/>
      <dgm:spPr/>
      <dgm:t>
        <a:bodyPr/>
        <a:lstStyle/>
        <a:p>
          <a:endParaRPr lang="en-CA"/>
        </a:p>
      </dgm:t>
    </dgm:pt>
    <dgm:pt modelId="{4222F12A-65CA-4DA9-85F6-320B9889E6AF}" type="sibTrans" cxnId="{55542BFE-A53F-45C7-AAEB-EB3E72D3B2DE}">
      <dgm:prSet/>
      <dgm:spPr/>
      <dgm:t>
        <a:bodyPr/>
        <a:lstStyle/>
        <a:p>
          <a:endParaRPr lang="en-CA"/>
        </a:p>
      </dgm:t>
    </dgm:pt>
    <dgm:pt modelId="{6CBBDD14-A5DD-4DCC-912B-F49C322B1E93}">
      <dgm:prSet/>
      <dgm:spPr>
        <a:solidFill>
          <a:srgbClr val="0C1752"/>
        </a:solidFill>
      </dgm:spPr>
      <dgm:t>
        <a:bodyPr/>
        <a:lstStyle/>
        <a:p>
          <a:pPr algn="ctr"/>
          <a:r>
            <a:rPr lang="en-US" dirty="0">
              <a:latin typeface="Montserrat" panose="00000500000000000000" pitchFamily="2" charset="0"/>
            </a:rPr>
            <a:t>Closed (e.g. GPT-4) usually offers better performance and ease of use via APIs.</a:t>
          </a:r>
        </a:p>
      </dgm:t>
    </dgm:pt>
    <dgm:pt modelId="{B5903B53-9551-42D6-87E2-7DFCDB1279A6}" type="parTrans" cxnId="{225C13DB-7E23-4961-B87E-F33CC0548E5F}">
      <dgm:prSet/>
      <dgm:spPr/>
      <dgm:t>
        <a:bodyPr/>
        <a:lstStyle/>
        <a:p>
          <a:endParaRPr lang="en-CA"/>
        </a:p>
      </dgm:t>
    </dgm:pt>
    <dgm:pt modelId="{3329973E-9CF8-452E-95FD-26AA9AD5E682}" type="sibTrans" cxnId="{225C13DB-7E23-4961-B87E-F33CC0548E5F}">
      <dgm:prSet/>
      <dgm:spPr/>
      <dgm:t>
        <a:bodyPr/>
        <a:lstStyle/>
        <a:p>
          <a:endParaRPr lang="en-CA"/>
        </a:p>
      </dgm:t>
    </dgm:pt>
    <dgm:pt modelId="{3F1DF7AA-B365-474B-A921-56F0DC411E2E}">
      <dgm:prSet/>
      <dgm:spPr>
        <a:solidFill>
          <a:srgbClr val="D56E48"/>
        </a:solidFill>
      </dgm:spPr>
      <dgm:t>
        <a:bodyPr/>
        <a:lstStyle/>
        <a:p>
          <a:pPr algn="ctr"/>
          <a:r>
            <a:rPr lang="en-US" b="1" dirty="0">
              <a:latin typeface="Montserrat" panose="00000500000000000000" pitchFamily="2" charset="0"/>
            </a:rPr>
            <a:t>Context Length</a:t>
          </a:r>
        </a:p>
      </dgm:t>
    </dgm:pt>
    <dgm:pt modelId="{0F2DC970-B29E-4EB6-9A31-1E986D4BFDA1}" type="parTrans" cxnId="{A07FD7C4-7131-4F7C-AB28-E836AF334E05}">
      <dgm:prSet/>
      <dgm:spPr/>
      <dgm:t>
        <a:bodyPr/>
        <a:lstStyle/>
        <a:p>
          <a:endParaRPr lang="en-CA"/>
        </a:p>
      </dgm:t>
    </dgm:pt>
    <dgm:pt modelId="{D4BA8702-2CBF-405B-A113-53B88854FEDA}" type="sibTrans" cxnId="{A07FD7C4-7131-4F7C-AB28-E836AF334E05}">
      <dgm:prSet/>
      <dgm:spPr/>
      <dgm:t>
        <a:bodyPr/>
        <a:lstStyle/>
        <a:p>
          <a:endParaRPr lang="en-CA"/>
        </a:p>
      </dgm:t>
    </dgm:pt>
    <dgm:pt modelId="{C69DB71A-33B3-44D4-94B3-25D0308E61ED}">
      <dgm:prSet/>
      <dgm:spPr>
        <a:solidFill>
          <a:srgbClr val="D56E48"/>
        </a:solidFill>
      </dgm:spPr>
      <dgm:t>
        <a:bodyPr/>
        <a:lstStyle/>
        <a:p>
          <a:pPr algn="ctr"/>
          <a:r>
            <a:rPr lang="en-US" dirty="0">
              <a:latin typeface="Montserrat" panose="00000500000000000000" pitchFamily="2" charset="0"/>
            </a:rPr>
            <a:t>How much input/output the model can handle in one go.</a:t>
          </a:r>
        </a:p>
      </dgm:t>
    </dgm:pt>
    <dgm:pt modelId="{8F0A8BA7-5D15-4F74-8234-E750F03B8F10}" type="parTrans" cxnId="{4BA8D5E5-6EB4-4027-99F0-0BD1282D3605}">
      <dgm:prSet/>
      <dgm:spPr/>
      <dgm:t>
        <a:bodyPr/>
        <a:lstStyle/>
        <a:p>
          <a:endParaRPr lang="en-CA"/>
        </a:p>
      </dgm:t>
    </dgm:pt>
    <dgm:pt modelId="{3208615C-DDE4-4BD1-AAC4-6B455B3B488A}" type="sibTrans" cxnId="{4BA8D5E5-6EB4-4027-99F0-0BD1282D3605}">
      <dgm:prSet/>
      <dgm:spPr/>
      <dgm:t>
        <a:bodyPr/>
        <a:lstStyle/>
        <a:p>
          <a:endParaRPr lang="en-CA"/>
        </a:p>
      </dgm:t>
    </dgm:pt>
    <dgm:pt modelId="{C33014E5-171E-4C78-9873-EDE65E42B3A8}">
      <dgm:prSet/>
      <dgm:spPr>
        <a:solidFill>
          <a:srgbClr val="D56E48"/>
        </a:solidFill>
      </dgm:spPr>
      <dgm:t>
        <a:bodyPr/>
        <a:lstStyle/>
        <a:p>
          <a:pPr algn="ctr"/>
          <a:r>
            <a:rPr lang="en-US" dirty="0">
              <a:latin typeface="Montserrat" panose="00000500000000000000" pitchFamily="2" charset="0"/>
            </a:rPr>
            <a:t>For long documents or multi-turn conversations, longer context is better (e.g., Gemini 2.5 Flash has 1M Window).</a:t>
          </a:r>
        </a:p>
      </dgm:t>
    </dgm:pt>
    <dgm:pt modelId="{3F2F2229-6864-44CD-8357-DCABBF269A01}" type="parTrans" cxnId="{A65CCF91-774D-496E-BF72-424E4D9BBBA4}">
      <dgm:prSet/>
      <dgm:spPr/>
      <dgm:t>
        <a:bodyPr/>
        <a:lstStyle/>
        <a:p>
          <a:endParaRPr lang="en-CA"/>
        </a:p>
      </dgm:t>
    </dgm:pt>
    <dgm:pt modelId="{622E3180-EAC6-42FE-9433-3517AD62358F}" type="sibTrans" cxnId="{A65CCF91-774D-496E-BF72-424E4D9BBBA4}">
      <dgm:prSet/>
      <dgm:spPr/>
      <dgm:t>
        <a:bodyPr/>
        <a:lstStyle/>
        <a:p>
          <a:endParaRPr lang="en-CA"/>
        </a:p>
      </dgm:t>
    </dgm:pt>
    <dgm:pt modelId="{5664CF71-3B36-4AD1-88C1-E2D53CAFF96A}">
      <dgm:prSet/>
      <dgm:spPr>
        <a:solidFill>
          <a:schemeClr val="bg1">
            <a:lumMod val="65000"/>
          </a:schemeClr>
        </a:solidFill>
      </dgm:spPr>
      <dgm:t>
        <a:bodyPr/>
        <a:lstStyle/>
        <a:p>
          <a:pPr algn="ctr"/>
          <a:r>
            <a:rPr lang="en-US" b="1" dirty="0">
              <a:latin typeface="Montserrat" panose="00000500000000000000" pitchFamily="2" charset="0"/>
            </a:rPr>
            <a:t>Release Date &amp; Knowledge Cut-off</a:t>
          </a:r>
        </a:p>
      </dgm:t>
    </dgm:pt>
    <dgm:pt modelId="{359A220F-4C20-4F84-B21F-5EFE9DCD1484}" type="parTrans" cxnId="{BCF4898E-0D46-4C42-BE5F-39CF092A08D3}">
      <dgm:prSet/>
      <dgm:spPr/>
      <dgm:t>
        <a:bodyPr/>
        <a:lstStyle/>
        <a:p>
          <a:endParaRPr lang="en-CA"/>
        </a:p>
      </dgm:t>
    </dgm:pt>
    <dgm:pt modelId="{31B92580-933C-4C92-92B4-F1644426BFF1}" type="sibTrans" cxnId="{BCF4898E-0D46-4C42-BE5F-39CF092A08D3}">
      <dgm:prSet/>
      <dgm:spPr/>
      <dgm:t>
        <a:bodyPr/>
        <a:lstStyle/>
        <a:p>
          <a:endParaRPr lang="en-CA"/>
        </a:p>
      </dgm:t>
    </dgm:pt>
    <dgm:pt modelId="{4A608EF5-2B63-49A6-9BB6-6C34169A1128}">
      <dgm:prSet/>
      <dgm:spPr>
        <a:solidFill>
          <a:schemeClr val="bg1">
            <a:lumMod val="65000"/>
          </a:schemeClr>
        </a:solidFill>
      </dgm:spPr>
      <dgm:t>
        <a:bodyPr/>
        <a:lstStyle/>
        <a:p>
          <a:pPr algn="ctr"/>
          <a:r>
            <a:rPr lang="en-US" dirty="0">
              <a:latin typeface="Montserrat" panose="00000500000000000000" pitchFamily="2" charset="0"/>
            </a:rPr>
            <a:t>Newer models are trained on more recent data (useful for current events) (e.g.: GPT-3.5’s cut-off is early 2023.</a:t>
          </a:r>
        </a:p>
      </dgm:t>
    </dgm:pt>
    <dgm:pt modelId="{71D48485-CFAD-48CB-9863-9CFFFC446F88}" type="parTrans" cxnId="{CA609692-8BCA-405F-9D08-9D492B59AA71}">
      <dgm:prSet/>
      <dgm:spPr/>
      <dgm:t>
        <a:bodyPr/>
        <a:lstStyle/>
        <a:p>
          <a:endParaRPr lang="en-CA"/>
        </a:p>
      </dgm:t>
    </dgm:pt>
    <dgm:pt modelId="{85A0B412-75BE-4A6A-99F4-AAA81E4A74DB}" type="sibTrans" cxnId="{CA609692-8BCA-405F-9D08-9D492B59AA71}">
      <dgm:prSet/>
      <dgm:spPr/>
      <dgm:t>
        <a:bodyPr/>
        <a:lstStyle/>
        <a:p>
          <a:endParaRPr lang="en-CA"/>
        </a:p>
      </dgm:t>
    </dgm:pt>
    <dgm:pt modelId="{3600A665-44A5-499A-8C1D-03DF7E434A83}">
      <dgm:prSet/>
      <dgm:spPr>
        <a:solidFill>
          <a:srgbClr val="1BBFD1"/>
        </a:solidFill>
      </dgm:spPr>
      <dgm:t>
        <a:bodyPr/>
        <a:lstStyle/>
        <a:p>
          <a:pPr algn="ctr"/>
          <a:r>
            <a:rPr lang="en-US" b="1" dirty="0">
              <a:latin typeface="Montserrat" panose="00000500000000000000" pitchFamily="2" charset="0"/>
            </a:rPr>
            <a:t>Parameters</a:t>
          </a:r>
        </a:p>
      </dgm:t>
    </dgm:pt>
    <dgm:pt modelId="{A6837176-D912-4F04-AEFA-AA15ED73EEB4}" type="parTrans" cxnId="{D08EE8CF-A2D7-4272-8E41-E2F917C43DA2}">
      <dgm:prSet/>
      <dgm:spPr/>
      <dgm:t>
        <a:bodyPr/>
        <a:lstStyle/>
        <a:p>
          <a:endParaRPr lang="en-CA"/>
        </a:p>
      </dgm:t>
    </dgm:pt>
    <dgm:pt modelId="{44C96717-91FA-4034-BED5-073DB8C1918F}" type="sibTrans" cxnId="{D08EE8CF-A2D7-4272-8E41-E2F917C43DA2}">
      <dgm:prSet/>
      <dgm:spPr/>
      <dgm:t>
        <a:bodyPr/>
        <a:lstStyle/>
        <a:p>
          <a:endParaRPr lang="en-CA"/>
        </a:p>
      </dgm:t>
    </dgm:pt>
    <dgm:pt modelId="{D48B3841-90DB-4CF7-BD32-291BD48EF0B1}">
      <dgm:prSet/>
      <dgm:spPr>
        <a:solidFill>
          <a:srgbClr val="1BBFD1"/>
        </a:solidFill>
      </dgm:spPr>
      <dgm:t>
        <a:bodyPr/>
        <a:lstStyle/>
        <a:p>
          <a:pPr algn="ctr"/>
          <a:r>
            <a:rPr lang="en-US" dirty="0">
              <a:latin typeface="Montserrat" panose="00000500000000000000" pitchFamily="2" charset="0"/>
            </a:rPr>
            <a:t>More parameters usually = more capacity (e.g., GPT-3 has 175B).</a:t>
          </a:r>
        </a:p>
      </dgm:t>
    </dgm:pt>
    <dgm:pt modelId="{28790B75-7FCF-49D7-AA5F-0416F5786346}" type="parTrans" cxnId="{2F4DE75D-381B-4E58-B03F-4022C5B702E5}">
      <dgm:prSet/>
      <dgm:spPr/>
      <dgm:t>
        <a:bodyPr/>
        <a:lstStyle/>
        <a:p>
          <a:endParaRPr lang="en-CA"/>
        </a:p>
      </dgm:t>
    </dgm:pt>
    <dgm:pt modelId="{20B558F8-4443-46E8-8A39-C0F0CC6B6D52}" type="sibTrans" cxnId="{2F4DE75D-381B-4E58-B03F-4022C5B702E5}">
      <dgm:prSet/>
      <dgm:spPr/>
      <dgm:t>
        <a:bodyPr/>
        <a:lstStyle/>
        <a:p>
          <a:endParaRPr lang="en-CA"/>
        </a:p>
      </dgm:t>
    </dgm:pt>
    <dgm:pt modelId="{585F79A2-9B65-426E-96A3-F444B043F20B}">
      <dgm:prSet/>
      <dgm:spPr>
        <a:solidFill>
          <a:srgbClr val="1BBFD1"/>
        </a:solidFill>
      </dgm:spPr>
      <dgm:t>
        <a:bodyPr/>
        <a:lstStyle/>
        <a:p>
          <a:pPr algn="ctr"/>
          <a:r>
            <a:rPr lang="en-US" dirty="0">
              <a:latin typeface="Montserrat" panose="00000500000000000000" pitchFamily="2" charset="0"/>
            </a:rPr>
            <a:t>But bigger isn’t always better for performance or cost—efficiency matters too.</a:t>
          </a:r>
        </a:p>
      </dgm:t>
    </dgm:pt>
    <dgm:pt modelId="{0AA58683-D5B8-4ECF-9AE2-0186EB8A0E35}" type="parTrans" cxnId="{EF5A9F16-9EE5-477B-84E8-BAD1692FF2AC}">
      <dgm:prSet/>
      <dgm:spPr/>
      <dgm:t>
        <a:bodyPr/>
        <a:lstStyle/>
        <a:p>
          <a:endParaRPr lang="en-CA"/>
        </a:p>
      </dgm:t>
    </dgm:pt>
    <dgm:pt modelId="{32889396-63CE-4F6F-8F2E-22DA5DA7740F}" type="sibTrans" cxnId="{EF5A9F16-9EE5-477B-84E8-BAD1692FF2AC}">
      <dgm:prSet/>
      <dgm:spPr/>
      <dgm:t>
        <a:bodyPr/>
        <a:lstStyle/>
        <a:p>
          <a:endParaRPr lang="en-CA"/>
        </a:p>
      </dgm:t>
    </dgm:pt>
    <dgm:pt modelId="{6FC848A7-210D-4121-9E51-5CBDC5DE7E55}">
      <dgm:prSet/>
      <dgm:spPr>
        <a:solidFill>
          <a:srgbClr val="0C1752"/>
        </a:solidFill>
      </dgm:spPr>
      <dgm:t>
        <a:bodyPr/>
        <a:lstStyle/>
        <a:p>
          <a:pPr algn="ctr"/>
          <a:r>
            <a:rPr lang="en-US" b="1" dirty="0">
              <a:latin typeface="Montserrat" panose="00000500000000000000" pitchFamily="2" charset="0"/>
            </a:rPr>
            <a:t>Training Tokens</a:t>
          </a:r>
        </a:p>
      </dgm:t>
    </dgm:pt>
    <dgm:pt modelId="{10847966-3B6A-4B4D-A099-71C227CE44CD}" type="parTrans" cxnId="{1C82B913-1642-4F56-8279-36471D6166E2}">
      <dgm:prSet/>
      <dgm:spPr/>
      <dgm:t>
        <a:bodyPr/>
        <a:lstStyle/>
        <a:p>
          <a:endParaRPr lang="en-CA"/>
        </a:p>
      </dgm:t>
    </dgm:pt>
    <dgm:pt modelId="{CF5724C1-CBE0-4468-8837-EA23DB0EA824}" type="sibTrans" cxnId="{1C82B913-1642-4F56-8279-36471D6166E2}">
      <dgm:prSet/>
      <dgm:spPr/>
      <dgm:t>
        <a:bodyPr/>
        <a:lstStyle/>
        <a:p>
          <a:endParaRPr lang="en-CA"/>
        </a:p>
      </dgm:t>
    </dgm:pt>
    <dgm:pt modelId="{A2A45F61-7099-40C2-AAE8-F9D375B9316E}">
      <dgm:prSet/>
      <dgm:spPr>
        <a:solidFill>
          <a:srgbClr val="0C1752"/>
        </a:solidFill>
      </dgm:spPr>
      <dgm:t>
        <a:bodyPr/>
        <a:lstStyle/>
        <a:p>
          <a:pPr algn="ctr"/>
          <a:r>
            <a:rPr lang="en-US" dirty="0">
              <a:latin typeface="Montserrat" panose="00000500000000000000" pitchFamily="2" charset="0"/>
            </a:rPr>
            <a:t>Refers to how much text the model was trained on.</a:t>
          </a:r>
        </a:p>
      </dgm:t>
    </dgm:pt>
    <dgm:pt modelId="{737C5C26-DB70-4EFB-AB49-05ED3CA6EE05}" type="parTrans" cxnId="{EA623D7B-9922-470C-B7F6-E9BA86B6B7A3}">
      <dgm:prSet/>
      <dgm:spPr/>
      <dgm:t>
        <a:bodyPr/>
        <a:lstStyle/>
        <a:p>
          <a:endParaRPr lang="en-CA"/>
        </a:p>
      </dgm:t>
    </dgm:pt>
    <dgm:pt modelId="{B6D20A5B-7245-4AEB-AF50-C92BA9EDB950}" type="sibTrans" cxnId="{EA623D7B-9922-470C-B7F6-E9BA86B6B7A3}">
      <dgm:prSet/>
      <dgm:spPr/>
      <dgm:t>
        <a:bodyPr/>
        <a:lstStyle/>
        <a:p>
          <a:endParaRPr lang="en-CA"/>
        </a:p>
      </dgm:t>
    </dgm:pt>
    <dgm:pt modelId="{631F5968-3CFB-4218-A716-E17E3A3CC04F}">
      <dgm:prSet/>
      <dgm:spPr>
        <a:solidFill>
          <a:srgbClr val="0C1752"/>
        </a:solidFill>
      </dgm:spPr>
      <dgm:t>
        <a:bodyPr/>
        <a:lstStyle/>
        <a:p>
          <a:pPr algn="ctr"/>
          <a:r>
            <a:rPr lang="en-US" dirty="0">
              <a:latin typeface="Montserrat" panose="00000500000000000000" pitchFamily="2" charset="0"/>
            </a:rPr>
            <a:t>More tokens = broader language understanding and generalization</a:t>
          </a:r>
        </a:p>
      </dgm:t>
    </dgm:pt>
    <dgm:pt modelId="{DE1E82C7-0CA7-4FD3-8FD0-B82C3CF5094C}" type="parTrans" cxnId="{ECBC9BBB-1F98-488F-A2D2-791F551D1D7A}">
      <dgm:prSet/>
      <dgm:spPr/>
      <dgm:t>
        <a:bodyPr/>
        <a:lstStyle/>
        <a:p>
          <a:endParaRPr lang="en-CA"/>
        </a:p>
      </dgm:t>
    </dgm:pt>
    <dgm:pt modelId="{7AD29FC6-3C24-48EC-B9DF-103056F046BD}" type="sibTrans" cxnId="{ECBC9BBB-1F98-488F-A2D2-791F551D1D7A}">
      <dgm:prSet/>
      <dgm:spPr/>
      <dgm:t>
        <a:bodyPr/>
        <a:lstStyle/>
        <a:p>
          <a:endParaRPr lang="en-CA"/>
        </a:p>
      </dgm:t>
    </dgm:pt>
    <dgm:pt modelId="{25CA3BB3-E455-4C91-A7A2-4CA1423D5DE5}">
      <dgm:prSet phldrT="[Text]"/>
      <dgm:spPr>
        <a:solidFill>
          <a:srgbClr val="0C1752"/>
        </a:solidFill>
      </dgm:spPr>
      <dgm:t>
        <a:bodyPr/>
        <a:lstStyle/>
        <a:p>
          <a:pPr algn="ctr">
            <a:buNone/>
          </a:pPr>
          <a:r>
            <a:rPr lang="en-US" dirty="0">
              <a:latin typeface="Montserrat" panose="00000500000000000000" pitchFamily="2" charset="0"/>
            </a:rPr>
            <a:t>Open-source (e.g. LLaMA) gives you flexibility, full control, and lower cost if self-hosted.</a:t>
          </a:r>
          <a:endParaRPr lang="en-CA" dirty="0">
            <a:latin typeface="Montserrat" panose="00000500000000000000" pitchFamily="2" charset="0"/>
          </a:endParaRPr>
        </a:p>
      </dgm:t>
    </dgm:pt>
    <dgm:pt modelId="{A78C69AA-3C9C-41C4-BADA-07C99D9B4DD2}" type="parTrans" cxnId="{56EC4FD8-3DD6-46AB-BDC8-967EC4FB19F1}">
      <dgm:prSet/>
      <dgm:spPr/>
      <dgm:t>
        <a:bodyPr/>
        <a:lstStyle/>
        <a:p>
          <a:endParaRPr lang="en-CA"/>
        </a:p>
      </dgm:t>
    </dgm:pt>
    <dgm:pt modelId="{04BC0E57-F42D-4BCB-BE2E-EA08A840BB2D}" type="sibTrans" cxnId="{56EC4FD8-3DD6-46AB-BDC8-967EC4FB19F1}">
      <dgm:prSet/>
      <dgm:spPr/>
      <dgm:t>
        <a:bodyPr/>
        <a:lstStyle/>
        <a:p>
          <a:endParaRPr lang="en-CA"/>
        </a:p>
      </dgm:t>
    </dgm:pt>
    <dgm:pt modelId="{D9089176-832D-4072-AA14-F5882F96BE52}" type="pres">
      <dgm:prSet presAssocID="{AE701675-2628-48BB-B19A-78E43352844D}" presName="diagram" presStyleCnt="0">
        <dgm:presLayoutVars>
          <dgm:dir/>
          <dgm:resizeHandles val="exact"/>
        </dgm:presLayoutVars>
      </dgm:prSet>
      <dgm:spPr/>
    </dgm:pt>
    <dgm:pt modelId="{22A683DA-2E6C-4A1D-B5EB-00B316BB5618}" type="pres">
      <dgm:prSet presAssocID="{66160B89-8E34-470E-901A-66C08B8DD8C4}" presName="node" presStyleLbl="node1" presStyleIdx="0" presStyleCnt="5">
        <dgm:presLayoutVars>
          <dgm:bulletEnabled val="1"/>
        </dgm:presLayoutVars>
      </dgm:prSet>
      <dgm:spPr/>
    </dgm:pt>
    <dgm:pt modelId="{27DA22F2-1C6F-4E84-9D38-7C3E74C00577}" type="pres">
      <dgm:prSet presAssocID="{4222F12A-65CA-4DA9-85F6-320B9889E6AF}" presName="sibTrans" presStyleCnt="0"/>
      <dgm:spPr/>
    </dgm:pt>
    <dgm:pt modelId="{91CC4636-DDCB-4FB1-83BD-729F95322A26}" type="pres">
      <dgm:prSet presAssocID="{3F1DF7AA-B365-474B-A921-56F0DC411E2E}" presName="node" presStyleLbl="node1" presStyleIdx="1" presStyleCnt="5">
        <dgm:presLayoutVars>
          <dgm:bulletEnabled val="1"/>
        </dgm:presLayoutVars>
      </dgm:prSet>
      <dgm:spPr/>
    </dgm:pt>
    <dgm:pt modelId="{D5C972CF-A21D-4D31-BDF9-41C6B6C7E07E}" type="pres">
      <dgm:prSet presAssocID="{D4BA8702-2CBF-405B-A113-53B88854FEDA}" presName="sibTrans" presStyleCnt="0"/>
      <dgm:spPr/>
    </dgm:pt>
    <dgm:pt modelId="{5F91D587-461E-40AC-AD18-81F1604A5BB0}" type="pres">
      <dgm:prSet presAssocID="{5664CF71-3B36-4AD1-88C1-E2D53CAFF96A}" presName="node" presStyleLbl="node1" presStyleIdx="2" presStyleCnt="5">
        <dgm:presLayoutVars>
          <dgm:bulletEnabled val="1"/>
        </dgm:presLayoutVars>
      </dgm:prSet>
      <dgm:spPr/>
    </dgm:pt>
    <dgm:pt modelId="{2F6B6815-6FF4-42C2-9351-A17E8FF59AC4}" type="pres">
      <dgm:prSet presAssocID="{31B92580-933C-4C92-92B4-F1644426BFF1}" presName="sibTrans" presStyleCnt="0"/>
      <dgm:spPr/>
    </dgm:pt>
    <dgm:pt modelId="{8356DDC2-D974-41EE-9499-E52BC9F2CC40}" type="pres">
      <dgm:prSet presAssocID="{3600A665-44A5-499A-8C1D-03DF7E434A83}" presName="node" presStyleLbl="node1" presStyleIdx="3" presStyleCnt="5">
        <dgm:presLayoutVars>
          <dgm:bulletEnabled val="1"/>
        </dgm:presLayoutVars>
      </dgm:prSet>
      <dgm:spPr/>
    </dgm:pt>
    <dgm:pt modelId="{8E49A63F-868D-4DE0-9CF4-ACF5CF9A38A3}" type="pres">
      <dgm:prSet presAssocID="{44C96717-91FA-4034-BED5-073DB8C1918F}" presName="sibTrans" presStyleCnt="0"/>
      <dgm:spPr/>
    </dgm:pt>
    <dgm:pt modelId="{50F23731-CF3F-4209-BB59-D0165D9332CB}" type="pres">
      <dgm:prSet presAssocID="{6FC848A7-210D-4121-9E51-5CBDC5DE7E55}" presName="node" presStyleLbl="node1" presStyleIdx="4" presStyleCnt="5">
        <dgm:presLayoutVars>
          <dgm:bulletEnabled val="1"/>
        </dgm:presLayoutVars>
      </dgm:prSet>
      <dgm:spPr/>
    </dgm:pt>
  </dgm:ptLst>
  <dgm:cxnLst>
    <dgm:cxn modelId="{EBD20009-2D5A-4AE8-BE82-D0578341C1AA}" type="presOf" srcId="{4A608EF5-2B63-49A6-9BB6-6C34169A1128}" destId="{5F91D587-461E-40AC-AD18-81F1604A5BB0}" srcOrd="0" destOrd="1" presId="urn:microsoft.com/office/officeart/2005/8/layout/default"/>
    <dgm:cxn modelId="{1C82B913-1642-4F56-8279-36471D6166E2}" srcId="{AE701675-2628-48BB-B19A-78E43352844D}" destId="{6FC848A7-210D-4121-9E51-5CBDC5DE7E55}" srcOrd="4" destOrd="0" parTransId="{10847966-3B6A-4B4D-A099-71C227CE44CD}" sibTransId="{CF5724C1-CBE0-4468-8837-EA23DB0EA824}"/>
    <dgm:cxn modelId="{EF5A9F16-9EE5-477B-84E8-BAD1692FF2AC}" srcId="{3600A665-44A5-499A-8C1D-03DF7E434A83}" destId="{585F79A2-9B65-426E-96A3-F444B043F20B}" srcOrd="1" destOrd="0" parTransId="{0AA58683-D5B8-4ECF-9AE2-0186EB8A0E35}" sibTransId="{32889396-63CE-4F6F-8F2E-22DA5DA7740F}"/>
    <dgm:cxn modelId="{44C00A1C-4AB4-49D6-9C7E-E3FD79D671CE}" type="presOf" srcId="{3600A665-44A5-499A-8C1D-03DF7E434A83}" destId="{8356DDC2-D974-41EE-9499-E52BC9F2CC40}" srcOrd="0" destOrd="0" presId="urn:microsoft.com/office/officeart/2005/8/layout/default"/>
    <dgm:cxn modelId="{F8EBE621-0443-4F4C-84F5-1687138D05A1}" type="presOf" srcId="{585F79A2-9B65-426E-96A3-F444B043F20B}" destId="{8356DDC2-D974-41EE-9499-E52BC9F2CC40}" srcOrd="0" destOrd="2" presId="urn:microsoft.com/office/officeart/2005/8/layout/default"/>
    <dgm:cxn modelId="{2F4DE75D-381B-4E58-B03F-4022C5B702E5}" srcId="{3600A665-44A5-499A-8C1D-03DF7E434A83}" destId="{D48B3841-90DB-4CF7-BD32-291BD48EF0B1}" srcOrd="0" destOrd="0" parTransId="{28790B75-7FCF-49D7-AA5F-0416F5786346}" sibTransId="{20B558F8-4443-46E8-8A39-C0F0CC6B6D52}"/>
    <dgm:cxn modelId="{38956666-C2BA-4302-BE6F-A87F389D0FD1}" type="presOf" srcId="{3F1DF7AA-B365-474B-A921-56F0DC411E2E}" destId="{91CC4636-DDCB-4FB1-83BD-729F95322A26}" srcOrd="0" destOrd="0" presId="urn:microsoft.com/office/officeart/2005/8/layout/default"/>
    <dgm:cxn modelId="{93415D4C-16FD-4D9B-9ECE-28F903F0824F}" type="presOf" srcId="{6CBBDD14-A5DD-4DCC-912B-F49C322B1E93}" destId="{22A683DA-2E6C-4A1D-B5EB-00B316BB5618}" srcOrd="0" destOrd="2" presId="urn:microsoft.com/office/officeart/2005/8/layout/default"/>
    <dgm:cxn modelId="{EA623D7B-9922-470C-B7F6-E9BA86B6B7A3}" srcId="{6FC848A7-210D-4121-9E51-5CBDC5DE7E55}" destId="{A2A45F61-7099-40C2-AAE8-F9D375B9316E}" srcOrd="0" destOrd="0" parTransId="{737C5C26-DB70-4EFB-AB49-05ED3CA6EE05}" sibTransId="{B6D20A5B-7245-4AEB-AF50-C92BA9EDB950}"/>
    <dgm:cxn modelId="{AF6FD68D-ACB6-4E69-9877-B8EF58564548}" type="presOf" srcId="{25CA3BB3-E455-4C91-A7A2-4CA1423D5DE5}" destId="{22A683DA-2E6C-4A1D-B5EB-00B316BB5618}" srcOrd="0" destOrd="1" presId="urn:microsoft.com/office/officeart/2005/8/layout/default"/>
    <dgm:cxn modelId="{BCF4898E-0D46-4C42-BE5F-39CF092A08D3}" srcId="{AE701675-2628-48BB-B19A-78E43352844D}" destId="{5664CF71-3B36-4AD1-88C1-E2D53CAFF96A}" srcOrd="2" destOrd="0" parTransId="{359A220F-4C20-4F84-B21F-5EFE9DCD1484}" sibTransId="{31B92580-933C-4C92-92B4-F1644426BFF1}"/>
    <dgm:cxn modelId="{A65CCF91-774D-496E-BF72-424E4D9BBBA4}" srcId="{3F1DF7AA-B365-474B-A921-56F0DC411E2E}" destId="{C33014E5-171E-4C78-9873-EDE65E42B3A8}" srcOrd="1" destOrd="0" parTransId="{3F2F2229-6864-44CD-8357-DCABBF269A01}" sibTransId="{622E3180-EAC6-42FE-9433-3517AD62358F}"/>
    <dgm:cxn modelId="{CA609692-8BCA-405F-9D08-9D492B59AA71}" srcId="{5664CF71-3B36-4AD1-88C1-E2D53CAFF96A}" destId="{4A608EF5-2B63-49A6-9BB6-6C34169A1128}" srcOrd="0" destOrd="0" parTransId="{71D48485-CFAD-48CB-9863-9CFFFC446F88}" sibTransId="{85A0B412-75BE-4A6A-99F4-AAA81E4A74DB}"/>
    <dgm:cxn modelId="{60442AAA-F518-4164-B44E-1282E79E6096}" type="presOf" srcId="{6FC848A7-210D-4121-9E51-5CBDC5DE7E55}" destId="{50F23731-CF3F-4209-BB59-D0165D9332CB}" srcOrd="0" destOrd="0" presId="urn:microsoft.com/office/officeart/2005/8/layout/default"/>
    <dgm:cxn modelId="{F21D00B9-B08E-408E-912F-2887FC4A6C2F}" type="presOf" srcId="{C69DB71A-33B3-44D4-94B3-25D0308E61ED}" destId="{91CC4636-DDCB-4FB1-83BD-729F95322A26}" srcOrd="0" destOrd="1" presId="urn:microsoft.com/office/officeart/2005/8/layout/default"/>
    <dgm:cxn modelId="{ECBC9BBB-1F98-488F-A2D2-791F551D1D7A}" srcId="{6FC848A7-210D-4121-9E51-5CBDC5DE7E55}" destId="{631F5968-3CFB-4218-A716-E17E3A3CC04F}" srcOrd="1" destOrd="0" parTransId="{DE1E82C7-0CA7-4FD3-8FD0-B82C3CF5094C}" sibTransId="{7AD29FC6-3C24-48EC-B9DF-103056F046BD}"/>
    <dgm:cxn modelId="{E248D4BF-10B3-4BAD-9AF6-D94FAAFD47F2}" type="presOf" srcId="{631F5968-3CFB-4218-A716-E17E3A3CC04F}" destId="{50F23731-CF3F-4209-BB59-D0165D9332CB}" srcOrd="0" destOrd="2" presId="urn:microsoft.com/office/officeart/2005/8/layout/default"/>
    <dgm:cxn modelId="{A07FD7C4-7131-4F7C-AB28-E836AF334E05}" srcId="{AE701675-2628-48BB-B19A-78E43352844D}" destId="{3F1DF7AA-B365-474B-A921-56F0DC411E2E}" srcOrd="1" destOrd="0" parTransId="{0F2DC970-B29E-4EB6-9A31-1E986D4BFDA1}" sibTransId="{D4BA8702-2CBF-405B-A113-53B88854FEDA}"/>
    <dgm:cxn modelId="{D08EE8CF-A2D7-4272-8E41-E2F917C43DA2}" srcId="{AE701675-2628-48BB-B19A-78E43352844D}" destId="{3600A665-44A5-499A-8C1D-03DF7E434A83}" srcOrd="3" destOrd="0" parTransId="{A6837176-D912-4F04-AEFA-AA15ED73EEB4}" sibTransId="{44C96717-91FA-4034-BED5-073DB8C1918F}"/>
    <dgm:cxn modelId="{4236A1D1-0ECF-423F-98BF-C956E6E9F46A}" type="presOf" srcId="{66160B89-8E34-470E-901A-66C08B8DD8C4}" destId="{22A683DA-2E6C-4A1D-B5EB-00B316BB5618}" srcOrd="0" destOrd="0" presId="urn:microsoft.com/office/officeart/2005/8/layout/default"/>
    <dgm:cxn modelId="{56EC4FD8-3DD6-46AB-BDC8-967EC4FB19F1}" srcId="{66160B89-8E34-470E-901A-66C08B8DD8C4}" destId="{25CA3BB3-E455-4C91-A7A2-4CA1423D5DE5}" srcOrd="0" destOrd="0" parTransId="{A78C69AA-3C9C-41C4-BADA-07C99D9B4DD2}" sibTransId="{04BC0E57-F42D-4BCB-BE2E-EA08A840BB2D}"/>
    <dgm:cxn modelId="{3F9579DA-3E3E-4DCC-ADCE-2CC53161A73C}" type="presOf" srcId="{A2A45F61-7099-40C2-AAE8-F9D375B9316E}" destId="{50F23731-CF3F-4209-BB59-D0165D9332CB}" srcOrd="0" destOrd="1" presId="urn:microsoft.com/office/officeart/2005/8/layout/default"/>
    <dgm:cxn modelId="{225C13DB-7E23-4961-B87E-F33CC0548E5F}" srcId="{66160B89-8E34-470E-901A-66C08B8DD8C4}" destId="{6CBBDD14-A5DD-4DCC-912B-F49C322B1E93}" srcOrd="1" destOrd="0" parTransId="{B5903B53-9551-42D6-87E2-7DFCDB1279A6}" sibTransId="{3329973E-9CF8-452E-95FD-26AA9AD5E682}"/>
    <dgm:cxn modelId="{4BA8D5E5-6EB4-4027-99F0-0BD1282D3605}" srcId="{3F1DF7AA-B365-474B-A921-56F0DC411E2E}" destId="{C69DB71A-33B3-44D4-94B3-25D0308E61ED}" srcOrd="0" destOrd="0" parTransId="{8F0A8BA7-5D15-4F74-8234-E750F03B8F10}" sibTransId="{3208615C-DDE4-4BD1-AAC4-6B455B3B488A}"/>
    <dgm:cxn modelId="{3F8E72EC-DDA9-455E-8849-1C649711D3BE}" type="presOf" srcId="{AE701675-2628-48BB-B19A-78E43352844D}" destId="{D9089176-832D-4072-AA14-F5882F96BE52}" srcOrd="0" destOrd="0" presId="urn:microsoft.com/office/officeart/2005/8/layout/default"/>
    <dgm:cxn modelId="{522C2DFB-9EE9-4D78-9152-97461C974C5A}" type="presOf" srcId="{C33014E5-171E-4C78-9873-EDE65E42B3A8}" destId="{91CC4636-DDCB-4FB1-83BD-729F95322A26}" srcOrd="0" destOrd="2" presId="urn:microsoft.com/office/officeart/2005/8/layout/default"/>
    <dgm:cxn modelId="{DC9D22FD-C9CA-4417-A1FB-0192CA0BDA1B}" type="presOf" srcId="{5664CF71-3B36-4AD1-88C1-E2D53CAFF96A}" destId="{5F91D587-461E-40AC-AD18-81F1604A5BB0}" srcOrd="0" destOrd="0" presId="urn:microsoft.com/office/officeart/2005/8/layout/default"/>
    <dgm:cxn modelId="{76E139FD-EDAA-4303-9841-2646E1F0AFDF}" type="presOf" srcId="{D48B3841-90DB-4CF7-BD32-291BD48EF0B1}" destId="{8356DDC2-D974-41EE-9499-E52BC9F2CC40}" srcOrd="0" destOrd="1" presId="urn:microsoft.com/office/officeart/2005/8/layout/default"/>
    <dgm:cxn modelId="{55542BFE-A53F-45C7-AAEB-EB3E72D3B2DE}" srcId="{AE701675-2628-48BB-B19A-78E43352844D}" destId="{66160B89-8E34-470E-901A-66C08B8DD8C4}" srcOrd="0" destOrd="0" parTransId="{3B0221C5-0537-4FA5-BFF8-7C4BABA57746}" sibTransId="{4222F12A-65CA-4DA9-85F6-320B9889E6AF}"/>
    <dgm:cxn modelId="{FAB2E989-D07D-4A42-87EB-A704AB1D0971}" type="presParOf" srcId="{D9089176-832D-4072-AA14-F5882F96BE52}" destId="{22A683DA-2E6C-4A1D-B5EB-00B316BB5618}" srcOrd="0" destOrd="0" presId="urn:microsoft.com/office/officeart/2005/8/layout/default"/>
    <dgm:cxn modelId="{85717D79-0DBA-4BE2-AA71-1EC367FD30F1}" type="presParOf" srcId="{D9089176-832D-4072-AA14-F5882F96BE52}" destId="{27DA22F2-1C6F-4E84-9D38-7C3E74C00577}" srcOrd="1" destOrd="0" presId="urn:microsoft.com/office/officeart/2005/8/layout/default"/>
    <dgm:cxn modelId="{F3056C19-3BE9-4C6B-8A94-A0DC3A1AC43D}" type="presParOf" srcId="{D9089176-832D-4072-AA14-F5882F96BE52}" destId="{91CC4636-DDCB-4FB1-83BD-729F95322A26}" srcOrd="2" destOrd="0" presId="urn:microsoft.com/office/officeart/2005/8/layout/default"/>
    <dgm:cxn modelId="{0664F19C-7967-4A81-ABB8-00962E4CCCBD}" type="presParOf" srcId="{D9089176-832D-4072-AA14-F5882F96BE52}" destId="{D5C972CF-A21D-4D31-BDF9-41C6B6C7E07E}" srcOrd="3" destOrd="0" presId="urn:microsoft.com/office/officeart/2005/8/layout/default"/>
    <dgm:cxn modelId="{C17028BD-4CE6-49DE-B89D-919694853069}" type="presParOf" srcId="{D9089176-832D-4072-AA14-F5882F96BE52}" destId="{5F91D587-461E-40AC-AD18-81F1604A5BB0}" srcOrd="4" destOrd="0" presId="urn:microsoft.com/office/officeart/2005/8/layout/default"/>
    <dgm:cxn modelId="{A8F6CA03-DDE4-4675-8B7B-386744226C3D}" type="presParOf" srcId="{D9089176-832D-4072-AA14-F5882F96BE52}" destId="{2F6B6815-6FF4-42C2-9351-A17E8FF59AC4}" srcOrd="5" destOrd="0" presId="urn:microsoft.com/office/officeart/2005/8/layout/default"/>
    <dgm:cxn modelId="{82111665-498A-429B-AD4E-108497BC2BDE}" type="presParOf" srcId="{D9089176-832D-4072-AA14-F5882F96BE52}" destId="{8356DDC2-D974-41EE-9499-E52BC9F2CC40}" srcOrd="6" destOrd="0" presId="urn:microsoft.com/office/officeart/2005/8/layout/default"/>
    <dgm:cxn modelId="{13F6035D-93FE-47DB-9567-D25606EC157E}" type="presParOf" srcId="{D9089176-832D-4072-AA14-F5882F96BE52}" destId="{8E49A63F-868D-4DE0-9CF4-ACF5CF9A38A3}" srcOrd="7" destOrd="0" presId="urn:microsoft.com/office/officeart/2005/8/layout/default"/>
    <dgm:cxn modelId="{B46BA44D-B8EB-4F72-A143-10CFED18FE38}" type="presParOf" srcId="{D9089176-832D-4072-AA14-F5882F96BE52}" destId="{50F23731-CF3F-4209-BB59-D0165D9332CB}" srcOrd="8"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375956B-7142-45B3-8DE5-D244F09C1DB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CA"/>
        </a:p>
      </dgm:t>
    </dgm:pt>
    <dgm:pt modelId="{5BA33EC0-B60F-4450-A53E-49F4188846E7}">
      <dgm:prSet custT="1"/>
      <dgm:spPr>
        <a:solidFill>
          <a:srgbClr val="D56E48"/>
        </a:solidFill>
        <a:ln w="12700" cap="flat" cmpd="sng" algn="ctr">
          <a:solidFill>
            <a:prstClr val="white">
              <a:hueOff val="0"/>
              <a:satOff val="0"/>
              <a:lumOff val="0"/>
              <a:alphaOff val="0"/>
            </a:prstClr>
          </a:solidFill>
          <a:prstDash val="solid"/>
          <a:miter lim="800000"/>
        </a:ln>
        <a:effectLst/>
      </dgm:spPr>
      <dgm:t>
        <a:bodyPr/>
        <a:lstStyle/>
        <a:p>
          <a:pPr marL="0" lvl="0" indent="0" algn="l" defTabSz="844550">
            <a:lnSpc>
              <a:spcPct val="90000"/>
            </a:lnSpc>
            <a:spcBef>
              <a:spcPct val="0"/>
            </a:spcBef>
            <a:spcAft>
              <a:spcPct val="35000"/>
            </a:spcAft>
            <a:buNone/>
          </a:pPr>
          <a:r>
            <a:rPr lang="en-US" sz="1600" b="0" kern="1200" dirty="0">
              <a:latin typeface="Montserrat" panose="00000500000000000000" pitchFamily="2" charset="0"/>
            </a:rPr>
            <a:t>Developed the ability to build a coordinated team of autonomous AI Agents within Copilot Studio.</a:t>
          </a:r>
          <a:endParaRPr lang="en-US" sz="1600" b="0" kern="1200" dirty="0">
            <a:solidFill>
              <a:prstClr val="white"/>
            </a:solidFill>
            <a:latin typeface="Montserrat" panose="00000500000000000000" pitchFamily="2" charset="0"/>
            <a:ea typeface="+mn-ea"/>
            <a:cs typeface="+mn-cs"/>
          </a:endParaRPr>
        </a:p>
      </dgm:t>
    </dgm:pt>
    <dgm:pt modelId="{E2E8A93E-55CC-4DA8-8FE2-0585B6A559BF}" type="parTrans" cxnId="{CEF981CC-8089-4147-B862-C2F886EA7337}">
      <dgm:prSet/>
      <dgm:spPr/>
      <dgm:t>
        <a:bodyPr/>
        <a:lstStyle/>
        <a:p>
          <a:endParaRPr lang="en-CA"/>
        </a:p>
      </dgm:t>
    </dgm:pt>
    <dgm:pt modelId="{D51EC324-FF0C-44D2-A3EC-4A164D8D5A93}" type="sibTrans" cxnId="{CEF981CC-8089-4147-B862-C2F886EA7337}">
      <dgm:prSet/>
      <dgm:spPr/>
      <dgm:t>
        <a:bodyPr/>
        <a:lstStyle/>
        <a:p>
          <a:endParaRPr lang="en-CA"/>
        </a:p>
      </dgm:t>
    </dgm:pt>
    <dgm:pt modelId="{E6513E45-0F8D-422C-B2AE-01FB9C4EE732}">
      <dgm:prSet custT="1"/>
      <dgm:spPr>
        <a:solidFill>
          <a:srgbClr val="D56E48"/>
        </a:solidFill>
        <a:ln w="12700" cap="flat" cmpd="sng" algn="ctr">
          <a:solidFill>
            <a:prstClr val="white">
              <a:hueOff val="0"/>
              <a:satOff val="0"/>
              <a:lumOff val="0"/>
              <a:alphaOff val="0"/>
            </a:prstClr>
          </a:solidFill>
          <a:prstDash val="solid"/>
          <a:miter lim="800000"/>
        </a:ln>
        <a:effectLst/>
      </dgm:spPr>
      <dgm:t>
        <a:bodyPr spcFirstLastPara="0" vert="horz" wrap="square" lIns="60960" tIns="60960" rIns="60960" bIns="60960" numCol="1" spcCol="1270" anchor="ctr" anchorCtr="0"/>
        <a:lstStyle/>
        <a:p>
          <a:pPr marL="0" lvl="0" indent="0" algn="l" defTabSz="844550">
            <a:lnSpc>
              <a:spcPct val="90000"/>
            </a:lnSpc>
            <a:spcBef>
              <a:spcPct val="0"/>
            </a:spcBef>
            <a:spcAft>
              <a:spcPct val="35000"/>
            </a:spcAft>
            <a:buNone/>
          </a:pPr>
          <a:r>
            <a:rPr lang="en-US" sz="1600" b="0" kern="1200">
              <a:solidFill>
                <a:prstClr val="white"/>
              </a:solidFill>
              <a:latin typeface="Montserrat" panose="00000500000000000000" pitchFamily="2" charset="0"/>
              <a:ea typeface="+mn-ea"/>
              <a:cs typeface="+mn-cs"/>
            </a:rPr>
            <a:t>Mastered the Agent-to-Agent interaction feature to enable seamless communication between agents.</a:t>
          </a:r>
        </a:p>
      </dgm:t>
    </dgm:pt>
    <dgm:pt modelId="{18433ADF-F1C9-4DAE-8E8A-7DC1A8D80652}" type="parTrans" cxnId="{2639E93B-3C60-40F0-8331-2F08249F8B51}">
      <dgm:prSet/>
      <dgm:spPr/>
      <dgm:t>
        <a:bodyPr/>
        <a:lstStyle/>
        <a:p>
          <a:endParaRPr lang="en-CA"/>
        </a:p>
      </dgm:t>
    </dgm:pt>
    <dgm:pt modelId="{6F5412A5-EBF8-4370-91E5-4D1ECEE3C8A6}" type="sibTrans" cxnId="{2639E93B-3C60-40F0-8331-2F08249F8B51}">
      <dgm:prSet/>
      <dgm:spPr/>
      <dgm:t>
        <a:bodyPr/>
        <a:lstStyle/>
        <a:p>
          <a:endParaRPr lang="en-CA"/>
        </a:p>
      </dgm:t>
    </dgm:pt>
    <dgm:pt modelId="{67BF88ED-3D0D-4D95-A891-DA8E4E03F113}">
      <dgm:prSet custT="1"/>
      <dgm:spPr>
        <a:solidFill>
          <a:srgbClr val="D56E48"/>
        </a:solidFill>
        <a:ln w="12700" cap="flat" cmpd="sng" algn="ctr">
          <a:solidFill>
            <a:prstClr val="white">
              <a:hueOff val="0"/>
              <a:satOff val="0"/>
              <a:lumOff val="0"/>
              <a:alphaOff val="0"/>
            </a:prstClr>
          </a:solidFill>
          <a:prstDash val="solid"/>
          <a:miter lim="800000"/>
        </a:ln>
        <a:effectLst/>
      </dgm:spPr>
      <dgm:t>
        <a:bodyPr spcFirstLastPara="0" vert="horz" wrap="square" lIns="60960" tIns="60960" rIns="60960" bIns="60960" numCol="1" spcCol="1270" anchor="ctr" anchorCtr="0"/>
        <a:lstStyle/>
        <a:p>
          <a:pPr marL="0" lvl="0" indent="0" algn="l" defTabSz="844550">
            <a:lnSpc>
              <a:spcPct val="90000"/>
            </a:lnSpc>
            <a:spcBef>
              <a:spcPct val="0"/>
            </a:spcBef>
            <a:spcAft>
              <a:spcPct val="35000"/>
            </a:spcAft>
            <a:buNone/>
          </a:pPr>
          <a:r>
            <a:rPr lang="en-US" sz="1600" b="0" kern="1200">
              <a:solidFill>
                <a:prstClr val="white"/>
              </a:solidFill>
              <a:latin typeface="Montserrat" panose="00000500000000000000" pitchFamily="2" charset="0"/>
              <a:ea typeface="+mn-ea"/>
              <a:cs typeface="+mn-cs"/>
            </a:rPr>
            <a:t>Learned how to add, configure, and manage child Agents under a master Agent for complex multi-agent workflows.</a:t>
          </a:r>
        </a:p>
      </dgm:t>
    </dgm:pt>
    <dgm:pt modelId="{959792C8-0DF5-4037-A1F4-F798DDB16434}" type="parTrans" cxnId="{3DEBE7A9-F3A3-4247-8875-2ECB5E55C7A0}">
      <dgm:prSet/>
      <dgm:spPr/>
      <dgm:t>
        <a:bodyPr/>
        <a:lstStyle/>
        <a:p>
          <a:endParaRPr lang="en-CA"/>
        </a:p>
      </dgm:t>
    </dgm:pt>
    <dgm:pt modelId="{270597FA-DB15-409A-8142-3227AC01CA17}" type="sibTrans" cxnId="{3DEBE7A9-F3A3-4247-8875-2ECB5E55C7A0}">
      <dgm:prSet/>
      <dgm:spPr/>
      <dgm:t>
        <a:bodyPr/>
        <a:lstStyle/>
        <a:p>
          <a:endParaRPr lang="en-CA"/>
        </a:p>
      </dgm:t>
    </dgm:pt>
    <dgm:pt modelId="{4862A9F8-12EA-4828-9E31-9D12540F74FA}">
      <dgm:prSet custT="1"/>
      <dgm:spPr>
        <a:solidFill>
          <a:srgbClr val="D56E48"/>
        </a:solidFill>
        <a:ln w="12700" cap="flat" cmpd="sng" algn="ctr">
          <a:solidFill>
            <a:prstClr val="white">
              <a:hueOff val="0"/>
              <a:satOff val="0"/>
              <a:lumOff val="0"/>
              <a:alphaOff val="0"/>
            </a:prstClr>
          </a:solidFill>
          <a:prstDash val="solid"/>
          <a:miter lim="800000"/>
        </a:ln>
        <a:effectLst/>
      </dgm:spPr>
      <dgm:t>
        <a:bodyPr spcFirstLastPara="0" vert="horz" wrap="square" lIns="60960" tIns="60960" rIns="60960" bIns="60960" numCol="1" spcCol="1270" anchor="ctr" anchorCtr="0"/>
        <a:lstStyle/>
        <a:p>
          <a:pPr marL="0" lvl="0" indent="0" algn="l" defTabSz="844550">
            <a:lnSpc>
              <a:spcPct val="90000"/>
            </a:lnSpc>
            <a:spcBef>
              <a:spcPct val="0"/>
            </a:spcBef>
            <a:spcAft>
              <a:spcPct val="35000"/>
            </a:spcAft>
            <a:buNone/>
          </a:pPr>
          <a:r>
            <a:rPr lang="en-US" sz="1600" b="0" kern="1200" dirty="0">
              <a:solidFill>
                <a:prstClr val="white"/>
              </a:solidFill>
              <a:latin typeface="Montserrat" panose="00000500000000000000" pitchFamily="2" charset="0"/>
              <a:ea typeface="+mn-ea"/>
              <a:cs typeface="+mn-cs"/>
            </a:rPr>
            <a:t>Gained skill in selecting and combining multiple LLMs, each with different reasoning strengths, to optimize agent performance.</a:t>
          </a:r>
        </a:p>
      </dgm:t>
    </dgm:pt>
    <dgm:pt modelId="{B4D55324-C4B5-4AB3-90CC-4E2F88488E09}" type="parTrans" cxnId="{0D9FA8FF-280F-468E-A7E1-A0B271E47B32}">
      <dgm:prSet/>
      <dgm:spPr/>
      <dgm:t>
        <a:bodyPr/>
        <a:lstStyle/>
        <a:p>
          <a:endParaRPr lang="en-CA"/>
        </a:p>
      </dgm:t>
    </dgm:pt>
    <dgm:pt modelId="{254755A4-5EBC-4A4E-8BBF-F17448D82D1C}" type="sibTrans" cxnId="{0D9FA8FF-280F-468E-A7E1-A0B271E47B32}">
      <dgm:prSet/>
      <dgm:spPr/>
      <dgm:t>
        <a:bodyPr/>
        <a:lstStyle/>
        <a:p>
          <a:endParaRPr lang="en-CA"/>
        </a:p>
      </dgm:t>
    </dgm:pt>
    <dgm:pt modelId="{3AB8BD79-3DE2-43C9-8984-E2A39A87F6F4}">
      <dgm:prSet custT="1"/>
      <dgm:spPr>
        <a:solidFill>
          <a:srgbClr val="D56E48"/>
        </a:solidFill>
        <a:ln w="12700" cap="flat" cmpd="sng" algn="ctr">
          <a:solidFill>
            <a:prstClr val="white">
              <a:hueOff val="0"/>
              <a:satOff val="0"/>
              <a:lumOff val="0"/>
              <a:alphaOff val="0"/>
            </a:prstClr>
          </a:solidFill>
          <a:prstDash val="solid"/>
          <a:miter lim="800000"/>
        </a:ln>
        <a:effectLst/>
      </dgm:spPr>
      <dgm:t>
        <a:bodyPr spcFirstLastPara="0" vert="horz" wrap="square" lIns="60960" tIns="60960" rIns="60960" bIns="60960" numCol="1" spcCol="1270" anchor="ctr" anchorCtr="0"/>
        <a:lstStyle/>
        <a:p>
          <a:pPr marL="0" lvl="0" indent="0" algn="l" defTabSz="844550">
            <a:lnSpc>
              <a:spcPct val="90000"/>
            </a:lnSpc>
            <a:spcBef>
              <a:spcPct val="0"/>
            </a:spcBef>
            <a:spcAft>
              <a:spcPct val="35000"/>
            </a:spcAft>
            <a:buNone/>
          </a:pPr>
          <a:r>
            <a:rPr lang="en-US" sz="1600" b="0" kern="1200" dirty="0">
              <a:solidFill>
                <a:prstClr val="white"/>
              </a:solidFill>
              <a:latin typeface="Montserrat" panose="00000500000000000000" pitchFamily="2" charset="0"/>
              <a:ea typeface="+mn-ea"/>
              <a:cs typeface="+mn-cs"/>
            </a:rPr>
            <a:t>Explored how to compare LLM performance using external leaderboards (e.g., Vellum) to make informed model-selection decisions.</a:t>
          </a:r>
        </a:p>
      </dgm:t>
    </dgm:pt>
    <dgm:pt modelId="{A1B84745-9413-42A2-9AFE-A2813224484C}" type="parTrans" cxnId="{1338A241-B11A-403D-BF89-CE4F379EA17B}">
      <dgm:prSet/>
      <dgm:spPr/>
      <dgm:t>
        <a:bodyPr/>
        <a:lstStyle/>
        <a:p>
          <a:endParaRPr lang="en-CA"/>
        </a:p>
      </dgm:t>
    </dgm:pt>
    <dgm:pt modelId="{9ED7A97F-D3C4-41DF-9D8E-79F1F22AA56C}" type="sibTrans" cxnId="{1338A241-B11A-403D-BF89-CE4F379EA17B}">
      <dgm:prSet/>
      <dgm:spPr/>
      <dgm:t>
        <a:bodyPr/>
        <a:lstStyle/>
        <a:p>
          <a:endParaRPr lang="en-CA"/>
        </a:p>
      </dgm:t>
    </dgm:pt>
    <dgm:pt modelId="{D0CCD457-7D44-40F6-A1E5-BE2FB793C746}" type="pres">
      <dgm:prSet presAssocID="{E375956B-7142-45B3-8DE5-D244F09C1DB8}" presName="linear" presStyleCnt="0">
        <dgm:presLayoutVars>
          <dgm:animLvl val="lvl"/>
          <dgm:resizeHandles val="exact"/>
        </dgm:presLayoutVars>
      </dgm:prSet>
      <dgm:spPr/>
    </dgm:pt>
    <dgm:pt modelId="{EC92549E-8BD5-4B8D-86E0-8FC5462AE070}" type="pres">
      <dgm:prSet presAssocID="{5BA33EC0-B60F-4450-A53E-49F4188846E7}" presName="parentText" presStyleLbl="node1" presStyleIdx="0" presStyleCnt="5">
        <dgm:presLayoutVars>
          <dgm:chMax val="0"/>
          <dgm:bulletEnabled val="1"/>
        </dgm:presLayoutVars>
      </dgm:prSet>
      <dgm:spPr/>
    </dgm:pt>
    <dgm:pt modelId="{43C67B75-D52D-44FC-8C56-5D3112079999}" type="pres">
      <dgm:prSet presAssocID="{D51EC324-FF0C-44D2-A3EC-4A164D8D5A93}" presName="spacer" presStyleCnt="0"/>
      <dgm:spPr/>
    </dgm:pt>
    <dgm:pt modelId="{41089E81-0D4B-4CA6-8D86-578B00A2646A}" type="pres">
      <dgm:prSet presAssocID="{E6513E45-0F8D-422C-B2AE-01FB9C4EE732}" presName="parentText" presStyleLbl="node1" presStyleIdx="1" presStyleCnt="5">
        <dgm:presLayoutVars>
          <dgm:chMax val="0"/>
          <dgm:bulletEnabled val="1"/>
        </dgm:presLayoutVars>
      </dgm:prSet>
      <dgm:spPr>
        <a:xfrm>
          <a:off x="0" y="1066990"/>
          <a:ext cx="9827492" cy="898560"/>
        </a:xfrm>
        <a:prstGeom prst="roundRect">
          <a:avLst/>
        </a:prstGeom>
      </dgm:spPr>
    </dgm:pt>
    <dgm:pt modelId="{D18F4CCE-6C84-4F50-9B31-AD6A55D83FD9}" type="pres">
      <dgm:prSet presAssocID="{6F5412A5-EBF8-4370-91E5-4D1ECEE3C8A6}" presName="spacer" presStyleCnt="0"/>
      <dgm:spPr/>
    </dgm:pt>
    <dgm:pt modelId="{A463EF89-EE75-4A28-BD0C-DD0588D13F68}" type="pres">
      <dgm:prSet presAssocID="{67BF88ED-3D0D-4D95-A891-DA8E4E03F113}" presName="parentText" presStyleLbl="node1" presStyleIdx="2" presStyleCnt="5">
        <dgm:presLayoutVars>
          <dgm:chMax val="0"/>
          <dgm:bulletEnabled val="1"/>
        </dgm:presLayoutVars>
      </dgm:prSet>
      <dgm:spPr>
        <a:xfrm>
          <a:off x="0" y="2103791"/>
          <a:ext cx="9827492" cy="898560"/>
        </a:xfrm>
        <a:prstGeom prst="roundRect">
          <a:avLst/>
        </a:prstGeom>
      </dgm:spPr>
    </dgm:pt>
    <dgm:pt modelId="{34B87B80-1073-4991-857B-17845C2156DF}" type="pres">
      <dgm:prSet presAssocID="{270597FA-DB15-409A-8142-3227AC01CA17}" presName="spacer" presStyleCnt="0"/>
      <dgm:spPr/>
    </dgm:pt>
    <dgm:pt modelId="{7F1F3C02-AA2D-45DA-BDD6-1D72C2FDE800}" type="pres">
      <dgm:prSet presAssocID="{4862A9F8-12EA-4828-9E31-9D12540F74FA}" presName="parentText" presStyleLbl="node1" presStyleIdx="3" presStyleCnt="5">
        <dgm:presLayoutVars>
          <dgm:chMax val="0"/>
          <dgm:bulletEnabled val="1"/>
        </dgm:presLayoutVars>
      </dgm:prSet>
      <dgm:spPr>
        <a:xfrm>
          <a:off x="0" y="3140591"/>
          <a:ext cx="9827492" cy="898560"/>
        </a:xfrm>
        <a:prstGeom prst="roundRect">
          <a:avLst/>
        </a:prstGeom>
      </dgm:spPr>
    </dgm:pt>
    <dgm:pt modelId="{97BAF6AB-C14F-4AE4-A51F-73D4204E2CEF}" type="pres">
      <dgm:prSet presAssocID="{254755A4-5EBC-4A4E-8BBF-F17448D82D1C}" presName="spacer" presStyleCnt="0"/>
      <dgm:spPr/>
    </dgm:pt>
    <dgm:pt modelId="{88591EBA-C99A-4B6A-A9EE-FC47C061EE2B}" type="pres">
      <dgm:prSet presAssocID="{3AB8BD79-3DE2-43C9-8984-E2A39A87F6F4}" presName="parentText" presStyleLbl="node1" presStyleIdx="4" presStyleCnt="5">
        <dgm:presLayoutVars>
          <dgm:chMax val="0"/>
          <dgm:bulletEnabled val="1"/>
        </dgm:presLayoutVars>
      </dgm:prSet>
      <dgm:spPr>
        <a:xfrm>
          <a:off x="0" y="4177391"/>
          <a:ext cx="9827492" cy="898560"/>
        </a:xfrm>
        <a:prstGeom prst="roundRect">
          <a:avLst/>
        </a:prstGeom>
      </dgm:spPr>
    </dgm:pt>
  </dgm:ptLst>
  <dgm:cxnLst>
    <dgm:cxn modelId="{2639E93B-3C60-40F0-8331-2F08249F8B51}" srcId="{E375956B-7142-45B3-8DE5-D244F09C1DB8}" destId="{E6513E45-0F8D-422C-B2AE-01FB9C4EE732}" srcOrd="1" destOrd="0" parTransId="{18433ADF-F1C9-4DAE-8E8A-7DC1A8D80652}" sibTransId="{6F5412A5-EBF8-4370-91E5-4D1ECEE3C8A6}"/>
    <dgm:cxn modelId="{1338A241-B11A-403D-BF89-CE4F379EA17B}" srcId="{E375956B-7142-45B3-8DE5-D244F09C1DB8}" destId="{3AB8BD79-3DE2-43C9-8984-E2A39A87F6F4}" srcOrd="4" destOrd="0" parTransId="{A1B84745-9413-42A2-9AFE-A2813224484C}" sibTransId="{9ED7A97F-D3C4-41DF-9D8E-79F1F22AA56C}"/>
    <dgm:cxn modelId="{5C105367-ED00-4830-BBE2-F544D0A7DC64}" type="presOf" srcId="{3AB8BD79-3DE2-43C9-8984-E2A39A87F6F4}" destId="{88591EBA-C99A-4B6A-A9EE-FC47C061EE2B}" srcOrd="0" destOrd="0" presId="urn:microsoft.com/office/officeart/2005/8/layout/vList2"/>
    <dgm:cxn modelId="{5296F049-F221-46CE-8BAD-D003C9D3579F}" type="presOf" srcId="{E6513E45-0F8D-422C-B2AE-01FB9C4EE732}" destId="{41089E81-0D4B-4CA6-8D86-578B00A2646A}" srcOrd="0" destOrd="0" presId="urn:microsoft.com/office/officeart/2005/8/layout/vList2"/>
    <dgm:cxn modelId="{3F77E96D-75F3-4815-9234-B8777DAA7602}" type="presOf" srcId="{5BA33EC0-B60F-4450-A53E-49F4188846E7}" destId="{EC92549E-8BD5-4B8D-86E0-8FC5462AE070}" srcOrd="0" destOrd="0" presId="urn:microsoft.com/office/officeart/2005/8/layout/vList2"/>
    <dgm:cxn modelId="{3DEBE7A9-F3A3-4247-8875-2ECB5E55C7A0}" srcId="{E375956B-7142-45B3-8DE5-D244F09C1DB8}" destId="{67BF88ED-3D0D-4D95-A891-DA8E4E03F113}" srcOrd="2" destOrd="0" parTransId="{959792C8-0DF5-4037-A1F4-F798DDB16434}" sibTransId="{270597FA-DB15-409A-8142-3227AC01CA17}"/>
    <dgm:cxn modelId="{2334A0B9-8EDC-47A9-86DA-45A792C8F7A4}" type="presOf" srcId="{E375956B-7142-45B3-8DE5-D244F09C1DB8}" destId="{D0CCD457-7D44-40F6-A1E5-BE2FB793C746}" srcOrd="0" destOrd="0" presId="urn:microsoft.com/office/officeart/2005/8/layout/vList2"/>
    <dgm:cxn modelId="{3670B7C7-9B3A-4D72-B006-3BEAB5ABD8E4}" type="presOf" srcId="{67BF88ED-3D0D-4D95-A891-DA8E4E03F113}" destId="{A463EF89-EE75-4A28-BD0C-DD0588D13F68}" srcOrd="0" destOrd="0" presId="urn:microsoft.com/office/officeart/2005/8/layout/vList2"/>
    <dgm:cxn modelId="{CEF981CC-8089-4147-B862-C2F886EA7337}" srcId="{E375956B-7142-45B3-8DE5-D244F09C1DB8}" destId="{5BA33EC0-B60F-4450-A53E-49F4188846E7}" srcOrd="0" destOrd="0" parTransId="{E2E8A93E-55CC-4DA8-8FE2-0585B6A559BF}" sibTransId="{D51EC324-FF0C-44D2-A3EC-4A164D8D5A93}"/>
    <dgm:cxn modelId="{331F88F6-3C03-43AA-B468-334E6896A454}" type="presOf" srcId="{4862A9F8-12EA-4828-9E31-9D12540F74FA}" destId="{7F1F3C02-AA2D-45DA-BDD6-1D72C2FDE800}" srcOrd="0" destOrd="0" presId="urn:microsoft.com/office/officeart/2005/8/layout/vList2"/>
    <dgm:cxn modelId="{0D9FA8FF-280F-468E-A7E1-A0B271E47B32}" srcId="{E375956B-7142-45B3-8DE5-D244F09C1DB8}" destId="{4862A9F8-12EA-4828-9E31-9D12540F74FA}" srcOrd="3" destOrd="0" parTransId="{B4D55324-C4B5-4AB3-90CC-4E2F88488E09}" sibTransId="{254755A4-5EBC-4A4E-8BBF-F17448D82D1C}"/>
    <dgm:cxn modelId="{AF61AC5D-8AD0-47BB-8F5A-8A6217726983}" type="presParOf" srcId="{D0CCD457-7D44-40F6-A1E5-BE2FB793C746}" destId="{EC92549E-8BD5-4B8D-86E0-8FC5462AE070}" srcOrd="0" destOrd="0" presId="urn:microsoft.com/office/officeart/2005/8/layout/vList2"/>
    <dgm:cxn modelId="{77F9117E-4D05-4714-A747-E25E9388D8A0}" type="presParOf" srcId="{D0CCD457-7D44-40F6-A1E5-BE2FB793C746}" destId="{43C67B75-D52D-44FC-8C56-5D3112079999}" srcOrd="1" destOrd="0" presId="urn:microsoft.com/office/officeart/2005/8/layout/vList2"/>
    <dgm:cxn modelId="{CF728391-F714-432B-A1DC-2AC92D1A5E31}" type="presParOf" srcId="{D0CCD457-7D44-40F6-A1E5-BE2FB793C746}" destId="{41089E81-0D4B-4CA6-8D86-578B00A2646A}" srcOrd="2" destOrd="0" presId="urn:microsoft.com/office/officeart/2005/8/layout/vList2"/>
    <dgm:cxn modelId="{4EE5B716-3C8A-4EF1-BADB-13FB42983A54}" type="presParOf" srcId="{D0CCD457-7D44-40F6-A1E5-BE2FB793C746}" destId="{D18F4CCE-6C84-4F50-9B31-AD6A55D83FD9}" srcOrd="3" destOrd="0" presId="urn:microsoft.com/office/officeart/2005/8/layout/vList2"/>
    <dgm:cxn modelId="{7D9A64FC-742C-4C77-ADB6-008F62234C1B}" type="presParOf" srcId="{D0CCD457-7D44-40F6-A1E5-BE2FB793C746}" destId="{A463EF89-EE75-4A28-BD0C-DD0588D13F68}" srcOrd="4" destOrd="0" presId="urn:microsoft.com/office/officeart/2005/8/layout/vList2"/>
    <dgm:cxn modelId="{EC999522-FFBF-43A0-B99E-5DBB34E5F984}" type="presParOf" srcId="{D0CCD457-7D44-40F6-A1E5-BE2FB793C746}" destId="{34B87B80-1073-4991-857B-17845C2156DF}" srcOrd="5" destOrd="0" presId="urn:microsoft.com/office/officeart/2005/8/layout/vList2"/>
    <dgm:cxn modelId="{7153A301-7E02-4DFF-8F31-005402B38656}" type="presParOf" srcId="{D0CCD457-7D44-40F6-A1E5-BE2FB793C746}" destId="{7F1F3C02-AA2D-45DA-BDD6-1D72C2FDE800}" srcOrd="6" destOrd="0" presId="urn:microsoft.com/office/officeart/2005/8/layout/vList2"/>
    <dgm:cxn modelId="{C6946D1C-782A-442C-88EC-BE1B061017E9}" type="presParOf" srcId="{D0CCD457-7D44-40F6-A1E5-BE2FB793C746}" destId="{97BAF6AB-C14F-4AE4-A51F-73D4204E2CEF}" srcOrd="7" destOrd="0" presId="urn:microsoft.com/office/officeart/2005/8/layout/vList2"/>
    <dgm:cxn modelId="{0DA9D83F-F01A-4228-A235-2FB8125068C5}" type="presParOf" srcId="{D0CCD457-7D44-40F6-A1E5-BE2FB793C746}" destId="{88591EBA-C99A-4B6A-A9EE-FC47C061EE2B}" srcOrd="8"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558E55-37DC-4859-9ABB-EFE02DEEEF05}">
      <dsp:nvSpPr>
        <dsp:cNvPr id="0" name=""/>
        <dsp:cNvSpPr/>
      </dsp:nvSpPr>
      <dsp:spPr>
        <a:xfrm>
          <a:off x="0" y="46733"/>
          <a:ext cx="3137876" cy="1882725"/>
        </a:xfrm>
        <a:prstGeom prst="rect">
          <a:avLst/>
        </a:prstGeom>
        <a:solidFill>
          <a:srgbClr val="0C1752"/>
        </a:solidFill>
        <a:ln w="12700" cap="flat" cmpd="sng" algn="ctr">
          <a:solidFill>
            <a:srgbClr val="0C175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latin typeface="Montserrat" panose="00000500000000000000" pitchFamily="2" charset="0"/>
              <a:cs typeface="Mongolian Baiti" panose="03000500000000000000" pitchFamily="66" charset="0"/>
            </a:rPr>
            <a:t>Build a team of Autonomous AI Agents in Copilot Studio.</a:t>
          </a:r>
        </a:p>
      </dsp:txBody>
      <dsp:txXfrm>
        <a:off x="0" y="46733"/>
        <a:ext cx="3137876" cy="1882725"/>
      </dsp:txXfrm>
    </dsp:sp>
    <dsp:sp modelId="{BE73B1EC-B7E1-4848-84E7-7115730A32AA}">
      <dsp:nvSpPr>
        <dsp:cNvPr id="0" name=""/>
        <dsp:cNvSpPr/>
      </dsp:nvSpPr>
      <dsp:spPr>
        <a:xfrm>
          <a:off x="3451664" y="46733"/>
          <a:ext cx="3137876" cy="1882725"/>
        </a:xfrm>
        <a:prstGeom prst="rect">
          <a:avLst/>
        </a:prstGeom>
        <a:solidFill>
          <a:srgbClr val="D56E48"/>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solidFill>
                <a:prstClr val="white"/>
              </a:solidFill>
              <a:latin typeface="Montserrat" panose="00000500000000000000" pitchFamily="2" charset="0"/>
              <a:ea typeface="+mn-ea"/>
              <a:cs typeface="+mn-cs"/>
            </a:rPr>
            <a:t>Learn Agent to Agent feature in Copilot Studio</a:t>
          </a:r>
        </a:p>
      </dsp:txBody>
      <dsp:txXfrm>
        <a:off x="3451664" y="46733"/>
        <a:ext cx="3137876" cy="1882725"/>
      </dsp:txXfrm>
    </dsp:sp>
    <dsp:sp modelId="{66FD1FEE-6916-469C-AC20-5281BA353382}">
      <dsp:nvSpPr>
        <dsp:cNvPr id="0" name=""/>
        <dsp:cNvSpPr/>
      </dsp:nvSpPr>
      <dsp:spPr>
        <a:xfrm>
          <a:off x="6903328" y="46733"/>
          <a:ext cx="3137876" cy="1882725"/>
        </a:xfrm>
        <a:prstGeom prst="rect">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latin typeface="Montserrat" panose="00000500000000000000" pitchFamily="2" charset="0"/>
            </a:rPr>
            <a:t>Learn how to add and configure child Agent to a master Agent.</a:t>
          </a:r>
        </a:p>
      </dsp:txBody>
      <dsp:txXfrm>
        <a:off x="6903328" y="46733"/>
        <a:ext cx="3137876" cy="1882725"/>
      </dsp:txXfrm>
    </dsp:sp>
    <dsp:sp modelId="{6252F9F4-D0DC-4D13-9592-F953C7F49611}">
      <dsp:nvSpPr>
        <dsp:cNvPr id="0" name=""/>
        <dsp:cNvSpPr/>
      </dsp:nvSpPr>
      <dsp:spPr>
        <a:xfrm>
          <a:off x="1725832" y="2243246"/>
          <a:ext cx="3137876" cy="1882725"/>
        </a:xfrm>
        <a:prstGeom prst="rect">
          <a:avLst/>
        </a:prstGeom>
        <a:solidFill>
          <a:srgbClr val="11CCD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latin typeface="Montserrat" panose="00000500000000000000" pitchFamily="2" charset="0"/>
            </a:rPr>
            <a:t>Learn how to select multiple Models with different degrees in Reasoning.</a:t>
          </a:r>
        </a:p>
      </dsp:txBody>
      <dsp:txXfrm>
        <a:off x="1725832" y="2243246"/>
        <a:ext cx="3137876" cy="1882725"/>
      </dsp:txXfrm>
    </dsp:sp>
    <dsp:sp modelId="{22AE5A2B-7540-4FDD-87BF-1494829FA0CB}">
      <dsp:nvSpPr>
        <dsp:cNvPr id="0" name=""/>
        <dsp:cNvSpPr/>
      </dsp:nvSpPr>
      <dsp:spPr>
        <a:xfrm>
          <a:off x="5177496" y="2243246"/>
          <a:ext cx="3137876" cy="1882725"/>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latin typeface="Montserrat" panose="00000500000000000000" pitchFamily="2" charset="0"/>
            </a:rPr>
            <a:t>Compare LLMs using various leaderboards such as Vellum.</a:t>
          </a:r>
        </a:p>
      </dsp:txBody>
      <dsp:txXfrm>
        <a:off x="5177496" y="2243246"/>
        <a:ext cx="3137876" cy="18827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A683DA-2E6C-4A1D-B5EB-00B316BB5618}">
      <dsp:nvSpPr>
        <dsp:cNvPr id="0" name=""/>
        <dsp:cNvSpPr/>
      </dsp:nvSpPr>
      <dsp:spPr>
        <a:xfrm>
          <a:off x="101611" y="811"/>
          <a:ext cx="3062988" cy="1837793"/>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None/>
          </a:pPr>
          <a:r>
            <a:rPr lang="en-US" sz="1800" b="1" kern="1200" dirty="0">
              <a:latin typeface="Montserrat" panose="00000500000000000000" pitchFamily="2" charset="0"/>
            </a:rPr>
            <a:t>Open-source or Closed</a:t>
          </a:r>
          <a:endParaRPr lang="en-CA" sz="1800" kern="1200" dirty="0">
            <a:latin typeface="Montserrat" panose="00000500000000000000" pitchFamily="2" charset="0"/>
          </a:endParaRPr>
        </a:p>
        <a:p>
          <a:pPr marL="114300" lvl="1" indent="-114300" algn="ctr" defTabSz="622300">
            <a:lnSpc>
              <a:spcPct val="90000"/>
            </a:lnSpc>
            <a:spcBef>
              <a:spcPct val="0"/>
            </a:spcBef>
            <a:spcAft>
              <a:spcPct val="15000"/>
            </a:spcAft>
            <a:buNone/>
          </a:pPr>
          <a:r>
            <a:rPr lang="en-US" sz="1400" kern="1200" dirty="0">
              <a:latin typeface="Montserrat" panose="00000500000000000000" pitchFamily="2" charset="0"/>
            </a:rPr>
            <a:t>Open-source (e.g. LLaMA) gives you flexibility, full control, and lower cost if self-hosted.</a:t>
          </a:r>
          <a:endParaRPr lang="en-CA" sz="1400" kern="1200" dirty="0">
            <a:latin typeface="Montserrat" panose="00000500000000000000" pitchFamily="2" charset="0"/>
          </a:endParaRPr>
        </a:p>
        <a:p>
          <a:pPr marL="114300" lvl="1" indent="-114300" algn="ctr" defTabSz="622300">
            <a:lnSpc>
              <a:spcPct val="90000"/>
            </a:lnSpc>
            <a:spcBef>
              <a:spcPct val="0"/>
            </a:spcBef>
            <a:spcAft>
              <a:spcPct val="15000"/>
            </a:spcAft>
            <a:buChar char="•"/>
          </a:pPr>
          <a:r>
            <a:rPr lang="en-US" sz="1400" kern="1200" dirty="0">
              <a:latin typeface="Montserrat" panose="00000500000000000000" pitchFamily="2" charset="0"/>
            </a:rPr>
            <a:t>Closed (e.g. GPT-4) usually offers better performance and ease of use via APIs.</a:t>
          </a:r>
        </a:p>
      </dsp:txBody>
      <dsp:txXfrm>
        <a:off x="101611" y="811"/>
        <a:ext cx="3062988" cy="1837793"/>
      </dsp:txXfrm>
    </dsp:sp>
    <dsp:sp modelId="{91CC4636-DDCB-4FB1-83BD-729F95322A26}">
      <dsp:nvSpPr>
        <dsp:cNvPr id="0" name=""/>
        <dsp:cNvSpPr/>
      </dsp:nvSpPr>
      <dsp:spPr>
        <a:xfrm>
          <a:off x="3470898" y="811"/>
          <a:ext cx="3062988" cy="1837793"/>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None/>
          </a:pPr>
          <a:r>
            <a:rPr lang="en-US" sz="1800" b="1" kern="1200" dirty="0">
              <a:latin typeface="Montserrat" panose="00000500000000000000" pitchFamily="2" charset="0"/>
            </a:rPr>
            <a:t>Context Length</a:t>
          </a:r>
        </a:p>
        <a:p>
          <a:pPr marL="114300" lvl="1" indent="-114300" algn="ctr" defTabSz="622300">
            <a:lnSpc>
              <a:spcPct val="90000"/>
            </a:lnSpc>
            <a:spcBef>
              <a:spcPct val="0"/>
            </a:spcBef>
            <a:spcAft>
              <a:spcPct val="15000"/>
            </a:spcAft>
            <a:buChar char="•"/>
          </a:pPr>
          <a:r>
            <a:rPr lang="en-US" sz="1400" kern="1200" dirty="0">
              <a:latin typeface="Montserrat" panose="00000500000000000000" pitchFamily="2" charset="0"/>
            </a:rPr>
            <a:t>How much input/output the model can handle in one go.</a:t>
          </a:r>
        </a:p>
        <a:p>
          <a:pPr marL="114300" lvl="1" indent="-114300" algn="ctr" defTabSz="622300">
            <a:lnSpc>
              <a:spcPct val="90000"/>
            </a:lnSpc>
            <a:spcBef>
              <a:spcPct val="0"/>
            </a:spcBef>
            <a:spcAft>
              <a:spcPct val="15000"/>
            </a:spcAft>
            <a:buChar char="•"/>
          </a:pPr>
          <a:r>
            <a:rPr lang="en-US" sz="1400" kern="1200" dirty="0">
              <a:latin typeface="Montserrat" panose="00000500000000000000" pitchFamily="2" charset="0"/>
            </a:rPr>
            <a:t>For long documents or multi-turn conversations, longer context is better (e.g., Gemini 2.5 Flash has 1M Window).</a:t>
          </a:r>
        </a:p>
      </dsp:txBody>
      <dsp:txXfrm>
        <a:off x="3470898" y="811"/>
        <a:ext cx="3062988" cy="1837793"/>
      </dsp:txXfrm>
    </dsp:sp>
    <dsp:sp modelId="{5F91D587-461E-40AC-AD18-81F1604A5BB0}">
      <dsp:nvSpPr>
        <dsp:cNvPr id="0" name=""/>
        <dsp:cNvSpPr/>
      </dsp:nvSpPr>
      <dsp:spPr>
        <a:xfrm>
          <a:off x="6840185" y="811"/>
          <a:ext cx="3062988" cy="1837793"/>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None/>
          </a:pPr>
          <a:r>
            <a:rPr lang="en-US" sz="1800" b="1" kern="1200" dirty="0">
              <a:latin typeface="Montserrat" panose="00000500000000000000" pitchFamily="2" charset="0"/>
            </a:rPr>
            <a:t>Release Date &amp; Knowledge Cut-off</a:t>
          </a:r>
        </a:p>
        <a:p>
          <a:pPr marL="114300" lvl="1" indent="-114300" algn="ctr" defTabSz="622300">
            <a:lnSpc>
              <a:spcPct val="90000"/>
            </a:lnSpc>
            <a:spcBef>
              <a:spcPct val="0"/>
            </a:spcBef>
            <a:spcAft>
              <a:spcPct val="15000"/>
            </a:spcAft>
            <a:buChar char="•"/>
          </a:pPr>
          <a:r>
            <a:rPr lang="en-US" sz="1400" kern="1200" dirty="0">
              <a:latin typeface="Montserrat" panose="00000500000000000000" pitchFamily="2" charset="0"/>
            </a:rPr>
            <a:t>Newer models are trained on more recent data (useful for current events) (e.g.: GPT-3.5’s cut-off is early 2023.</a:t>
          </a:r>
        </a:p>
      </dsp:txBody>
      <dsp:txXfrm>
        <a:off x="6840185" y="811"/>
        <a:ext cx="3062988" cy="1837793"/>
      </dsp:txXfrm>
    </dsp:sp>
    <dsp:sp modelId="{8356DDC2-D974-41EE-9499-E52BC9F2CC40}">
      <dsp:nvSpPr>
        <dsp:cNvPr id="0" name=""/>
        <dsp:cNvSpPr/>
      </dsp:nvSpPr>
      <dsp:spPr>
        <a:xfrm>
          <a:off x="1786254" y="2144902"/>
          <a:ext cx="3062988" cy="1837793"/>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None/>
          </a:pPr>
          <a:r>
            <a:rPr lang="en-US" sz="1800" b="1" kern="1200" dirty="0">
              <a:latin typeface="Montserrat" panose="00000500000000000000" pitchFamily="2" charset="0"/>
            </a:rPr>
            <a:t>Parameters</a:t>
          </a:r>
        </a:p>
        <a:p>
          <a:pPr marL="114300" lvl="1" indent="-114300" algn="ctr" defTabSz="622300">
            <a:lnSpc>
              <a:spcPct val="90000"/>
            </a:lnSpc>
            <a:spcBef>
              <a:spcPct val="0"/>
            </a:spcBef>
            <a:spcAft>
              <a:spcPct val="15000"/>
            </a:spcAft>
            <a:buChar char="•"/>
          </a:pPr>
          <a:r>
            <a:rPr lang="en-US" sz="1400" kern="1200" dirty="0">
              <a:latin typeface="Montserrat" panose="00000500000000000000" pitchFamily="2" charset="0"/>
            </a:rPr>
            <a:t>More parameters usually = more capacity (e.g., GPT-3 has 175B).</a:t>
          </a:r>
        </a:p>
        <a:p>
          <a:pPr marL="114300" lvl="1" indent="-114300" algn="ctr" defTabSz="622300">
            <a:lnSpc>
              <a:spcPct val="90000"/>
            </a:lnSpc>
            <a:spcBef>
              <a:spcPct val="0"/>
            </a:spcBef>
            <a:spcAft>
              <a:spcPct val="15000"/>
            </a:spcAft>
            <a:buChar char="•"/>
          </a:pPr>
          <a:r>
            <a:rPr lang="en-US" sz="1400" kern="1200" dirty="0">
              <a:latin typeface="Montserrat" panose="00000500000000000000" pitchFamily="2" charset="0"/>
            </a:rPr>
            <a:t>But bigger isn’t always better for performance or cost—efficiency matters too.</a:t>
          </a:r>
        </a:p>
      </dsp:txBody>
      <dsp:txXfrm>
        <a:off x="1786254" y="2144902"/>
        <a:ext cx="3062988" cy="1837793"/>
      </dsp:txXfrm>
    </dsp:sp>
    <dsp:sp modelId="{50F23731-CF3F-4209-BB59-D0165D9332CB}">
      <dsp:nvSpPr>
        <dsp:cNvPr id="0" name=""/>
        <dsp:cNvSpPr/>
      </dsp:nvSpPr>
      <dsp:spPr>
        <a:xfrm>
          <a:off x="5155541" y="2144902"/>
          <a:ext cx="3062988" cy="1837793"/>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None/>
          </a:pPr>
          <a:r>
            <a:rPr lang="en-US" sz="1800" b="1" kern="1200" dirty="0">
              <a:latin typeface="Montserrat" panose="00000500000000000000" pitchFamily="2" charset="0"/>
            </a:rPr>
            <a:t>Training Tokens</a:t>
          </a:r>
        </a:p>
        <a:p>
          <a:pPr marL="114300" lvl="1" indent="-114300" algn="ctr" defTabSz="622300">
            <a:lnSpc>
              <a:spcPct val="90000"/>
            </a:lnSpc>
            <a:spcBef>
              <a:spcPct val="0"/>
            </a:spcBef>
            <a:spcAft>
              <a:spcPct val="15000"/>
            </a:spcAft>
            <a:buChar char="•"/>
          </a:pPr>
          <a:r>
            <a:rPr lang="en-US" sz="1400" kern="1200" dirty="0">
              <a:latin typeface="Montserrat" panose="00000500000000000000" pitchFamily="2" charset="0"/>
            </a:rPr>
            <a:t>Refers to how much text the model was trained on.</a:t>
          </a:r>
        </a:p>
        <a:p>
          <a:pPr marL="114300" lvl="1" indent="-114300" algn="ctr" defTabSz="622300">
            <a:lnSpc>
              <a:spcPct val="90000"/>
            </a:lnSpc>
            <a:spcBef>
              <a:spcPct val="0"/>
            </a:spcBef>
            <a:spcAft>
              <a:spcPct val="15000"/>
            </a:spcAft>
            <a:buChar char="•"/>
          </a:pPr>
          <a:r>
            <a:rPr lang="en-US" sz="1400" kern="1200" dirty="0">
              <a:latin typeface="Montserrat" panose="00000500000000000000" pitchFamily="2" charset="0"/>
            </a:rPr>
            <a:t>More tokens = broader language understanding and generalization</a:t>
          </a:r>
        </a:p>
      </dsp:txBody>
      <dsp:txXfrm>
        <a:off x="5155541" y="2144902"/>
        <a:ext cx="3062988" cy="183779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92549E-8BD5-4B8D-86E0-8FC5462AE070}">
      <dsp:nvSpPr>
        <dsp:cNvPr id="0" name=""/>
        <dsp:cNvSpPr/>
      </dsp:nvSpPr>
      <dsp:spPr>
        <a:xfrm>
          <a:off x="0" y="30190"/>
          <a:ext cx="9827492" cy="898560"/>
        </a:xfrm>
        <a:prstGeom prst="roundRect">
          <a:avLst/>
        </a:prstGeom>
        <a:solidFill>
          <a:srgbClr val="D56E48"/>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844550">
            <a:lnSpc>
              <a:spcPct val="90000"/>
            </a:lnSpc>
            <a:spcBef>
              <a:spcPct val="0"/>
            </a:spcBef>
            <a:spcAft>
              <a:spcPct val="35000"/>
            </a:spcAft>
            <a:buNone/>
          </a:pPr>
          <a:r>
            <a:rPr lang="en-US" sz="1600" b="0" kern="1200" dirty="0">
              <a:latin typeface="Montserrat" panose="00000500000000000000" pitchFamily="2" charset="0"/>
            </a:rPr>
            <a:t>Developed the ability to build a coordinated team of autonomous AI Agents within Copilot Studio.</a:t>
          </a:r>
          <a:endParaRPr lang="en-US" sz="1600" b="0" kern="1200" dirty="0">
            <a:solidFill>
              <a:prstClr val="white"/>
            </a:solidFill>
            <a:latin typeface="Montserrat" panose="00000500000000000000" pitchFamily="2" charset="0"/>
            <a:ea typeface="+mn-ea"/>
            <a:cs typeface="+mn-cs"/>
          </a:endParaRPr>
        </a:p>
      </dsp:txBody>
      <dsp:txXfrm>
        <a:off x="43864" y="74054"/>
        <a:ext cx="9739764" cy="810832"/>
      </dsp:txXfrm>
    </dsp:sp>
    <dsp:sp modelId="{41089E81-0D4B-4CA6-8D86-578B00A2646A}">
      <dsp:nvSpPr>
        <dsp:cNvPr id="0" name=""/>
        <dsp:cNvSpPr/>
      </dsp:nvSpPr>
      <dsp:spPr>
        <a:xfrm>
          <a:off x="0" y="1066990"/>
          <a:ext cx="9827492" cy="898560"/>
        </a:xfrm>
        <a:prstGeom prst="roundRect">
          <a:avLst/>
        </a:prstGeom>
        <a:solidFill>
          <a:srgbClr val="D56E48"/>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844550">
            <a:lnSpc>
              <a:spcPct val="90000"/>
            </a:lnSpc>
            <a:spcBef>
              <a:spcPct val="0"/>
            </a:spcBef>
            <a:spcAft>
              <a:spcPct val="35000"/>
            </a:spcAft>
            <a:buNone/>
          </a:pPr>
          <a:r>
            <a:rPr lang="en-US" sz="1600" b="0" kern="1200">
              <a:solidFill>
                <a:prstClr val="white"/>
              </a:solidFill>
              <a:latin typeface="Montserrat" panose="00000500000000000000" pitchFamily="2" charset="0"/>
              <a:ea typeface="+mn-ea"/>
              <a:cs typeface="+mn-cs"/>
            </a:rPr>
            <a:t>Mastered the Agent-to-Agent interaction feature to enable seamless communication between agents.</a:t>
          </a:r>
        </a:p>
      </dsp:txBody>
      <dsp:txXfrm>
        <a:off x="43864" y="1110854"/>
        <a:ext cx="9739764" cy="810832"/>
      </dsp:txXfrm>
    </dsp:sp>
    <dsp:sp modelId="{A463EF89-EE75-4A28-BD0C-DD0588D13F68}">
      <dsp:nvSpPr>
        <dsp:cNvPr id="0" name=""/>
        <dsp:cNvSpPr/>
      </dsp:nvSpPr>
      <dsp:spPr>
        <a:xfrm>
          <a:off x="0" y="2103791"/>
          <a:ext cx="9827492" cy="898560"/>
        </a:xfrm>
        <a:prstGeom prst="roundRect">
          <a:avLst/>
        </a:prstGeom>
        <a:solidFill>
          <a:srgbClr val="D56E48"/>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844550">
            <a:lnSpc>
              <a:spcPct val="90000"/>
            </a:lnSpc>
            <a:spcBef>
              <a:spcPct val="0"/>
            </a:spcBef>
            <a:spcAft>
              <a:spcPct val="35000"/>
            </a:spcAft>
            <a:buNone/>
          </a:pPr>
          <a:r>
            <a:rPr lang="en-US" sz="1600" b="0" kern="1200">
              <a:solidFill>
                <a:prstClr val="white"/>
              </a:solidFill>
              <a:latin typeface="Montserrat" panose="00000500000000000000" pitchFamily="2" charset="0"/>
              <a:ea typeface="+mn-ea"/>
              <a:cs typeface="+mn-cs"/>
            </a:rPr>
            <a:t>Learned how to add, configure, and manage child Agents under a master Agent for complex multi-agent workflows.</a:t>
          </a:r>
        </a:p>
      </dsp:txBody>
      <dsp:txXfrm>
        <a:off x="43864" y="2147655"/>
        <a:ext cx="9739764" cy="810832"/>
      </dsp:txXfrm>
    </dsp:sp>
    <dsp:sp modelId="{7F1F3C02-AA2D-45DA-BDD6-1D72C2FDE800}">
      <dsp:nvSpPr>
        <dsp:cNvPr id="0" name=""/>
        <dsp:cNvSpPr/>
      </dsp:nvSpPr>
      <dsp:spPr>
        <a:xfrm>
          <a:off x="0" y="3140591"/>
          <a:ext cx="9827492" cy="898560"/>
        </a:xfrm>
        <a:prstGeom prst="roundRect">
          <a:avLst/>
        </a:prstGeom>
        <a:solidFill>
          <a:srgbClr val="D56E48"/>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844550">
            <a:lnSpc>
              <a:spcPct val="90000"/>
            </a:lnSpc>
            <a:spcBef>
              <a:spcPct val="0"/>
            </a:spcBef>
            <a:spcAft>
              <a:spcPct val="35000"/>
            </a:spcAft>
            <a:buNone/>
          </a:pPr>
          <a:r>
            <a:rPr lang="en-US" sz="1600" b="0" kern="1200" dirty="0">
              <a:solidFill>
                <a:prstClr val="white"/>
              </a:solidFill>
              <a:latin typeface="Montserrat" panose="00000500000000000000" pitchFamily="2" charset="0"/>
              <a:ea typeface="+mn-ea"/>
              <a:cs typeface="+mn-cs"/>
            </a:rPr>
            <a:t>Gained skill in selecting and combining multiple LLMs, each with different reasoning strengths, to optimize agent performance.</a:t>
          </a:r>
        </a:p>
      </dsp:txBody>
      <dsp:txXfrm>
        <a:off x="43864" y="3184455"/>
        <a:ext cx="9739764" cy="810832"/>
      </dsp:txXfrm>
    </dsp:sp>
    <dsp:sp modelId="{88591EBA-C99A-4B6A-A9EE-FC47C061EE2B}">
      <dsp:nvSpPr>
        <dsp:cNvPr id="0" name=""/>
        <dsp:cNvSpPr/>
      </dsp:nvSpPr>
      <dsp:spPr>
        <a:xfrm>
          <a:off x="0" y="4177391"/>
          <a:ext cx="9827492" cy="898560"/>
        </a:xfrm>
        <a:prstGeom prst="roundRect">
          <a:avLst/>
        </a:prstGeom>
        <a:solidFill>
          <a:srgbClr val="D56E48"/>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844550">
            <a:lnSpc>
              <a:spcPct val="90000"/>
            </a:lnSpc>
            <a:spcBef>
              <a:spcPct val="0"/>
            </a:spcBef>
            <a:spcAft>
              <a:spcPct val="35000"/>
            </a:spcAft>
            <a:buNone/>
          </a:pPr>
          <a:r>
            <a:rPr lang="en-US" sz="1600" b="0" kern="1200" dirty="0">
              <a:solidFill>
                <a:prstClr val="white"/>
              </a:solidFill>
              <a:latin typeface="Montserrat" panose="00000500000000000000" pitchFamily="2" charset="0"/>
              <a:ea typeface="+mn-ea"/>
              <a:cs typeface="+mn-cs"/>
            </a:rPr>
            <a:t>Explored how to compare LLM performance using external leaderboards (e.g., Vellum) to make informed model-selection decisions.</a:t>
          </a:r>
        </a:p>
      </dsp:txBody>
      <dsp:txXfrm>
        <a:off x="43864" y="4221255"/>
        <a:ext cx="9739764" cy="81083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C911D1-6589-4D4A-810A-D1CB24D30600}" type="datetimeFigureOut">
              <a:rPr lang="en-US" smtClean="0"/>
              <a:t>11/29/2025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234E27-21C0-AB42-9720-9468F68AD70E}" type="slidenum">
              <a:rPr lang="en-US" smtClean="0"/>
              <a:t>‹#›</a:t>
            </a:fld>
            <a:endParaRPr lang="en-US"/>
          </a:p>
        </p:txBody>
      </p:sp>
    </p:spTree>
    <p:extLst>
      <p:ext uri="{BB962C8B-B14F-4D97-AF65-F5344CB8AC3E}">
        <p14:creationId xmlns:p14="http://schemas.microsoft.com/office/powerpoint/2010/main" val="3315157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6ED6F-859A-B746-837E-C5D978EC30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46CAE93-A6A2-054F-8C31-54E8ABF6AE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8ADB13-4A11-2643-B65C-065BE17739F2}"/>
              </a:ext>
            </a:extLst>
          </p:cNvPr>
          <p:cNvSpPr>
            <a:spLocks noGrp="1"/>
          </p:cNvSpPr>
          <p:nvPr>
            <p:ph type="dt" sz="half" idx="10"/>
          </p:nvPr>
        </p:nvSpPr>
        <p:spPr/>
        <p:txBody>
          <a:bodyPr/>
          <a:lstStyle/>
          <a:p>
            <a:fld id="{FD8C779B-2DF9-41ED-BDF6-094A96BB5831}" type="datetime1">
              <a:rPr lang="en-US" smtClean="0"/>
              <a:t>11/29/2025</a:t>
            </a:fld>
            <a:endParaRPr lang="en-US"/>
          </a:p>
        </p:txBody>
      </p:sp>
      <p:sp>
        <p:nvSpPr>
          <p:cNvPr id="5" name="Footer Placeholder 4">
            <a:extLst>
              <a:ext uri="{FF2B5EF4-FFF2-40B4-BE49-F238E27FC236}">
                <a16:creationId xmlns:a16="http://schemas.microsoft.com/office/drawing/2014/main" id="{3F68DD79-905B-054B-B597-6AB72529A68D}"/>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3FDD4DF4-5AD9-8C41-9C38-63470B32845E}"/>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05137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F93AB-04A1-834E-A498-C252C11131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8534D4-4817-FF44-8044-9A872518BEF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EB8C4A-8264-ED4C-B758-FA62E7CC38F6}"/>
              </a:ext>
            </a:extLst>
          </p:cNvPr>
          <p:cNvSpPr>
            <a:spLocks noGrp="1"/>
          </p:cNvSpPr>
          <p:nvPr>
            <p:ph type="dt" sz="half" idx="10"/>
          </p:nvPr>
        </p:nvSpPr>
        <p:spPr/>
        <p:txBody>
          <a:bodyPr/>
          <a:lstStyle/>
          <a:p>
            <a:fld id="{CEC83053-3D74-4D22-89B3-9024BA4F287F}" type="datetime1">
              <a:rPr lang="en-US" smtClean="0"/>
              <a:t>11/29/2025</a:t>
            </a:fld>
            <a:endParaRPr lang="en-US"/>
          </a:p>
        </p:txBody>
      </p:sp>
      <p:sp>
        <p:nvSpPr>
          <p:cNvPr id="5" name="Footer Placeholder 4">
            <a:extLst>
              <a:ext uri="{FF2B5EF4-FFF2-40B4-BE49-F238E27FC236}">
                <a16:creationId xmlns:a16="http://schemas.microsoft.com/office/drawing/2014/main" id="{878AE0D2-BE66-FF45-B7B1-F69E22F06CE9}"/>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49FB4184-A60F-6246-8A9A-79DD6FECEA19}"/>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715104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A2D0B-A98C-6E4C-9A34-47981F0C23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55EE8E-C392-5E47-ADCB-A446128CAD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6B14B18-53C2-D548-8CFF-5D7097F07978}"/>
              </a:ext>
            </a:extLst>
          </p:cNvPr>
          <p:cNvSpPr>
            <a:spLocks noGrp="1"/>
          </p:cNvSpPr>
          <p:nvPr>
            <p:ph type="dt" sz="half" idx="10"/>
          </p:nvPr>
        </p:nvSpPr>
        <p:spPr/>
        <p:txBody>
          <a:bodyPr/>
          <a:lstStyle/>
          <a:p>
            <a:fld id="{37A6BCF6-84B7-49AA-A69F-35D95B9487C2}" type="datetime1">
              <a:rPr lang="en-US" smtClean="0"/>
              <a:t>11/29/2025</a:t>
            </a:fld>
            <a:endParaRPr lang="en-US"/>
          </a:p>
        </p:txBody>
      </p:sp>
      <p:sp>
        <p:nvSpPr>
          <p:cNvPr id="5" name="Footer Placeholder 4">
            <a:extLst>
              <a:ext uri="{FF2B5EF4-FFF2-40B4-BE49-F238E27FC236}">
                <a16:creationId xmlns:a16="http://schemas.microsoft.com/office/drawing/2014/main" id="{1710654B-C8C3-F647-BDFC-BE54D2B2895E}"/>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BCD63980-622B-334C-9137-9A86615196EB}"/>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4006580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92288-ED8B-E34E-BAB6-1D26157B90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6AE68A-CA3F-9948-9F78-46C13FEE829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11E62E7-8BD2-264E-A470-F8E73C9D6FE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423621-D1A0-D241-B666-A457ACCAB3EB}"/>
              </a:ext>
            </a:extLst>
          </p:cNvPr>
          <p:cNvSpPr>
            <a:spLocks noGrp="1"/>
          </p:cNvSpPr>
          <p:nvPr>
            <p:ph type="dt" sz="half" idx="10"/>
          </p:nvPr>
        </p:nvSpPr>
        <p:spPr/>
        <p:txBody>
          <a:bodyPr/>
          <a:lstStyle/>
          <a:p>
            <a:fld id="{DFF119D7-9FF6-460F-A484-0C02884C819E}" type="datetime1">
              <a:rPr lang="en-US" smtClean="0"/>
              <a:t>11/29/2025</a:t>
            </a:fld>
            <a:endParaRPr lang="en-US"/>
          </a:p>
        </p:txBody>
      </p:sp>
      <p:sp>
        <p:nvSpPr>
          <p:cNvPr id="6" name="Footer Placeholder 5">
            <a:extLst>
              <a:ext uri="{FF2B5EF4-FFF2-40B4-BE49-F238E27FC236}">
                <a16:creationId xmlns:a16="http://schemas.microsoft.com/office/drawing/2014/main" id="{D5769F7B-BD42-C44E-AA35-681E6A1C40A4}"/>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BA17368C-62E4-C243-98AE-B5BC9B4F3F09}"/>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3288102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8A85E-7345-A641-A78E-CFCE6B479C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EA13C7-3C24-DC40-8DAD-E16482E601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CF90715-8982-4245-AC34-4AFC280BDFC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4CC337-7A68-B44F-A75F-2EAED4C8CC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24BF17B-E9E2-5A4F-9564-4E8671A7A27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6DA4340-16C5-D64A-954E-D207165B5D6E}"/>
              </a:ext>
            </a:extLst>
          </p:cNvPr>
          <p:cNvSpPr>
            <a:spLocks noGrp="1"/>
          </p:cNvSpPr>
          <p:nvPr>
            <p:ph type="dt" sz="half" idx="10"/>
          </p:nvPr>
        </p:nvSpPr>
        <p:spPr/>
        <p:txBody>
          <a:bodyPr/>
          <a:lstStyle/>
          <a:p>
            <a:fld id="{00D3F2F9-9F59-4926-81E1-5AE7B5F13616}" type="datetime1">
              <a:rPr lang="en-US" smtClean="0"/>
              <a:t>11/29/2025</a:t>
            </a:fld>
            <a:endParaRPr lang="en-US"/>
          </a:p>
        </p:txBody>
      </p:sp>
      <p:sp>
        <p:nvSpPr>
          <p:cNvPr id="8" name="Footer Placeholder 7">
            <a:extLst>
              <a:ext uri="{FF2B5EF4-FFF2-40B4-BE49-F238E27FC236}">
                <a16:creationId xmlns:a16="http://schemas.microsoft.com/office/drawing/2014/main" id="{5B44C0C9-507A-DC40-9896-CAA4CCBF98F5}"/>
              </a:ext>
            </a:extLst>
          </p:cNvPr>
          <p:cNvSpPr>
            <a:spLocks noGrp="1"/>
          </p:cNvSpPr>
          <p:nvPr>
            <p:ph type="ftr" sz="quarter" idx="11"/>
          </p:nvPr>
        </p:nvSpPr>
        <p:spPr/>
        <p:txBody>
          <a:bodyPr/>
          <a:lstStyle/>
          <a:p>
            <a:r>
              <a:rPr lang="en-US"/>
              <a:t>Dr. Ryan Ahmed @Stemplicity</a:t>
            </a:r>
          </a:p>
        </p:txBody>
      </p:sp>
      <p:sp>
        <p:nvSpPr>
          <p:cNvPr id="9" name="Slide Number Placeholder 8">
            <a:extLst>
              <a:ext uri="{FF2B5EF4-FFF2-40B4-BE49-F238E27FC236}">
                <a16:creationId xmlns:a16="http://schemas.microsoft.com/office/drawing/2014/main" id="{B4C3C304-57C8-6848-8E40-051A6BFA3F85}"/>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770995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31005-2F0C-3F41-8F0D-B94FF1E86A0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6EC46B-9591-7147-B23E-808DFCDBEEE0}"/>
              </a:ext>
            </a:extLst>
          </p:cNvPr>
          <p:cNvSpPr>
            <a:spLocks noGrp="1"/>
          </p:cNvSpPr>
          <p:nvPr>
            <p:ph type="dt" sz="half" idx="10"/>
          </p:nvPr>
        </p:nvSpPr>
        <p:spPr/>
        <p:txBody>
          <a:bodyPr/>
          <a:lstStyle/>
          <a:p>
            <a:fld id="{2425E9FE-B00F-4787-941B-81F5C60BF956}" type="datetime1">
              <a:rPr lang="en-US" smtClean="0"/>
              <a:t>11/29/2025</a:t>
            </a:fld>
            <a:endParaRPr lang="en-US"/>
          </a:p>
        </p:txBody>
      </p:sp>
      <p:sp>
        <p:nvSpPr>
          <p:cNvPr id="4" name="Footer Placeholder 3">
            <a:extLst>
              <a:ext uri="{FF2B5EF4-FFF2-40B4-BE49-F238E27FC236}">
                <a16:creationId xmlns:a16="http://schemas.microsoft.com/office/drawing/2014/main" id="{41A8438C-4B28-CC47-9F0D-D243C05972C5}"/>
              </a:ext>
            </a:extLst>
          </p:cNvPr>
          <p:cNvSpPr>
            <a:spLocks noGrp="1"/>
          </p:cNvSpPr>
          <p:nvPr>
            <p:ph type="ftr" sz="quarter" idx="11"/>
          </p:nvPr>
        </p:nvSpPr>
        <p:spPr/>
        <p:txBody>
          <a:bodyPr/>
          <a:lstStyle/>
          <a:p>
            <a:r>
              <a:rPr lang="en-US"/>
              <a:t>Dr. Ryan Ahmed @Stemplicity</a:t>
            </a:r>
          </a:p>
        </p:txBody>
      </p:sp>
      <p:sp>
        <p:nvSpPr>
          <p:cNvPr id="5" name="Slide Number Placeholder 4">
            <a:extLst>
              <a:ext uri="{FF2B5EF4-FFF2-40B4-BE49-F238E27FC236}">
                <a16:creationId xmlns:a16="http://schemas.microsoft.com/office/drawing/2014/main" id="{55C64186-1092-3244-AA0C-4F8C98ECF00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3357577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81ABCA-C9B4-2C4E-A11A-21473A2C36B2}"/>
              </a:ext>
            </a:extLst>
          </p:cNvPr>
          <p:cNvSpPr>
            <a:spLocks noGrp="1"/>
          </p:cNvSpPr>
          <p:nvPr>
            <p:ph type="dt" sz="half" idx="10"/>
          </p:nvPr>
        </p:nvSpPr>
        <p:spPr/>
        <p:txBody>
          <a:bodyPr/>
          <a:lstStyle/>
          <a:p>
            <a:fld id="{A83063A8-27AB-4485-9BAB-385A926DB554}" type="datetime1">
              <a:rPr lang="en-US" smtClean="0"/>
              <a:t>11/29/2025</a:t>
            </a:fld>
            <a:endParaRPr lang="en-US"/>
          </a:p>
        </p:txBody>
      </p:sp>
      <p:sp>
        <p:nvSpPr>
          <p:cNvPr id="3" name="Footer Placeholder 2">
            <a:extLst>
              <a:ext uri="{FF2B5EF4-FFF2-40B4-BE49-F238E27FC236}">
                <a16:creationId xmlns:a16="http://schemas.microsoft.com/office/drawing/2014/main" id="{C628B611-5E83-0843-977C-16E1A2E894CA}"/>
              </a:ext>
            </a:extLst>
          </p:cNvPr>
          <p:cNvSpPr>
            <a:spLocks noGrp="1"/>
          </p:cNvSpPr>
          <p:nvPr>
            <p:ph type="ftr" sz="quarter" idx="11"/>
          </p:nvPr>
        </p:nvSpPr>
        <p:spPr/>
        <p:txBody>
          <a:bodyPr/>
          <a:lstStyle/>
          <a:p>
            <a:r>
              <a:rPr lang="en-US"/>
              <a:t>Dr. Ryan Ahmed @Stemplicity</a:t>
            </a:r>
          </a:p>
        </p:txBody>
      </p:sp>
      <p:sp>
        <p:nvSpPr>
          <p:cNvPr id="4" name="Slide Number Placeholder 3">
            <a:extLst>
              <a:ext uri="{FF2B5EF4-FFF2-40B4-BE49-F238E27FC236}">
                <a16:creationId xmlns:a16="http://schemas.microsoft.com/office/drawing/2014/main" id="{1A6D3613-5124-BA4D-9CAB-52053A73DB72}"/>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327342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D5775-3C65-984A-BA3D-74F6AA5404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876B8A-7DF2-254A-A58A-3F781F1A70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7C9F2F-598A-9444-B48C-6BA9400EF9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EFA619B-B04E-A94F-B294-EE523AB822EB}"/>
              </a:ext>
            </a:extLst>
          </p:cNvPr>
          <p:cNvSpPr>
            <a:spLocks noGrp="1"/>
          </p:cNvSpPr>
          <p:nvPr>
            <p:ph type="dt" sz="half" idx="10"/>
          </p:nvPr>
        </p:nvSpPr>
        <p:spPr/>
        <p:txBody>
          <a:bodyPr/>
          <a:lstStyle/>
          <a:p>
            <a:fld id="{B91EE9DF-0ED6-4B61-A1FD-8DD75280FE01}" type="datetime1">
              <a:rPr lang="en-US" smtClean="0"/>
              <a:t>11/29/2025</a:t>
            </a:fld>
            <a:endParaRPr lang="en-US"/>
          </a:p>
        </p:txBody>
      </p:sp>
      <p:sp>
        <p:nvSpPr>
          <p:cNvPr id="6" name="Footer Placeholder 5">
            <a:extLst>
              <a:ext uri="{FF2B5EF4-FFF2-40B4-BE49-F238E27FC236}">
                <a16:creationId xmlns:a16="http://schemas.microsoft.com/office/drawing/2014/main" id="{F218418F-6D05-564F-ACAC-0CE18B415C47}"/>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2652FA7B-E334-F841-9F55-8FE3994F670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547199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20FD-C21B-F942-933E-C7F1539AEB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0509F0-CB84-8346-88EC-B60FAB2391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2B07D7-B626-4245-8DB7-641F9BE45C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9192CF3-BF8E-CC45-AFD1-29BF788849AD}"/>
              </a:ext>
            </a:extLst>
          </p:cNvPr>
          <p:cNvSpPr>
            <a:spLocks noGrp="1"/>
          </p:cNvSpPr>
          <p:nvPr>
            <p:ph type="dt" sz="half" idx="10"/>
          </p:nvPr>
        </p:nvSpPr>
        <p:spPr/>
        <p:txBody>
          <a:bodyPr/>
          <a:lstStyle/>
          <a:p>
            <a:fld id="{0C6B4C01-5047-4D04-A79D-6D96B1DB76E2}" type="datetime1">
              <a:rPr lang="en-US" smtClean="0"/>
              <a:t>11/29/2025</a:t>
            </a:fld>
            <a:endParaRPr lang="en-US"/>
          </a:p>
        </p:txBody>
      </p:sp>
      <p:sp>
        <p:nvSpPr>
          <p:cNvPr id="6" name="Footer Placeholder 5">
            <a:extLst>
              <a:ext uri="{FF2B5EF4-FFF2-40B4-BE49-F238E27FC236}">
                <a16:creationId xmlns:a16="http://schemas.microsoft.com/office/drawing/2014/main" id="{91BEEA5E-B447-2945-A61F-23F43D1BAE5F}"/>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4E03110A-1EF4-4E47-BC27-95CCC22DB031}"/>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4041563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94858-278B-D14B-9123-9451D8F7BB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98E07C-511F-3A43-84A6-1011012918C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B27FEB-35FC-E245-9B8A-12B959651942}"/>
              </a:ext>
            </a:extLst>
          </p:cNvPr>
          <p:cNvSpPr>
            <a:spLocks noGrp="1"/>
          </p:cNvSpPr>
          <p:nvPr>
            <p:ph type="dt" sz="half" idx="10"/>
          </p:nvPr>
        </p:nvSpPr>
        <p:spPr/>
        <p:txBody>
          <a:bodyPr/>
          <a:lstStyle/>
          <a:p>
            <a:fld id="{2050BBC8-E478-43C9-A4F1-EDD4F72015DC}" type="datetime1">
              <a:rPr lang="en-US" smtClean="0"/>
              <a:t>11/29/2025</a:t>
            </a:fld>
            <a:endParaRPr lang="en-US"/>
          </a:p>
        </p:txBody>
      </p:sp>
      <p:sp>
        <p:nvSpPr>
          <p:cNvPr id="5" name="Footer Placeholder 4">
            <a:extLst>
              <a:ext uri="{FF2B5EF4-FFF2-40B4-BE49-F238E27FC236}">
                <a16:creationId xmlns:a16="http://schemas.microsoft.com/office/drawing/2014/main" id="{06777081-9459-C64F-895D-A9A37C0D0BB7}"/>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1FAC1E24-D886-5444-8983-468379B78FD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66370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7F08AD-56F2-8141-B3EC-B0792780C2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7A58ED-0A7F-F541-B86D-470505704EB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82861A-7351-3846-BCB0-C5618DA092CE}"/>
              </a:ext>
            </a:extLst>
          </p:cNvPr>
          <p:cNvSpPr>
            <a:spLocks noGrp="1"/>
          </p:cNvSpPr>
          <p:nvPr>
            <p:ph type="dt" sz="half" idx="10"/>
          </p:nvPr>
        </p:nvSpPr>
        <p:spPr/>
        <p:txBody>
          <a:bodyPr/>
          <a:lstStyle/>
          <a:p>
            <a:fld id="{04321BB6-29D9-437A-B4EB-C48447ACC5C8}" type="datetime1">
              <a:rPr lang="en-US" smtClean="0"/>
              <a:t>11/29/2025</a:t>
            </a:fld>
            <a:endParaRPr lang="en-US"/>
          </a:p>
        </p:txBody>
      </p:sp>
      <p:sp>
        <p:nvSpPr>
          <p:cNvPr id="5" name="Footer Placeholder 4">
            <a:extLst>
              <a:ext uri="{FF2B5EF4-FFF2-40B4-BE49-F238E27FC236}">
                <a16:creationId xmlns:a16="http://schemas.microsoft.com/office/drawing/2014/main" id="{BAA1FD98-D553-4C46-941B-9CF2C56A19FE}"/>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BABD676D-8472-4F4A-A337-CF5E8C495173}"/>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977303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B070BF-9A90-A245-B77A-28DCF3E4E9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9F1332-889D-FA43-A51D-33C48B35BB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27FC81-D9EE-0347-B9BA-8E603587AC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729903-C382-4170-95C6-7F2CD4702B84}" type="datetime1">
              <a:rPr lang="en-US" smtClean="0"/>
              <a:t>11/29/2025</a:t>
            </a:fld>
            <a:endParaRPr lang="en-US"/>
          </a:p>
        </p:txBody>
      </p:sp>
      <p:sp>
        <p:nvSpPr>
          <p:cNvPr id="5" name="Footer Placeholder 4">
            <a:extLst>
              <a:ext uri="{FF2B5EF4-FFF2-40B4-BE49-F238E27FC236}">
                <a16:creationId xmlns:a16="http://schemas.microsoft.com/office/drawing/2014/main" id="{F7CC4954-DDAB-064F-B985-8986B1132B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Ryan Ahmed @Stemplicity</a:t>
            </a:r>
          </a:p>
        </p:txBody>
      </p:sp>
      <p:sp>
        <p:nvSpPr>
          <p:cNvPr id="6" name="Slide Number Placeholder 5">
            <a:extLst>
              <a:ext uri="{FF2B5EF4-FFF2-40B4-BE49-F238E27FC236}">
                <a16:creationId xmlns:a16="http://schemas.microsoft.com/office/drawing/2014/main" id="{E670476A-2C89-5D4A-A893-BDE0768995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AA372C-9768-B740-91C6-444FA6615483}" type="slidenum">
              <a:rPr lang="en-US" smtClean="0"/>
              <a:t>‹#›</a:t>
            </a:fld>
            <a:endParaRPr lang="en-US"/>
          </a:p>
        </p:txBody>
      </p:sp>
    </p:spTree>
    <p:extLst>
      <p:ext uri="{BB962C8B-B14F-4D97-AF65-F5344CB8AC3E}">
        <p14:creationId xmlns:p14="http://schemas.microsoft.com/office/powerpoint/2010/main" val="259871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2.png"/><Relationship Id="rId7" Type="http://schemas.openxmlformats.org/officeDocument/2006/relationships/image" Target="../media/image7.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 Id="rId9" Type="http://schemas.openxmlformats.org/officeDocument/2006/relationships/image" Target="../media/image9.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png"/><Relationship Id="rId7"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png"/><Relationship Id="rId10" Type="http://schemas.openxmlformats.org/officeDocument/2006/relationships/image" Target="../media/image22.jpeg"/><Relationship Id="rId4" Type="http://schemas.openxmlformats.org/officeDocument/2006/relationships/image" Target="../media/image16.jpeg"/><Relationship Id="rId9"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hyperlink" Target="https://www.vellum.ai/llm-leaderboard" TargetMode="Externa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hyperlink" Target="https://beta.lmarena.ai/leaderboard" TargetMode="External"/><Relationship Id="rId4" Type="http://schemas.openxmlformats.org/officeDocument/2006/relationships/hyperlink" Target="https://lmarena.ai/?leaderboard" TargetMode="External"/></Relationships>
</file>

<file path=ppt/slides/_rels/slide13.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2.png"/><Relationship Id="rId7" Type="http://schemas.openxmlformats.org/officeDocument/2006/relationships/diagramQuickStyle" Target="../diagrams/quickStyle3.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27.png"/><Relationship Id="rId9" Type="http://schemas.microsoft.com/office/2007/relationships/diagramDrawing" Target="../diagrams/drawing3.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AF529F-B86A-83C8-478E-307AC30917EC}"/>
              </a:ext>
            </a:extLst>
          </p:cNvPr>
          <p:cNvPicPr>
            <a:picLocks noChangeAspect="1"/>
          </p:cNvPicPr>
          <p:nvPr/>
        </p:nvPicPr>
        <p:blipFill>
          <a:blip r:embed="rId2"/>
          <a:stretch>
            <a:fillRect/>
          </a:stretch>
        </p:blipFill>
        <p:spPr>
          <a:xfrm>
            <a:off x="-6382" y="-1"/>
            <a:ext cx="12198382" cy="6858001"/>
          </a:xfrm>
          <a:prstGeom prst="rect">
            <a:avLst/>
          </a:prstGeom>
        </p:spPr>
      </p:pic>
      <p:sp>
        <p:nvSpPr>
          <p:cNvPr id="4" name="Rectangle 3">
            <a:extLst>
              <a:ext uri="{FF2B5EF4-FFF2-40B4-BE49-F238E27FC236}">
                <a16:creationId xmlns:a16="http://schemas.microsoft.com/office/drawing/2014/main" id="{8C403872-6FAD-0F11-5844-575593A583D8}"/>
              </a:ext>
            </a:extLst>
          </p:cNvPr>
          <p:cNvSpPr/>
          <p:nvPr/>
        </p:nvSpPr>
        <p:spPr>
          <a:xfrm>
            <a:off x="134842" y="490801"/>
            <a:ext cx="4808633" cy="2062103"/>
          </a:xfrm>
          <a:prstGeom prst="rect">
            <a:avLst/>
          </a:prstGeom>
        </p:spPr>
        <p:txBody>
          <a:bodyPr wrap="square">
            <a:spAutoFit/>
          </a:bodyPr>
          <a:lstStyle/>
          <a:p>
            <a:r>
              <a:rPr lang="en-US" sz="3200" b="1" dirty="0">
                <a:solidFill>
                  <a:schemeClr val="bg1"/>
                </a:solidFill>
                <a:latin typeface="Montserrat" charset="0"/>
                <a:ea typeface="Montserrat" charset="0"/>
                <a:cs typeface="Montserrat" charset="0"/>
              </a:rPr>
              <a:t>BUILD A TEAM OF AUTONOMOUS AI AGENTS IN COPILOT STUDIO</a:t>
            </a:r>
            <a:endParaRPr lang="en-US" sz="3200" b="1" dirty="0">
              <a:solidFill>
                <a:schemeClr val="bg1"/>
              </a:solidFill>
              <a:latin typeface="Montserrat" charset="0"/>
            </a:endParaRPr>
          </a:p>
        </p:txBody>
      </p:sp>
      <p:pic>
        <p:nvPicPr>
          <p:cNvPr id="6" name="Picture 5">
            <a:extLst>
              <a:ext uri="{FF2B5EF4-FFF2-40B4-BE49-F238E27FC236}">
                <a16:creationId xmlns:a16="http://schemas.microsoft.com/office/drawing/2014/main" id="{8F922CCA-AE82-A418-52D1-CBC82BEC14DD}"/>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270711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2E7FC-AEDE-A55E-8C3E-B1FE6FF0FA6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9126ACF-12BF-4F3A-0975-2113AB72D633}"/>
              </a:ext>
            </a:extLst>
          </p:cNvPr>
          <p:cNvPicPr>
            <a:picLocks noChangeAspect="1"/>
          </p:cNvPicPr>
          <p:nvPr/>
        </p:nvPicPr>
        <p:blipFill>
          <a:blip r:embed="rId2"/>
          <a:stretch>
            <a:fillRect/>
          </a:stretch>
        </p:blipFill>
        <p:spPr>
          <a:xfrm>
            <a:off x="3202" y="0"/>
            <a:ext cx="12224773" cy="6858000"/>
          </a:xfrm>
          <a:prstGeom prst="rect">
            <a:avLst/>
          </a:prstGeom>
        </p:spPr>
      </p:pic>
      <p:pic>
        <p:nvPicPr>
          <p:cNvPr id="6" name="Picture 5">
            <a:extLst>
              <a:ext uri="{FF2B5EF4-FFF2-40B4-BE49-F238E27FC236}">
                <a16:creationId xmlns:a16="http://schemas.microsoft.com/office/drawing/2014/main" id="{D44A431E-FC9C-33C2-272D-F49CCF37BFAC}"/>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714989E3-5A3A-03E4-E3B8-2C44227332E6}"/>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Story!</a:t>
            </a:r>
          </a:p>
        </p:txBody>
      </p:sp>
      <p:sp>
        <p:nvSpPr>
          <p:cNvPr id="9" name="TextBox 8">
            <a:extLst>
              <a:ext uri="{FF2B5EF4-FFF2-40B4-BE49-F238E27FC236}">
                <a16:creationId xmlns:a16="http://schemas.microsoft.com/office/drawing/2014/main" id="{41A6A184-CCB1-E0F6-0BF8-191EC06C82C0}"/>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53" name="TextBox 52">
            <a:extLst>
              <a:ext uri="{FF2B5EF4-FFF2-40B4-BE49-F238E27FC236}">
                <a16:creationId xmlns:a16="http://schemas.microsoft.com/office/drawing/2014/main" id="{45D934E7-6DF6-A003-24C2-E0DEE6DA3588}"/>
              </a:ext>
            </a:extLst>
          </p:cNvPr>
          <p:cNvSpPr txBox="1"/>
          <p:nvPr/>
        </p:nvSpPr>
        <p:spPr>
          <a:xfrm>
            <a:off x="250569" y="878934"/>
            <a:ext cx="11730038" cy="1754326"/>
          </a:xfrm>
          <a:prstGeom prst="rect">
            <a:avLst/>
          </a:prstGeom>
          <a:noFill/>
        </p:spPr>
        <p:txBody>
          <a:bodyPr wrap="square">
            <a:spAutoFit/>
          </a:bodyPr>
          <a:lstStyle/>
          <a:p>
            <a:pPr marL="285750" indent="-285750">
              <a:buFont typeface="Arial" panose="020B0604020202020204" pitchFamily="34" charset="0"/>
              <a:buChar char="•"/>
            </a:pPr>
            <a:r>
              <a:rPr lang="en-US" dirty="0">
                <a:latin typeface="Montserrat" panose="00000500000000000000" pitchFamily="2" charset="0"/>
              </a:rPr>
              <a:t>It is 2025! The hospital floor, which Nike once dominated, has been taken over by Hoka and Crocs. </a:t>
            </a:r>
          </a:p>
          <a:p>
            <a:pPr marL="285750" indent="-285750">
              <a:buFont typeface="Arial" panose="020B0604020202020204" pitchFamily="34" charset="0"/>
              <a:buChar char="•"/>
            </a:pPr>
            <a:r>
              <a:rPr lang="en-US" dirty="0">
                <a:latin typeface="Montserrat" panose="00000500000000000000" pitchFamily="2" charset="0"/>
              </a:rPr>
              <a:t>Nurses are choosing "ugly comfort" over the "Swoosh."</a:t>
            </a:r>
          </a:p>
          <a:p>
            <a:pPr marL="285750" indent="-285750">
              <a:buFont typeface="Arial" panose="020B0604020202020204" pitchFamily="34" charset="0"/>
              <a:buChar char="•"/>
            </a:pPr>
            <a:r>
              <a:rPr lang="en-US" dirty="0">
                <a:latin typeface="Montserrat" panose="00000500000000000000" pitchFamily="2" charset="0"/>
              </a:rPr>
              <a:t>The Board of Directors at Nike have greenlit the Nike Air Zoom Pulse 2, a shoe re-engineered specifically for the 12-hour shift.</a:t>
            </a:r>
          </a:p>
          <a:p>
            <a:pPr marL="285750" indent="-285750">
              <a:buFont typeface="Arial" panose="020B0604020202020204" pitchFamily="34" charset="0"/>
              <a:buChar char="•"/>
            </a:pPr>
            <a:r>
              <a:rPr lang="en-US" dirty="0">
                <a:latin typeface="Montserrat" panose="00000500000000000000" pitchFamily="2" charset="0"/>
              </a:rPr>
              <a:t>The goal is to build an AI Marketing Team using Copilot Studio that will autonomously research the competition, find viral trends, and write the launch campaign to win back the hospital floor.</a:t>
            </a:r>
          </a:p>
        </p:txBody>
      </p:sp>
      <p:pic>
        <p:nvPicPr>
          <p:cNvPr id="1028" name="Picture 4" descr="Nike Air Zoom Pulse Shoes">
            <a:extLst>
              <a:ext uri="{FF2B5EF4-FFF2-40B4-BE49-F238E27FC236}">
                <a16:creationId xmlns:a16="http://schemas.microsoft.com/office/drawing/2014/main" id="{B0BF3F94-4736-BB36-DBDA-A57566A944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22" y="4163051"/>
            <a:ext cx="2529918" cy="2121084"/>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BrandVolution: the meaning and evolution of the Nike logo | Pixartprinting">
            <a:extLst>
              <a:ext uri="{FF2B5EF4-FFF2-40B4-BE49-F238E27FC236}">
                <a16:creationId xmlns:a16="http://schemas.microsoft.com/office/drawing/2014/main" id="{596BEFC4-9F4A-C29D-18DD-22299AA1926D}"/>
              </a:ext>
            </a:extLst>
          </p:cNvPr>
          <p:cNvPicPr>
            <a:picLocks noChangeAspect="1" noChangeArrowheads="1"/>
          </p:cNvPicPr>
          <p:nvPr/>
        </p:nvPicPr>
        <p:blipFill rotWithShape="1">
          <a:blip r:embed="rId5">
            <a:clrChange>
              <a:clrFrom>
                <a:srgbClr val="E8E8E8"/>
              </a:clrFrom>
              <a:clrTo>
                <a:srgbClr val="E8E8E8">
                  <a:alpha val="0"/>
                </a:srgbClr>
              </a:clrTo>
            </a:clrChange>
            <a:extLst>
              <a:ext uri="{28A0092B-C50C-407E-A947-70E740481C1C}">
                <a14:useLocalDpi xmlns:a14="http://schemas.microsoft.com/office/drawing/2010/main" val="0"/>
              </a:ext>
            </a:extLst>
          </a:blip>
          <a:srcRect l="12597" t="10788" r="12012" b="4442"/>
          <a:stretch>
            <a:fillRect/>
          </a:stretch>
        </p:blipFill>
        <p:spPr bwMode="auto">
          <a:xfrm>
            <a:off x="486370" y="2833613"/>
            <a:ext cx="2316979" cy="142729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rocs Unisex-Adult Classic Clog, Clogs for Women and Men">
            <a:extLst>
              <a:ext uri="{FF2B5EF4-FFF2-40B4-BE49-F238E27FC236}">
                <a16:creationId xmlns:a16="http://schemas.microsoft.com/office/drawing/2014/main" id="{D3B2ADFE-AC9C-363C-A96F-2BB3CEDC92A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13001" y="4442519"/>
            <a:ext cx="2774065" cy="1660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rocs symbol Black Friday Buy Now">
            <a:extLst>
              <a:ext uri="{FF2B5EF4-FFF2-40B4-BE49-F238E27FC236}">
                <a16:creationId xmlns:a16="http://schemas.microsoft.com/office/drawing/2014/main" id="{EB0340B7-8C75-90C7-17AE-57F2E2E338A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3420" b="26364"/>
          <a:stretch>
            <a:fillRect/>
          </a:stretch>
        </p:blipFill>
        <p:spPr bwMode="auto">
          <a:xfrm>
            <a:off x="2973799" y="2608643"/>
            <a:ext cx="2252468" cy="135633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oka Womens Bondi 9">
            <a:extLst>
              <a:ext uri="{FF2B5EF4-FFF2-40B4-BE49-F238E27FC236}">
                <a16:creationId xmlns:a16="http://schemas.microsoft.com/office/drawing/2014/main" id="{33D7CBEA-AA1F-8770-BB11-D5B3669094A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34114" y="4090473"/>
            <a:ext cx="2905235" cy="175432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Hoka Logo, symbol, meaning, history, PNG, brand">
            <a:extLst>
              <a:ext uri="{FF2B5EF4-FFF2-40B4-BE49-F238E27FC236}">
                <a16:creationId xmlns:a16="http://schemas.microsoft.com/office/drawing/2014/main" id="{9C37CDBB-2715-79FA-4CF0-1E96432149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42044" y="2633260"/>
            <a:ext cx="2367505" cy="1331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1700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par>
                                <p:cTn id="8" presetID="10" presetClass="entr" presetSubtype="0" fill="hold" nodeType="withEffect">
                                  <p:stCondLst>
                                    <p:cond delay="0"/>
                                  </p:stCondLst>
                                  <p:childTnLst>
                                    <p:set>
                                      <p:cBhvr>
                                        <p:cTn id="9" dur="1" fill="hold">
                                          <p:stCondLst>
                                            <p:cond delay="0"/>
                                          </p:stCondLst>
                                        </p:cTn>
                                        <p:tgtEl>
                                          <p:spTgt spid="1028"/>
                                        </p:tgtEl>
                                        <p:attrNameLst>
                                          <p:attrName>style.visibility</p:attrName>
                                        </p:attrNameLst>
                                      </p:cBhvr>
                                      <p:to>
                                        <p:strVal val="visible"/>
                                      </p:to>
                                    </p:set>
                                    <p:animEffect transition="in" filter="fade">
                                      <p:cBhvr>
                                        <p:cTn id="10" dur="500"/>
                                        <p:tgtEl>
                                          <p:spTgt spid="10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32"/>
                                        </p:tgtEl>
                                        <p:attrNameLst>
                                          <p:attrName>style.visibility</p:attrName>
                                        </p:attrNameLst>
                                      </p:cBhvr>
                                      <p:to>
                                        <p:strVal val="visible"/>
                                      </p:to>
                                    </p:set>
                                    <p:animEffect transition="in" filter="fade">
                                      <p:cBhvr>
                                        <p:cTn id="15" dur="500"/>
                                        <p:tgtEl>
                                          <p:spTgt spid="1032"/>
                                        </p:tgtEl>
                                      </p:cBhvr>
                                    </p:animEffect>
                                  </p:childTnLst>
                                </p:cTn>
                              </p:par>
                              <p:par>
                                <p:cTn id="16" presetID="10" presetClass="entr" presetSubtype="0" fill="hold" nodeType="withEffect">
                                  <p:stCondLst>
                                    <p:cond delay="0"/>
                                  </p:stCondLst>
                                  <p:childTnLst>
                                    <p:set>
                                      <p:cBhvr>
                                        <p:cTn id="17" dur="1" fill="hold">
                                          <p:stCondLst>
                                            <p:cond delay="0"/>
                                          </p:stCondLst>
                                        </p:cTn>
                                        <p:tgtEl>
                                          <p:spTgt spid="1030"/>
                                        </p:tgtEl>
                                        <p:attrNameLst>
                                          <p:attrName>style.visibility</p:attrName>
                                        </p:attrNameLst>
                                      </p:cBhvr>
                                      <p:to>
                                        <p:strVal val="visible"/>
                                      </p:to>
                                    </p:set>
                                    <p:animEffect transition="in" filter="fade">
                                      <p:cBhvr>
                                        <p:cTn id="18" dur="500"/>
                                        <p:tgtEl>
                                          <p:spTgt spid="103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36"/>
                                        </p:tgtEl>
                                        <p:attrNameLst>
                                          <p:attrName>style.visibility</p:attrName>
                                        </p:attrNameLst>
                                      </p:cBhvr>
                                      <p:to>
                                        <p:strVal val="visible"/>
                                      </p:to>
                                    </p:set>
                                    <p:animEffect transition="in" filter="fade">
                                      <p:cBhvr>
                                        <p:cTn id="23" dur="500"/>
                                        <p:tgtEl>
                                          <p:spTgt spid="1036"/>
                                        </p:tgtEl>
                                      </p:cBhvr>
                                    </p:animEffect>
                                  </p:childTnLst>
                                </p:cTn>
                              </p:par>
                              <p:par>
                                <p:cTn id="24" presetID="10" presetClass="entr" presetSubtype="0" fill="hold" nodeType="withEffect">
                                  <p:stCondLst>
                                    <p:cond delay="0"/>
                                  </p:stCondLst>
                                  <p:childTnLst>
                                    <p:set>
                                      <p:cBhvr>
                                        <p:cTn id="25" dur="1" fill="hold">
                                          <p:stCondLst>
                                            <p:cond delay="0"/>
                                          </p:stCondLst>
                                        </p:cTn>
                                        <p:tgtEl>
                                          <p:spTgt spid="1034"/>
                                        </p:tgtEl>
                                        <p:attrNameLst>
                                          <p:attrName>style.visibility</p:attrName>
                                        </p:attrNameLst>
                                      </p:cBhvr>
                                      <p:to>
                                        <p:strVal val="visible"/>
                                      </p:to>
                                    </p:set>
                                    <p:animEffect transition="in" filter="fade">
                                      <p:cBhvr>
                                        <p:cTn id="26" dur="500"/>
                                        <p:tgtEl>
                                          <p:spTgt spid="10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A7C53-1A0F-9F92-EE49-35A3AA0B0B1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1DA0597-B11E-7818-6581-A04A17BB2E05}"/>
              </a:ext>
            </a:extLst>
          </p:cNvPr>
          <p:cNvPicPr>
            <a:picLocks noChangeAspect="1"/>
          </p:cNvPicPr>
          <p:nvPr/>
        </p:nvPicPr>
        <p:blipFill>
          <a:blip r:embed="rId2"/>
          <a:stretch>
            <a:fillRect/>
          </a:stretch>
        </p:blipFill>
        <p:spPr>
          <a:xfrm>
            <a:off x="3202" y="0"/>
            <a:ext cx="12224773" cy="6858000"/>
          </a:xfrm>
          <a:prstGeom prst="rect">
            <a:avLst/>
          </a:prstGeom>
        </p:spPr>
      </p:pic>
      <p:pic>
        <p:nvPicPr>
          <p:cNvPr id="6" name="Picture 5">
            <a:extLst>
              <a:ext uri="{FF2B5EF4-FFF2-40B4-BE49-F238E27FC236}">
                <a16:creationId xmlns:a16="http://schemas.microsoft.com/office/drawing/2014/main" id="{4C26E6A5-E818-EB57-1757-2DA4FD41D54D}"/>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AADE9827-E280-3E7A-D905-8CF7C2814105}"/>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Project overview</a:t>
            </a:r>
          </a:p>
        </p:txBody>
      </p:sp>
      <p:sp>
        <p:nvSpPr>
          <p:cNvPr id="9" name="TextBox 8">
            <a:extLst>
              <a:ext uri="{FF2B5EF4-FFF2-40B4-BE49-F238E27FC236}">
                <a16:creationId xmlns:a16="http://schemas.microsoft.com/office/drawing/2014/main" id="{9A56C651-4E76-860E-011B-FD5DDBAF40F7}"/>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2" name="Rectangle: Rounded Corners 1">
            <a:extLst>
              <a:ext uri="{FF2B5EF4-FFF2-40B4-BE49-F238E27FC236}">
                <a16:creationId xmlns:a16="http://schemas.microsoft.com/office/drawing/2014/main" id="{647FBFE4-BCF6-88D6-C802-8D76AA5EBFD7}"/>
              </a:ext>
            </a:extLst>
          </p:cNvPr>
          <p:cNvSpPr/>
          <p:nvPr/>
        </p:nvSpPr>
        <p:spPr>
          <a:xfrm>
            <a:off x="8069338" y="2187259"/>
            <a:ext cx="2959023" cy="2220866"/>
          </a:xfrm>
          <a:prstGeom prst="roundRect">
            <a:avLst/>
          </a:prstGeom>
          <a:solidFill>
            <a:schemeClr val="bg1"/>
          </a:solidFill>
          <a:ln w="57150">
            <a:solidFill>
              <a:srgbClr val="0C175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46"/>
            <a:endParaRPr lang="en-US" b="1" dirty="0">
              <a:solidFill>
                <a:srgbClr val="FFFFFF"/>
              </a:solidFill>
              <a:latin typeface="Montserrat" panose="00000500000000000000" pitchFamily="2" charset="0"/>
            </a:endParaRPr>
          </a:p>
        </p:txBody>
      </p:sp>
      <p:sp>
        <p:nvSpPr>
          <p:cNvPr id="3" name="Rectangle: Rounded Corners 2">
            <a:extLst>
              <a:ext uri="{FF2B5EF4-FFF2-40B4-BE49-F238E27FC236}">
                <a16:creationId xmlns:a16="http://schemas.microsoft.com/office/drawing/2014/main" id="{60412F47-CE0F-C87E-7BF4-583BCE06B3D1}"/>
              </a:ext>
            </a:extLst>
          </p:cNvPr>
          <p:cNvSpPr/>
          <p:nvPr/>
        </p:nvSpPr>
        <p:spPr>
          <a:xfrm>
            <a:off x="4913363" y="839288"/>
            <a:ext cx="2959023" cy="2220866"/>
          </a:xfrm>
          <a:prstGeom prst="roundRect">
            <a:avLst/>
          </a:prstGeom>
          <a:solidFill>
            <a:schemeClr val="bg1"/>
          </a:solidFill>
          <a:ln w="57150">
            <a:solidFill>
              <a:srgbClr val="0C175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46"/>
            <a:endParaRPr lang="en-US" b="1" dirty="0">
              <a:solidFill>
                <a:srgbClr val="FFFFFF"/>
              </a:solidFill>
              <a:latin typeface="Montserrat" panose="00000500000000000000" pitchFamily="2" charset="0"/>
            </a:endParaRPr>
          </a:p>
        </p:txBody>
      </p:sp>
      <p:sp>
        <p:nvSpPr>
          <p:cNvPr id="4" name="Rectangle: Rounded Corners 3">
            <a:extLst>
              <a:ext uri="{FF2B5EF4-FFF2-40B4-BE49-F238E27FC236}">
                <a16:creationId xmlns:a16="http://schemas.microsoft.com/office/drawing/2014/main" id="{D9C17039-C3DB-9FE8-F048-C84070E65710}"/>
              </a:ext>
            </a:extLst>
          </p:cNvPr>
          <p:cNvSpPr/>
          <p:nvPr/>
        </p:nvSpPr>
        <p:spPr>
          <a:xfrm>
            <a:off x="5007542" y="4389113"/>
            <a:ext cx="2841049" cy="2220866"/>
          </a:xfrm>
          <a:prstGeom prst="roundRect">
            <a:avLst/>
          </a:prstGeom>
          <a:solidFill>
            <a:schemeClr val="bg1"/>
          </a:solidFill>
          <a:ln w="57150">
            <a:solidFill>
              <a:srgbClr val="0C175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46"/>
            <a:endParaRPr lang="en-US" b="1" dirty="0">
              <a:solidFill>
                <a:srgbClr val="FFFFFF"/>
              </a:solidFill>
              <a:latin typeface="Montserrat" panose="00000500000000000000" pitchFamily="2" charset="0"/>
            </a:endParaRPr>
          </a:p>
        </p:txBody>
      </p:sp>
      <p:sp>
        <p:nvSpPr>
          <p:cNvPr id="12" name="TextBox 11">
            <a:extLst>
              <a:ext uri="{FF2B5EF4-FFF2-40B4-BE49-F238E27FC236}">
                <a16:creationId xmlns:a16="http://schemas.microsoft.com/office/drawing/2014/main" id="{938A3949-87B1-3992-45FB-61D0B5C71B40}"/>
              </a:ext>
            </a:extLst>
          </p:cNvPr>
          <p:cNvSpPr txBox="1"/>
          <p:nvPr/>
        </p:nvSpPr>
        <p:spPr>
          <a:xfrm>
            <a:off x="5241473" y="920728"/>
            <a:ext cx="2334975" cy="707886"/>
          </a:xfrm>
          <a:prstGeom prst="rect">
            <a:avLst/>
          </a:prstGeom>
          <a:noFill/>
        </p:spPr>
        <p:txBody>
          <a:bodyPr wrap="square" rtlCol="0">
            <a:spAutoFit/>
          </a:bodyPr>
          <a:lstStyle/>
          <a:p>
            <a:pPr algn="ctr"/>
            <a:r>
              <a:rPr lang="en-CA" sz="2000" b="1" dirty="0">
                <a:solidFill>
                  <a:srgbClr val="0C1752"/>
                </a:solidFill>
                <a:latin typeface="Montserrat" panose="00000500000000000000" pitchFamily="2" charset="0"/>
              </a:rPr>
              <a:t>Chief Marketing Officer (CMO)</a:t>
            </a:r>
          </a:p>
        </p:txBody>
      </p:sp>
      <p:sp>
        <p:nvSpPr>
          <p:cNvPr id="13" name="TextBox 12">
            <a:extLst>
              <a:ext uri="{FF2B5EF4-FFF2-40B4-BE49-F238E27FC236}">
                <a16:creationId xmlns:a16="http://schemas.microsoft.com/office/drawing/2014/main" id="{081E9A3E-FD25-CD54-59DB-B98E063AEC27}"/>
              </a:ext>
            </a:extLst>
          </p:cNvPr>
          <p:cNvSpPr txBox="1"/>
          <p:nvPr/>
        </p:nvSpPr>
        <p:spPr>
          <a:xfrm>
            <a:off x="8345853" y="2230601"/>
            <a:ext cx="2334975" cy="707886"/>
          </a:xfrm>
          <a:prstGeom prst="rect">
            <a:avLst/>
          </a:prstGeom>
          <a:noFill/>
        </p:spPr>
        <p:txBody>
          <a:bodyPr wrap="square" rtlCol="0">
            <a:spAutoFit/>
          </a:bodyPr>
          <a:lstStyle/>
          <a:p>
            <a:pPr algn="ctr"/>
            <a:r>
              <a:rPr lang="en-CA" sz="2000" b="1" dirty="0">
                <a:solidFill>
                  <a:srgbClr val="0C1752"/>
                </a:solidFill>
                <a:latin typeface="Montserrat" panose="00000500000000000000" pitchFamily="2" charset="0"/>
              </a:rPr>
              <a:t>Marketing Analyst</a:t>
            </a:r>
          </a:p>
        </p:txBody>
      </p:sp>
      <p:sp>
        <p:nvSpPr>
          <p:cNvPr id="14" name="TextBox 13">
            <a:extLst>
              <a:ext uri="{FF2B5EF4-FFF2-40B4-BE49-F238E27FC236}">
                <a16:creationId xmlns:a16="http://schemas.microsoft.com/office/drawing/2014/main" id="{94072310-D9DB-B506-A09F-400C55FF2A69}"/>
              </a:ext>
            </a:extLst>
          </p:cNvPr>
          <p:cNvSpPr txBox="1"/>
          <p:nvPr/>
        </p:nvSpPr>
        <p:spPr>
          <a:xfrm>
            <a:off x="5108889" y="4473582"/>
            <a:ext cx="2334975" cy="707886"/>
          </a:xfrm>
          <a:prstGeom prst="rect">
            <a:avLst/>
          </a:prstGeom>
          <a:noFill/>
        </p:spPr>
        <p:txBody>
          <a:bodyPr wrap="square" rtlCol="0">
            <a:spAutoFit/>
          </a:bodyPr>
          <a:lstStyle/>
          <a:p>
            <a:pPr algn="ctr"/>
            <a:r>
              <a:rPr lang="en-CA" sz="2000" b="1" dirty="0">
                <a:solidFill>
                  <a:srgbClr val="0C1752"/>
                </a:solidFill>
                <a:latin typeface="Montserrat" panose="00000500000000000000" pitchFamily="2" charset="0"/>
              </a:rPr>
              <a:t>Creative Copywriter</a:t>
            </a:r>
          </a:p>
        </p:txBody>
      </p:sp>
      <p:pic>
        <p:nvPicPr>
          <p:cNvPr id="4100" name="Picture 4" descr="Generated image">
            <a:extLst>
              <a:ext uri="{FF2B5EF4-FFF2-40B4-BE49-F238E27FC236}">
                <a16:creationId xmlns:a16="http://schemas.microsoft.com/office/drawing/2014/main" id="{AA2756D1-0356-E9F4-69F8-E7F88CC776CC}"/>
              </a:ext>
            </a:extLst>
          </p:cNvPr>
          <p:cNvPicPr>
            <a:picLocks noChangeAspect="1" noChangeArrowheads="1"/>
          </p:cNvPicPr>
          <p:nvPr/>
        </p:nvPicPr>
        <p:blipFill>
          <a:blip r:embed="rId4">
            <a:clrChange>
              <a:clrFrom>
                <a:srgbClr val="FFFFFE"/>
              </a:clrFrom>
              <a:clrTo>
                <a:srgbClr val="FFFFFE">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795244" y="1533288"/>
            <a:ext cx="1307941" cy="130794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Generated image">
            <a:extLst>
              <a:ext uri="{FF2B5EF4-FFF2-40B4-BE49-F238E27FC236}">
                <a16:creationId xmlns:a16="http://schemas.microsoft.com/office/drawing/2014/main" id="{94B8C423-3CF7-1259-2B71-5CE3E426C9BB}"/>
              </a:ext>
            </a:extLst>
          </p:cNvPr>
          <p:cNvPicPr>
            <a:picLocks noChangeAspect="1" noChangeArrowheads="1"/>
          </p:cNvPicPr>
          <p:nvPr/>
        </p:nvPicPr>
        <p:blipFill>
          <a:blip r:embed="rId4">
            <a:clrChange>
              <a:clrFrom>
                <a:srgbClr val="FFFFFE"/>
              </a:clrFrom>
              <a:clrTo>
                <a:srgbClr val="FFFFFE">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846639" y="2831604"/>
            <a:ext cx="1286576" cy="1286576"/>
          </a:xfrm>
          <a:prstGeom prst="rect">
            <a:avLst/>
          </a:prstGeom>
          <a:noFill/>
          <a:extLst>
            <a:ext uri="{909E8E84-426E-40DD-AFC4-6F175D3DCCD1}">
              <a14:hiddenFill xmlns:a14="http://schemas.microsoft.com/office/drawing/2010/main">
                <a:solidFill>
                  <a:srgbClr val="FFFFFF"/>
                </a:solidFill>
              </a14:hiddenFill>
            </a:ext>
          </a:extLst>
        </p:spPr>
      </p:pic>
      <p:sp>
        <p:nvSpPr>
          <p:cNvPr id="52" name="Oval 51">
            <a:extLst>
              <a:ext uri="{FF2B5EF4-FFF2-40B4-BE49-F238E27FC236}">
                <a16:creationId xmlns:a16="http://schemas.microsoft.com/office/drawing/2014/main" id="{2380F282-8289-6396-8CBD-80D9B9725E4D}"/>
              </a:ext>
            </a:extLst>
          </p:cNvPr>
          <p:cNvSpPr/>
          <p:nvPr/>
        </p:nvSpPr>
        <p:spPr>
          <a:xfrm>
            <a:off x="586631" y="658766"/>
            <a:ext cx="11111440" cy="6108745"/>
          </a:xfrm>
          <a:prstGeom prst="ellipse">
            <a:avLst/>
          </a:prstGeom>
          <a:noFill/>
          <a:ln w="57150">
            <a:solidFill>
              <a:srgbClr val="0C175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1" name="TextBox 10">
            <a:extLst>
              <a:ext uri="{FF2B5EF4-FFF2-40B4-BE49-F238E27FC236}">
                <a16:creationId xmlns:a16="http://schemas.microsoft.com/office/drawing/2014/main" id="{1FC3635C-E14F-64CB-437A-9FE610EBF22F}"/>
              </a:ext>
            </a:extLst>
          </p:cNvPr>
          <p:cNvSpPr txBox="1"/>
          <p:nvPr/>
        </p:nvSpPr>
        <p:spPr>
          <a:xfrm>
            <a:off x="-264721" y="742676"/>
            <a:ext cx="2334975" cy="400110"/>
          </a:xfrm>
          <a:prstGeom prst="rect">
            <a:avLst/>
          </a:prstGeom>
          <a:noFill/>
        </p:spPr>
        <p:txBody>
          <a:bodyPr wrap="square" rtlCol="0">
            <a:spAutoFit/>
          </a:bodyPr>
          <a:lstStyle/>
          <a:p>
            <a:pPr algn="ctr"/>
            <a:r>
              <a:rPr lang="en-CA" sz="2000" b="1" dirty="0">
                <a:solidFill>
                  <a:srgbClr val="D56E48"/>
                </a:solidFill>
                <a:latin typeface="Montserrat" panose="00000500000000000000" pitchFamily="2" charset="0"/>
              </a:rPr>
              <a:t>User Trigger</a:t>
            </a:r>
          </a:p>
        </p:txBody>
      </p:sp>
      <p:pic>
        <p:nvPicPr>
          <p:cNvPr id="4104" name="Picture 8" descr="Generated image">
            <a:extLst>
              <a:ext uri="{FF2B5EF4-FFF2-40B4-BE49-F238E27FC236}">
                <a16:creationId xmlns:a16="http://schemas.microsoft.com/office/drawing/2014/main" id="{29E745FD-0281-ED4A-A94A-351EF86D2B29}"/>
              </a:ext>
            </a:extLst>
          </p:cNvPr>
          <p:cNvPicPr>
            <a:picLocks noChangeAspect="1" noChangeArrowheads="1"/>
          </p:cNvPicPr>
          <p:nvPr/>
        </p:nvPicPr>
        <p:blipFill rotWithShape="1">
          <a:blip r:embed="rId5">
            <a:clrChange>
              <a:clrFrom>
                <a:srgbClr val="FDFFFF"/>
              </a:clrFrom>
              <a:clrTo>
                <a:srgbClr val="FDFFFF">
                  <a:alpha val="0"/>
                </a:srgbClr>
              </a:clrTo>
            </a:clrChange>
            <a:duotone>
              <a:schemeClr val="accent2">
                <a:shade val="45000"/>
                <a:satMod val="135000"/>
              </a:schemeClr>
              <a:prstClr val="white"/>
            </a:duotone>
            <a:extLst>
              <a:ext uri="{28A0092B-C50C-407E-A947-70E740481C1C}">
                <a14:useLocalDpi xmlns:a14="http://schemas.microsoft.com/office/drawing/2010/main" val="0"/>
              </a:ext>
            </a:extLst>
          </a:blip>
          <a:srcRect r="884" b="24202"/>
          <a:stretch/>
        </p:blipFill>
        <p:spPr bwMode="auto">
          <a:xfrm>
            <a:off x="26220" y="1084260"/>
            <a:ext cx="1210802" cy="92594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A3ED5CFF-85A8-25A5-C8F9-E90797A001F3}"/>
              </a:ext>
            </a:extLst>
          </p:cNvPr>
          <p:cNvSpPr/>
          <p:nvPr/>
        </p:nvSpPr>
        <p:spPr>
          <a:xfrm>
            <a:off x="1822843" y="2341132"/>
            <a:ext cx="2959023" cy="2220866"/>
          </a:xfrm>
          <a:prstGeom prst="roundRect">
            <a:avLst/>
          </a:prstGeom>
          <a:solidFill>
            <a:schemeClr val="bg1"/>
          </a:solidFill>
          <a:ln w="57150">
            <a:solidFill>
              <a:srgbClr val="0C1752"/>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46"/>
            <a:endParaRPr lang="en-US" b="1" dirty="0">
              <a:solidFill>
                <a:srgbClr val="FFFFFF"/>
              </a:solidFill>
              <a:latin typeface="Montserrat" panose="00000500000000000000" pitchFamily="2" charset="0"/>
            </a:endParaRPr>
          </a:p>
        </p:txBody>
      </p:sp>
      <p:sp>
        <p:nvSpPr>
          <p:cNvPr id="17" name="TextBox 16">
            <a:extLst>
              <a:ext uri="{FF2B5EF4-FFF2-40B4-BE49-F238E27FC236}">
                <a16:creationId xmlns:a16="http://schemas.microsoft.com/office/drawing/2014/main" id="{9931157E-DFF2-BF16-47D2-EB882D4C9EEC}"/>
              </a:ext>
            </a:extLst>
          </p:cNvPr>
          <p:cNvSpPr txBox="1"/>
          <p:nvPr/>
        </p:nvSpPr>
        <p:spPr>
          <a:xfrm>
            <a:off x="2150953" y="2422572"/>
            <a:ext cx="2334975" cy="707886"/>
          </a:xfrm>
          <a:prstGeom prst="rect">
            <a:avLst/>
          </a:prstGeom>
          <a:noFill/>
        </p:spPr>
        <p:txBody>
          <a:bodyPr wrap="square" rtlCol="0">
            <a:spAutoFit/>
          </a:bodyPr>
          <a:lstStyle/>
          <a:p>
            <a:pPr algn="ctr"/>
            <a:r>
              <a:rPr lang="en-CA" sz="2000" b="1" dirty="0">
                <a:solidFill>
                  <a:srgbClr val="0C1752"/>
                </a:solidFill>
                <a:latin typeface="Montserrat" panose="00000500000000000000" pitchFamily="2" charset="0"/>
              </a:rPr>
              <a:t>Social Media Manager</a:t>
            </a:r>
          </a:p>
        </p:txBody>
      </p:sp>
      <p:pic>
        <p:nvPicPr>
          <p:cNvPr id="18" name="Picture 4" descr="Generated image">
            <a:extLst>
              <a:ext uri="{FF2B5EF4-FFF2-40B4-BE49-F238E27FC236}">
                <a16:creationId xmlns:a16="http://schemas.microsoft.com/office/drawing/2014/main" id="{0AF29FF0-FD98-FE05-6784-C810B966E0E4}"/>
              </a:ext>
            </a:extLst>
          </p:cNvPr>
          <p:cNvPicPr>
            <a:picLocks noChangeAspect="1" noChangeArrowheads="1"/>
          </p:cNvPicPr>
          <p:nvPr/>
        </p:nvPicPr>
        <p:blipFill>
          <a:blip r:embed="rId4">
            <a:clrChange>
              <a:clrFrom>
                <a:srgbClr val="FFFFFE"/>
              </a:clrFrom>
              <a:clrTo>
                <a:srgbClr val="FFFFFE">
                  <a:alpha val="0"/>
                </a:srgbClr>
              </a:clrTo>
            </a:clrChange>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615657" y="3035055"/>
            <a:ext cx="1307941" cy="1307941"/>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 descr="Generated image">
            <a:extLst>
              <a:ext uri="{FF2B5EF4-FFF2-40B4-BE49-F238E27FC236}">
                <a16:creationId xmlns:a16="http://schemas.microsoft.com/office/drawing/2014/main" id="{E819B7B6-991C-9789-3A9D-E82C0BAF084E}"/>
              </a:ext>
            </a:extLst>
          </p:cNvPr>
          <p:cNvPicPr>
            <a:picLocks noChangeAspect="1" noChangeArrowheads="1"/>
          </p:cNvPicPr>
          <p:nvPr/>
        </p:nvPicPr>
        <p:blipFill>
          <a:blip r:embed="rId4">
            <a:clrChange>
              <a:clrFrom>
                <a:srgbClr val="FFFFFE"/>
              </a:clrFrom>
              <a:clrTo>
                <a:srgbClr val="FFFFFE">
                  <a:alpha val="0"/>
                </a:srgbClr>
              </a:clrTo>
            </a:clrChange>
            <a:grayscl/>
            <a:extLst>
              <a:ext uri="{28A0092B-C50C-407E-A947-70E740481C1C}">
                <a14:useLocalDpi xmlns:a14="http://schemas.microsoft.com/office/drawing/2010/main" val="0"/>
              </a:ext>
            </a:extLst>
          </a:blip>
          <a:srcRect/>
          <a:stretch>
            <a:fillRect/>
          </a:stretch>
        </p:blipFill>
        <p:spPr bwMode="auto">
          <a:xfrm>
            <a:off x="5622405" y="5151474"/>
            <a:ext cx="1307941" cy="1307941"/>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Arrow Connector 23">
            <a:extLst>
              <a:ext uri="{FF2B5EF4-FFF2-40B4-BE49-F238E27FC236}">
                <a16:creationId xmlns:a16="http://schemas.microsoft.com/office/drawing/2014/main" id="{3FE6777E-308C-DF72-9D11-D5488C0CB565}"/>
              </a:ext>
            </a:extLst>
          </p:cNvPr>
          <p:cNvCxnSpPr>
            <a:cxnSpLocks/>
          </p:cNvCxnSpPr>
          <p:nvPr/>
        </p:nvCxnSpPr>
        <p:spPr>
          <a:xfrm>
            <a:off x="1072748" y="1806627"/>
            <a:ext cx="621706" cy="0"/>
          </a:xfrm>
          <a:prstGeom prst="straightConnector1">
            <a:avLst/>
          </a:prstGeom>
          <a:ln w="57150">
            <a:solidFill>
              <a:srgbClr val="D56E48"/>
            </a:solidFill>
            <a:tailEnd type="triangle"/>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388F91D6-DBE8-6C04-D455-BEA010C04688}"/>
              </a:ext>
            </a:extLst>
          </p:cNvPr>
          <p:cNvPicPr>
            <a:picLocks noChangeAspect="1"/>
          </p:cNvPicPr>
          <p:nvPr/>
        </p:nvPicPr>
        <p:blipFill>
          <a:blip r:embed="rId6"/>
          <a:srcRect l="14645" t="12909" r="14985" b="14724"/>
          <a:stretch>
            <a:fillRect/>
          </a:stretch>
        </p:blipFill>
        <p:spPr>
          <a:xfrm>
            <a:off x="2743114" y="4668610"/>
            <a:ext cx="2145323" cy="1451813"/>
          </a:xfrm>
          <a:prstGeom prst="rect">
            <a:avLst/>
          </a:prstGeom>
        </p:spPr>
      </p:pic>
      <p:cxnSp>
        <p:nvCxnSpPr>
          <p:cNvPr id="28" name="Straight Arrow Connector 27">
            <a:extLst>
              <a:ext uri="{FF2B5EF4-FFF2-40B4-BE49-F238E27FC236}">
                <a16:creationId xmlns:a16="http://schemas.microsoft.com/office/drawing/2014/main" id="{B12A3941-509A-3941-966A-7177EF74E587}"/>
              </a:ext>
            </a:extLst>
          </p:cNvPr>
          <p:cNvCxnSpPr>
            <a:cxnSpLocks/>
          </p:cNvCxnSpPr>
          <p:nvPr/>
        </p:nvCxnSpPr>
        <p:spPr>
          <a:xfrm flipH="1">
            <a:off x="3421461" y="1281547"/>
            <a:ext cx="1373989" cy="969096"/>
          </a:xfrm>
          <a:prstGeom prst="straightConnector1">
            <a:avLst/>
          </a:prstGeom>
          <a:ln w="57150">
            <a:solidFill>
              <a:srgbClr val="D56E48"/>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4BFF90BB-5212-EB04-9084-E58B6F71C0B1}"/>
              </a:ext>
            </a:extLst>
          </p:cNvPr>
          <p:cNvCxnSpPr>
            <a:cxnSpLocks/>
          </p:cNvCxnSpPr>
          <p:nvPr/>
        </p:nvCxnSpPr>
        <p:spPr>
          <a:xfrm>
            <a:off x="8016313" y="1168641"/>
            <a:ext cx="1601769" cy="757177"/>
          </a:xfrm>
          <a:prstGeom prst="straightConnector1">
            <a:avLst/>
          </a:prstGeom>
          <a:ln w="57150">
            <a:solidFill>
              <a:srgbClr val="D56E48"/>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11366A4C-910F-B6C4-0FD3-C9A09C4A057F}"/>
              </a:ext>
            </a:extLst>
          </p:cNvPr>
          <p:cNvCxnSpPr>
            <a:cxnSpLocks/>
          </p:cNvCxnSpPr>
          <p:nvPr/>
        </p:nvCxnSpPr>
        <p:spPr>
          <a:xfrm flipH="1" flipV="1">
            <a:off x="7944902" y="1432637"/>
            <a:ext cx="1317110" cy="616906"/>
          </a:xfrm>
          <a:prstGeom prst="straightConnector1">
            <a:avLst/>
          </a:prstGeom>
          <a:ln w="57150">
            <a:solidFill>
              <a:srgbClr val="D56E48"/>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02BE67AD-A10B-1C88-DA67-B2D393010490}"/>
              </a:ext>
            </a:extLst>
          </p:cNvPr>
          <p:cNvCxnSpPr>
            <a:cxnSpLocks/>
          </p:cNvCxnSpPr>
          <p:nvPr/>
        </p:nvCxnSpPr>
        <p:spPr>
          <a:xfrm flipV="1">
            <a:off x="2934841" y="1022533"/>
            <a:ext cx="1762218" cy="1258469"/>
          </a:xfrm>
          <a:prstGeom prst="straightConnector1">
            <a:avLst/>
          </a:prstGeom>
          <a:ln w="57150">
            <a:solidFill>
              <a:srgbClr val="D56E48"/>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007D7D19-9418-3B00-035F-0BF33524B234}"/>
              </a:ext>
            </a:extLst>
          </p:cNvPr>
          <p:cNvCxnSpPr>
            <a:cxnSpLocks/>
          </p:cNvCxnSpPr>
          <p:nvPr/>
        </p:nvCxnSpPr>
        <p:spPr>
          <a:xfrm>
            <a:off x="6528890" y="3165641"/>
            <a:ext cx="19773" cy="1067083"/>
          </a:xfrm>
          <a:prstGeom prst="straightConnector1">
            <a:avLst/>
          </a:prstGeom>
          <a:ln w="57150">
            <a:solidFill>
              <a:srgbClr val="D56E48"/>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A620FB47-F0C0-5A75-8A54-A73A3EDAE195}"/>
              </a:ext>
            </a:extLst>
          </p:cNvPr>
          <p:cNvCxnSpPr>
            <a:cxnSpLocks/>
          </p:cNvCxnSpPr>
          <p:nvPr/>
        </p:nvCxnSpPr>
        <p:spPr>
          <a:xfrm flipV="1">
            <a:off x="6056332" y="3130458"/>
            <a:ext cx="0" cy="1117136"/>
          </a:xfrm>
          <a:prstGeom prst="straightConnector1">
            <a:avLst/>
          </a:prstGeom>
          <a:ln w="57150">
            <a:solidFill>
              <a:srgbClr val="D56E48"/>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0967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additive="base">
                                        <p:cTn id="7" dur="500" fill="hold"/>
                                        <p:tgtEl>
                                          <p:spTgt spid="52"/>
                                        </p:tgtEl>
                                        <p:attrNameLst>
                                          <p:attrName>ppt_x</p:attrName>
                                        </p:attrNameLst>
                                      </p:cBhvr>
                                      <p:tavLst>
                                        <p:tav tm="0">
                                          <p:val>
                                            <p:strVal val="#ppt_x"/>
                                          </p:val>
                                        </p:tav>
                                        <p:tav tm="100000">
                                          <p:val>
                                            <p:strVal val="#ppt_x"/>
                                          </p:val>
                                        </p:tav>
                                      </p:tavLst>
                                    </p:anim>
                                    <p:anim calcmode="lin" valueType="num">
                                      <p:cBhvr additive="base">
                                        <p:cTn id="8" dur="500" fill="hold"/>
                                        <p:tgtEl>
                                          <p:spTgt spid="5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ppt_x"/>
                                          </p:val>
                                        </p:tav>
                                        <p:tav tm="100000">
                                          <p:val>
                                            <p:strVal val="#ppt_x"/>
                                          </p:val>
                                        </p:tav>
                                      </p:tavLst>
                                    </p:anim>
                                    <p:anim calcmode="lin" valueType="num">
                                      <p:cBhvr additive="base">
                                        <p:cTn id="1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104"/>
                                        </p:tgtEl>
                                        <p:attrNameLst>
                                          <p:attrName>style.visibility</p:attrName>
                                        </p:attrNameLst>
                                      </p:cBhvr>
                                      <p:to>
                                        <p:strVal val="visible"/>
                                      </p:to>
                                    </p:set>
                                    <p:animEffect transition="in" filter="fade">
                                      <p:cBhvr>
                                        <p:cTn id="17" dur="500"/>
                                        <p:tgtEl>
                                          <p:spTgt spid="410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500"/>
                                        <p:tgtEl>
                                          <p:spTgt spid="2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500"/>
                                        <p:tgtEl>
                                          <p:spTgt spid="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4100"/>
                                        </p:tgtEl>
                                        <p:attrNameLst>
                                          <p:attrName>style.visibility</p:attrName>
                                        </p:attrNameLst>
                                      </p:cBhvr>
                                      <p:to>
                                        <p:strVal val="visible"/>
                                      </p:to>
                                    </p:set>
                                    <p:animEffect transition="in" filter="fade">
                                      <p:cBhvr>
                                        <p:cTn id="34" dur="500"/>
                                        <p:tgtEl>
                                          <p:spTgt spid="410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fade">
                                      <p:cBhvr>
                                        <p:cTn id="39" dur="500"/>
                                        <p:tgtEl>
                                          <p:spTgt spid="34"/>
                                        </p:tgtEl>
                                      </p:cBhvr>
                                    </p:animEffect>
                                  </p:childTnLst>
                                </p:cTn>
                              </p:par>
                              <p:par>
                                <p:cTn id="40" presetID="10" presetClass="entr" presetSubtype="0" fill="hold" nodeType="with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fade">
                                      <p:cBhvr>
                                        <p:cTn id="42" dur="500"/>
                                        <p:tgtEl>
                                          <p:spTgt spid="3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
                                        </p:tgtEl>
                                        <p:attrNameLst>
                                          <p:attrName>style.visibility</p:attrName>
                                        </p:attrNameLst>
                                      </p:cBhvr>
                                      <p:to>
                                        <p:strVal val="visible"/>
                                      </p:to>
                                    </p:set>
                                    <p:animEffect transition="in" filter="fade">
                                      <p:cBhvr>
                                        <p:cTn id="45" dur="500"/>
                                        <p:tgtEl>
                                          <p:spTgt spid="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childTnLst>
                                </p:cTn>
                              </p:par>
                              <p:par>
                                <p:cTn id="49" presetID="10" presetClass="entr" presetSubtype="0" fill="hold" nodeType="with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500"/>
                                        <p:tgtEl>
                                          <p:spTgt spid="15"/>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fade">
                                      <p:cBhvr>
                                        <p:cTn id="56" dur="500"/>
                                        <p:tgtEl>
                                          <p:spTgt spid="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500"/>
                                        <p:tgtEl>
                                          <p:spTgt spid="17"/>
                                        </p:tgtEl>
                                      </p:cBhvr>
                                    </p:animEffect>
                                  </p:childTnLst>
                                </p:cTn>
                              </p:par>
                              <p:par>
                                <p:cTn id="60" presetID="10" presetClass="entr" presetSubtype="0" fill="hold" nodeType="with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500"/>
                                        <p:tgtEl>
                                          <p:spTgt spid="18"/>
                                        </p:tgtEl>
                                      </p:cBhvr>
                                    </p:animEffect>
                                  </p:childTnLst>
                                </p:cTn>
                              </p:par>
                              <p:par>
                                <p:cTn id="63" presetID="10" presetClass="entr" presetSubtype="0" fill="hold" nodeType="with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fade">
                                      <p:cBhvr>
                                        <p:cTn id="65" dur="500"/>
                                        <p:tgtEl>
                                          <p:spTgt spid="40"/>
                                        </p:tgtEl>
                                      </p:cBhvr>
                                    </p:animEffect>
                                  </p:childTnLst>
                                </p:cTn>
                              </p:par>
                              <p:par>
                                <p:cTn id="66" presetID="10" presetClass="entr" presetSubtype="0" fill="hold"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500"/>
                                        <p:tgtEl>
                                          <p:spTgt spid="28"/>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4"/>
                                        </p:tgtEl>
                                        <p:attrNameLst>
                                          <p:attrName>style.visibility</p:attrName>
                                        </p:attrNameLst>
                                      </p:cBhvr>
                                      <p:to>
                                        <p:strVal val="visible"/>
                                      </p:to>
                                    </p:set>
                                    <p:animEffect transition="in" filter="fade">
                                      <p:cBhvr>
                                        <p:cTn id="73" dur="500"/>
                                        <p:tgtEl>
                                          <p:spTgt spid="4"/>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4"/>
                                        </p:tgtEl>
                                        <p:attrNameLst>
                                          <p:attrName>style.visibility</p:attrName>
                                        </p:attrNameLst>
                                      </p:cBhvr>
                                      <p:to>
                                        <p:strVal val="visible"/>
                                      </p:to>
                                    </p:set>
                                    <p:animEffect transition="in" filter="fade">
                                      <p:cBhvr>
                                        <p:cTn id="76" dur="500"/>
                                        <p:tgtEl>
                                          <p:spTgt spid="14"/>
                                        </p:tgtEl>
                                      </p:cBhvr>
                                    </p:animEffect>
                                  </p:childTnLst>
                                </p:cTn>
                              </p:par>
                              <p:par>
                                <p:cTn id="77" presetID="10" presetClass="entr" presetSubtype="0" fill="hold" nodeType="with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500"/>
                                        <p:tgtEl>
                                          <p:spTgt spid="20"/>
                                        </p:tgtEl>
                                      </p:cBhvr>
                                    </p:animEffect>
                                  </p:childTnLst>
                                </p:cTn>
                              </p:par>
                              <p:par>
                                <p:cTn id="80" presetID="10" presetClass="entr" presetSubtype="0" fill="hold" nodeType="withEffect">
                                  <p:stCondLst>
                                    <p:cond delay="0"/>
                                  </p:stCondLst>
                                  <p:childTnLst>
                                    <p:set>
                                      <p:cBhvr>
                                        <p:cTn id="81" dur="1" fill="hold">
                                          <p:stCondLst>
                                            <p:cond delay="0"/>
                                          </p:stCondLst>
                                        </p:cTn>
                                        <p:tgtEl>
                                          <p:spTgt spid="45"/>
                                        </p:tgtEl>
                                        <p:attrNameLst>
                                          <p:attrName>style.visibility</p:attrName>
                                        </p:attrNameLst>
                                      </p:cBhvr>
                                      <p:to>
                                        <p:strVal val="visible"/>
                                      </p:to>
                                    </p:set>
                                    <p:animEffect transition="in" filter="fade">
                                      <p:cBhvr>
                                        <p:cTn id="82" dur="500"/>
                                        <p:tgtEl>
                                          <p:spTgt spid="45"/>
                                        </p:tgtEl>
                                      </p:cBhvr>
                                    </p:animEffect>
                                  </p:childTnLst>
                                </p:cTn>
                              </p:par>
                              <p:par>
                                <p:cTn id="83" presetID="10" presetClass="entr" presetSubtype="0" fill="hold" nodeType="withEffect">
                                  <p:stCondLst>
                                    <p:cond delay="0"/>
                                  </p:stCondLst>
                                  <p:childTnLst>
                                    <p:set>
                                      <p:cBhvr>
                                        <p:cTn id="84" dur="1" fill="hold">
                                          <p:stCondLst>
                                            <p:cond delay="0"/>
                                          </p:stCondLst>
                                        </p:cTn>
                                        <p:tgtEl>
                                          <p:spTgt spid="44"/>
                                        </p:tgtEl>
                                        <p:attrNameLst>
                                          <p:attrName>style.visibility</p:attrName>
                                        </p:attrNameLst>
                                      </p:cBhvr>
                                      <p:to>
                                        <p:strVal val="visible"/>
                                      </p:to>
                                    </p:set>
                                    <p:animEffect transition="in" filter="fade">
                                      <p:cBhvr>
                                        <p:cTn id="85"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12" grpId="0"/>
      <p:bldP spid="13" grpId="0"/>
      <p:bldP spid="14" grpId="0"/>
      <p:bldP spid="52" grpId="0" animBg="1"/>
      <p:bldP spid="11" grpId="0"/>
      <p:bldP spid="8" grpId="0" animBg="1"/>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8D0D0BC-A33F-68F3-CFF3-C131098031E5}"/>
              </a:ext>
            </a:extLst>
          </p:cNvPr>
          <p:cNvPicPr>
            <a:picLocks noChangeAspect="1"/>
          </p:cNvPicPr>
          <p:nvPr/>
        </p:nvPicPr>
        <p:blipFill>
          <a:blip r:embed="rId2"/>
          <a:stretch>
            <a:fillRect/>
          </a:stretch>
        </p:blipFill>
        <p:spPr>
          <a:xfrm>
            <a:off x="3202" y="0"/>
            <a:ext cx="12224773" cy="6858000"/>
          </a:xfrm>
          <a:prstGeom prst="rect">
            <a:avLst/>
          </a:prstGeom>
        </p:spPr>
      </p:pic>
      <p:pic>
        <p:nvPicPr>
          <p:cNvPr id="7" name="Picture 6">
            <a:extLst>
              <a:ext uri="{FF2B5EF4-FFF2-40B4-BE49-F238E27FC236}">
                <a16:creationId xmlns:a16="http://schemas.microsoft.com/office/drawing/2014/main" id="{76981DD5-64C7-E8B5-2241-71729C62DC3A}"/>
              </a:ext>
            </a:extLst>
          </p:cNvPr>
          <p:cNvPicPr>
            <a:picLocks noChangeAspect="1"/>
          </p:cNvPicPr>
          <p:nvPr/>
        </p:nvPicPr>
        <p:blipFill>
          <a:blip r:embed="rId3"/>
          <a:srcRect l="2731" t="18967" r="5594" b="23672"/>
          <a:stretch/>
        </p:blipFill>
        <p:spPr>
          <a:xfrm>
            <a:off x="9428854" y="90489"/>
            <a:ext cx="2763146" cy="477788"/>
          </a:xfrm>
          <a:prstGeom prst="rect">
            <a:avLst/>
          </a:prstGeom>
        </p:spPr>
      </p:pic>
      <p:pic>
        <p:nvPicPr>
          <p:cNvPr id="5" name="Picture 4">
            <a:extLst>
              <a:ext uri="{FF2B5EF4-FFF2-40B4-BE49-F238E27FC236}">
                <a16:creationId xmlns:a16="http://schemas.microsoft.com/office/drawing/2014/main" id="{83197082-7DC6-BFF0-B8A0-5F525193E445}"/>
              </a:ext>
            </a:extLst>
          </p:cNvPr>
          <p:cNvPicPr>
            <a:picLocks noChangeAspect="1"/>
          </p:cNvPicPr>
          <p:nvPr/>
        </p:nvPicPr>
        <p:blipFill>
          <a:blip r:embed="rId4"/>
          <a:stretch>
            <a:fillRect/>
          </a:stretch>
        </p:blipFill>
        <p:spPr>
          <a:xfrm>
            <a:off x="1114425" y="1100613"/>
            <a:ext cx="9544050" cy="5222123"/>
          </a:xfrm>
          <a:prstGeom prst="rect">
            <a:avLst/>
          </a:prstGeom>
        </p:spPr>
      </p:pic>
      <p:sp>
        <p:nvSpPr>
          <p:cNvPr id="9" name="TextBox 8">
            <a:extLst>
              <a:ext uri="{FF2B5EF4-FFF2-40B4-BE49-F238E27FC236}">
                <a16:creationId xmlns:a16="http://schemas.microsoft.com/office/drawing/2014/main" id="{A04A5A81-EA5C-DD43-FD88-AA68303644EE}"/>
              </a:ext>
            </a:extLst>
          </p:cNvPr>
          <p:cNvSpPr txBox="1"/>
          <p:nvPr/>
        </p:nvSpPr>
        <p:spPr>
          <a:xfrm>
            <a:off x="161925" y="90489"/>
            <a:ext cx="6115050" cy="461665"/>
          </a:xfrm>
          <a:prstGeom prst="rect">
            <a:avLst/>
          </a:prstGeom>
        </p:spPr>
        <p:txBody>
          <a:bodyPr wrap="square">
            <a:spAutoFit/>
          </a:bodyPr>
          <a:lstStyle>
            <a:defPPr>
              <a:defRPr lang="en-US"/>
            </a:defPPr>
            <a:lvl1pPr>
              <a:defRPr sz="2400">
                <a:solidFill>
                  <a:schemeClr val="bg1"/>
                </a:solidFill>
                <a:latin typeface="Montserrat" charset="0"/>
                <a:ea typeface="Montserrat" charset="0"/>
                <a:cs typeface="Montserrat" charset="0"/>
              </a:defRPr>
            </a:lvl1pPr>
          </a:lstStyle>
          <a:p>
            <a:r>
              <a:rPr lang="en-US" dirty="0"/>
              <a:t>Marketing Team Sample Output</a:t>
            </a:r>
          </a:p>
        </p:txBody>
      </p:sp>
    </p:spTree>
    <p:extLst>
      <p:ext uri="{BB962C8B-B14F-4D97-AF65-F5344CB8AC3E}">
        <p14:creationId xmlns:p14="http://schemas.microsoft.com/office/powerpoint/2010/main" val="1372391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3259A-CD2C-0446-CFDB-7C77F895EB6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663B532-B70B-27B1-177A-CB748A1AE87E}"/>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2CEB8891-9091-D8AE-274C-311260BAD88B}"/>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ED59B6F3-FE94-D3AD-FBDF-FCCA6423DC88}"/>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Key Learning Outcomes</a:t>
            </a:r>
          </a:p>
        </p:txBody>
      </p:sp>
      <p:sp>
        <p:nvSpPr>
          <p:cNvPr id="9" name="TextBox 8">
            <a:extLst>
              <a:ext uri="{FF2B5EF4-FFF2-40B4-BE49-F238E27FC236}">
                <a16:creationId xmlns:a16="http://schemas.microsoft.com/office/drawing/2014/main" id="{D6A16CE7-2A01-E640-0FE1-E69B0F92F97D}"/>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graphicFrame>
        <p:nvGraphicFramePr>
          <p:cNvPr id="3" name="Diagram 2">
            <a:extLst>
              <a:ext uri="{FF2B5EF4-FFF2-40B4-BE49-F238E27FC236}">
                <a16:creationId xmlns:a16="http://schemas.microsoft.com/office/drawing/2014/main" id="{5773C611-BA6D-FC93-DE06-38892BF0DB8C}"/>
              </a:ext>
            </a:extLst>
          </p:cNvPr>
          <p:cNvGraphicFramePr/>
          <p:nvPr>
            <p:extLst>
              <p:ext uri="{D42A27DB-BD31-4B8C-83A1-F6EECF244321}">
                <p14:modId xmlns:p14="http://schemas.microsoft.com/office/powerpoint/2010/main" val="25378720"/>
              </p:ext>
            </p:extLst>
          </p:nvPr>
        </p:nvGraphicFramePr>
        <p:xfrm>
          <a:off x="255320" y="2042651"/>
          <a:ext cx="10041205" cy="417270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3" name="Picture 12">
            <a:extLst>
              <a:ext uri="{FF2B5EF4-FFF2-40B4-BE49-F238E27FC236}">
                <a16:creationId xmlns:a16="http://schemas.microsoft.com/office/drawing/2014/main" id="{7D0D5BC5-AA51-6124-3A42-ADDC656CF4D1}"/>
              </a:ext>
            </a:extLst>
          </p:cNvPr>
          <p:cNvPicPr>
            <a:picLocks noChangeAspect="1"/>
          </p:cNvPicPr>
          <p:nvPr/>
        </p:nvPicPr>
        <p:blipFill>
          <a:blip r:embed="rId9">
            <a:clrChange>
              <a:clrFrom>
                <a:srgbClr val="FFFFFF"/>
              </a:clrFrom>
              <a:clrTo>
                <a:srgbClr val="FFFFFF">
                  <a:alpha val="0"/>
                </a:srgbClr>
              </a:clrTo>
            </a:clrChange>
          </a:blip>
          <a:stretch>
            <a:fillRect/>
          </a:stretch>
        </p:blipFill>
        <p:spPr>
          <a:xfrm>
            <a:off x="9881267" y="642643"/>
            <a:ext cx="1853533" cy="1876848"/>
          </a:xfrm>
          <a:prstGeom prst="rect">
            <a:avLst/>
          </a:prstGeom>
        </p:spPr>
      </p:pic>
    </p:spTree>
    <p:extLst>
      <p:ext uri="{BB962C8B-B14F-4D97-AF65-F5344CB8AC3E}">
        <p14:creationId xmlns:p14="http://schemas.microsoft.com/office/powerpoint/2010/main" val="1131133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graphicEl>
                                              <a:dgm id="{1B558E55-37DC-4859-9ABB-EFE02DEEEF05}"/>
                                            </p:graphicEl>
                                          </p:spTgt>
                                        </p:tgtEl>
                                        <p:attrNameLst>
                                          <p:attrName>style.visibility</p:attrName>
                                        </p:attrNameLst>
                                      </p:cBhvr>
                                      <p:to>
                                        <p:strVal val="visible"/>
                                      </p:to>
                                    </p:set>
                                    <p:animEffect transition="in" filter="fade">
                                      <p:cBhvr>
                                        <p:cTn id="7" dur="500"/>
                                        <p:tgtEl>
                                          <p:spTgt spid="3">
                                            <p:graphicEl>
                                              <a:dgm id="{1B558E55-37DC-4859-9ABB-EFE02DEEEF05}"/>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graphicEl>
                                              <a:dgm id="{BE73B1EC-B7E1-4848-84E7-7115730A32AA}"/>
                                            </p:graphicEl>
                                          </p:spTgt>
                                        </p:tgtEl>
                                        <p:attrNameLst>
                                          <p:attrName>style.visibility</p:attrName>
                                        </p:attrNameLst>
                                      </p:cBhvr>
                                      <p:to>
                                        <p:strVal val="visible"/>
                                      </p:to>
                                    </p:set>
                                    <p:animEffect transition="in" filter="fade">
                                      <p:cBhvr>
                                        <p:cTn id="12" dur="500"/>
                                        <p:tgtEl>
                                          <p:spTgt spid="3">
                                            <p:graphicEl>
                                              <a:dgm id="{BE73B1EC-B7E1-4848-84E7-7115730A32AA}"/>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graphicEl>
                                              <a:dgm id="{66FD1FEE-6916-469C-AC20-5281BA353382}"/>
                                            </p:graphicEl>
                                          </p:spTgt>
                                        </p:tgtEl>
                                        <p:attrNameLst>
                                          <p:attrName>style.visibility</p:attrName>
                                        </p:attrNameLst>
                                      </p:cBhvr>
                                      <p:to>
                                        <p:strVal val="visible"/>
                                      </p:to>
                                    </p:set>
                                    <p:animEffect transition="in" filter="fade">
                                      <p:cBhvr>
                                        <p:cTn id="17" dur="500"/>
                                        <p:tgtEl>
                                          <p:spTgt spid="3">
                                            <p:graphicEl>
                                              <a:dgm id="{66FD1FEE-6916-469C-AC20-5281BA353382}"/>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graphicEl>
                                              <a:dgm id="{6252F9F4-D0DC-4D13-9592-F953C7F49611}"/>
                                            </p:graphicEl>
                                          </p:spTgt>
                                        </p:tgtEl>
                                        <p:attrNameLst>
                                          <p:attrName>style.visibility</p:attrName>
                                        </p:attrNameLst>
                                      </p:cBhvr>
                                      <p:to>
                                        <p:strVal val="visible"/>
                                      </p:to>
                                    </p:set>
                                    <p:animEffect transition="in" filter="fade">
                                      <p:cBhvr>
                                        <p:cTn id="22" dur="500"/>
                                        <p:tgtEl>
                                          <p:spTgt spid="3">
                                            <p:graphicEl>
                                              <a:dgm id="{6252F9F4-D0DC-4D13-9592-F953C7F49611}"/>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graphicEl>
                                              <a:dgm id="{22AE5A2B-7540-4FDD-87BF-1494829FA0CB}"/>
                                            </p:graphicEl>
                                          </p:spTgt>
                                        </p:tgtEl>
                                        <p:attrNameLst>
                                          <p:attrName>style.visibility</p:attrName>
                                        </p:attrNameLst>
                                      </p:cBhvr>
                                      <p:to>
                                        <p:strVal val="visible"/>
                                      </p:to>
                                    </p:set>
                                    <p:animEffect transition="in" filter="fade">
                                      <p:cBhvr>
                                        <p:cTn id="27" dur="500"/>
                                        <p:tgtEl>
                                          <p:spTgt spid="3">
                                            <p:graphicEl>
                                              <a:dgm id="{22AE5A2B-7540-4FDD-87BF-1494829FA0CB}"/>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uiExpand="1">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69C9D-C28B-8CA1-272B-A854EE0582B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958DD74-BE65-6DBA-C5DD-53ADE210A388}"/>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F5AFA74-0193-B315-6C81-71140D938756}"/>
              </a:ext>
            </a:extLst>
          </p:cNvPr>
          <p:cNvPicPr>
            <a:picLocks noChangeAspect="1"/>
          </p:cNvPicPr>
          <p:nvPr/>
        </p:nvPicPr>
        <p:blipFill>
          <a:blip r:embed="rId2"/>
          <a:stretch>
            <a:fillRect/>
          </a:stretch>
        </p:blipFill>
        <p:spPr>
          <a:xfrm>
            <a:off x="4608279" y="2590801"/>
            <a:ext cx="7583721" cy="4263612"/>
          </a:xfrm>
          <a:prstGeom prst="rect">
            <a:avLst/>
          </a:prstGeom>
        </p:spPr>
      </p:pic>
      <p:pic>
        <p:nvPicPr>
          <p:cNvPr id="5" name="Picture 4">
            <a:extLst>
              <a:ext uri="{FF2B5EF4-FFF2-40B4-BE49-F238E27FC236}">
                <a16:creationId xmlns:a16="http://schemas.microsoft.com/office/drawing/2014/main" id="{FEEFAC43-47F5-549E-EEB1-477AC5D28C23}"/>
              </a:ext>
            </a:extLst>
          </p:cNvPr>
          <p:cNvPicPr>
            <a:picLocks noChangeAspect="1"/>
          </p:cNvPicPr>
          <p:nvPr/>
        </p:nvPicPr>
        <p:blipFill>
          <a:blip r:embed="rId3"/>
          <a:stretch>
            <a:fillRect/>
          </a:stretch>
        </p:blipFill>
        <p:spPr>
          <a:xfrm>
            <a:off x="134842" y="5586363"/>
            <a:ext cx="3856133" cy="1065672"/>
          </a:xfrm>
          <a:prstGeom prst="rect">
            <a:avLst/>
          </a:prstGeom>
        </p:spPr>
      </p:pic>
      <p:sp>
        <p:nvSpPr>
          <p:cNvPr id="7" name="TextBox 6">
            <a:extLst>
              <a:ext uri="{FF2B5EF4-FFF2-40B4-BE49-F238E27FC236}">
                <a16:creationId xmlns:a16="http://schemas.microsoft.com/office/drawing/2014/main" id="{3C261010-6840-755D-71D1-D8B63560669A}"/>
              </a:ext>
            </a:extLst>
          </p:cNvPr>
          <p:cNvSpPr txBox="1"/>
          <p:nvPr/>
        </p:nvSpPr>
        <p:spPr>
          <a:xfrm>
            <a:off x="550506" y="536130"/>
            <a:ext cx="5240694" cy="1323439"/>
          </a:xfrm>
          <a:prstGeom prst="rect">
            <a:avLst/>
          </a:prstGeom>
        </p:spPr>
        <p:txBody>
          <a:bodyPr wrap="square">
            <a:spAutoFit/>
          </a:bodyPr>
          <a:lstStyle>
            <a:defPPr>
              <a:defRPr lang="en-US"/>
            </a:defPPr>
            <a:lvl1pPr>
              <a:defRPr sz="4000" b="1">
                <a:solidFill>
                  <a:schemeClr val="bg1"/>
                </a:solidFill>
                <a:latin typeface="Montserrat" charset="0"/>
                <a:ea typeface="Montserrat" charset="0"/>
                <a:cs typeface="Montserrat" charset="0"/>
              </a:defRPr>
            </a:lvl1pPr>
          </a:lstStyle>
          <a:p>
            <a:r>
              <a:rPr lang="en-US" dirty="0"/>
              <a:t>PRACTICE OPPORTUNITY</a:t>
            </a:r>
          </a:p>
        </p:txBody>
      </p:sp>
    </p:spTree>
    <p:extLst>
      <p:ext uri="{BB962C8B-B14F-4D97-AF65-F5344CB8AC3E}">
        <p14:creationId xmlns:p14="http://schemas.microsoft.com/office/powerpoint/2010/main" val="1530514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95F50-397F-A0A3-422E-32A32DDDFE4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FFD334A-A65B-2F12-6EE3-F42EC5296BC3}"/>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AFC6C26F-58D7-1415-D9B3-77FD1EB9F276}"/>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DBAA415F-2711-B9CD-B2E2-A430CDFE25AC}"/>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a:t>
            </a:r>
          </a:p>
        </p:txBody>
      </p:sp>
      <p:sp>
        <p:nvSpPr>
          <p:cNvPr id="9" name="TextBox 8">
            <a:extLst>
              <a:ext uri="{FF2B5EF4-FFF2-40B4-BE49-F238E27FC236}">
                <a16:creationId xmlns:a16="http://schemas.microsoft.com/office/drawing/2014/main" id="{DE7B232A-7252-B113-4B6B-D3A08B033D8A}"/>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4" name="TextBox 3">
            <a:extLst>
              <a:ext uri="{FF2B5EF4-FFF2-40B4-BE49-F238E27FC236}">
                <a16:creationId xmlns:a16="http://schemas.microsoft.com/office/drawing/2014/main" id="{79EC36F0-7E93-4940-6DEF-E1CCD9D818B3}"/>
              </a:ext>
            </a:extLst>
          </p:cNvPr>
          <p:cNvSpPr txBox="1"/>
          <p:nvPr/>
        </p:nvSpPr>
        <p:spPr>
          <a:xfrm>
            <a:off x="616951" y="816543"/>
            <a:ext cx="9579013" cy="5854765"/>
          </a:xfrm>
          <a:prstGeom prst="rect">
            <a:avLst/>
          </a:prstGeom>
        </p:spPr>
        <p:txBody>
          <a:bodyPr vert="horz" lIns="60960" tIns="30480" rIns="60960" bIns="30480" rtlCol="0">
            <a:noAutofit/>
          </a:bodyPr>
          <a:lstStyle>
            <a:defPPr>
              <a:defRPr lang="en-US"/>
            </a:defPPr>
            <a:lvl1pPr marL="342900" indent="-342900">
              <a:lnSpc>
                <a:spcPct val="100000"/>
              </a:lnSpc>
              <a:spcBef>
                <a:spcPts val="1500"/>
              </a:spcBef>
              <a:spcAft>
                <a:spcPts val="500"/>
              </a:spcAft>
              <a:buClr>
                <a:srgbClr val="0B8ECC"/>
              </a:buClr>
              <a:buFont typeface="Arial" panose="020B0604020202020204" pitchFamily="34" charset="0"/>
              <a:buChar char="•"/>
              <a:defRPr sz="2600" b="1">
                <a:ea typeface="Tahoma" panose="020B0604030504040204" pitchFamily="34" charset="0"/>
                <a:cs typeface="Tahoma" panose="020B0604030504040204" pitchFamily="34" charset="0"/>
              </a:defRPr>
            </a:lvl1pPr>
            <a:lvl2pPr marL="1114425" lvl="1" indent="-428625">
              <a:lnSpc>
                <a:spcPct val="100000"/>
              </a:lnSpc>
              <a:spcBef>
                <a:spcPts val="500"/>
              </a:spcBef>
              <a:spcAft>
                <a:spcPts val="500"/>
              </a:spcAft>
              <a:buClr>
                <a:srgbClr val="0B8ECC"/>
              </a:buClr>
              <a:buSzPct val="100000"/>
              <a:buFont typeface="Arial" panose="020B0604020202020204" pitchFamily="34" charset="0"/>
              <a:buChar char="•"/>
              <a:defRPr sz="2600">
                <a:ea typeface="Tahoma" panose="020B0604030504040204" pitchFamily="34" charset="0"/>
                <a:cs typeface="Tahoma" panose="020B0604030504040204" pitchFamily="34" charset="0"/>
              </a:defRPr>
            </a:lvl2pPr>
            <a:lvl3pPr marL="1714500" indent="-342900">
              <a:lnSpc>
                <a:spcPct val="120000"/>
              </a:lnSpc>
              <a:spcBef>
                <a:spcPts val="500"/>
              </a:spcBef>
              <a:spcAft>
                <a:spcPts val="500"/>
              </a:spcAft>
              <a:buClr>
                <a:srgbClr val="0B8ECC"/>
              </a:buClr>
              <a:buSzPct val="100000"/>
              <a:buFont typeface="Arial" panose="020B0604020202020204" pitchFamily="34" charset="0"/>
              <a:buChar char="•"/>
              <a:defRPr sz="3000">
                <a:ea typeface="Tahoma" panose="020B0604030504040204" pitchFamily="34" charset="0"/>
                <a:cs typeface="Tahoma" panose="020B0604030504040204" pitchFamily="34" charset="0"/>
              </a:defRPr>
            </a:lvl3pPr>
            <a:lvl4pPr marL="2400300" indent="-342900">
              <a:lnSpc>
                <a:spcPct val="120000"/>
              </a:lnSpc>
              <a:spcBef>
                <a:spcPts val="500"/>
              </a:spcBef>
              <a:spcAft>
                <a:spcPts val="500"/>
              </a:spcAft>
              <a:buClr>
                <a:srgbClr val="0B8ECC"/>
              </a:buClr>
              <a:buFont typeface="Arial" panose="020B0604020202020204" pitchFamily="34" charset="0"/>
              <a:buChar char="•"/>
              <a:defRPr sz="3000">
                <a:ea typeface="Tahoma" panose="020B0604030504040204" pitchFamily="34" charset="0"/>
                <a:cs typeface="Tahoma" panose="020B0604030504040204" pitchFamily="34" charset="0"/>
              </a:defRPr>
            </a:lvl4pPr>
            <a:lvl5pPr marL="3086100" indent="-342900">
              <a:lnSpc>
                <a:spcPct val="120000"/>
              </a:lnSpc>
              <a:spcBef>
                <a:spcPts val="500"/>
              </a:spcBef>
              <a:spcAft>
                <a:spcPts val="500"/>
              </a:spcAft>
              <a:buClr>
                <a:srgbClr val="0B8ECC"/>
              </a:buClr>
              <a:buFont typeface="Arial" panose="020B0604020202020204" pitchFamily="34" charset="0"/>
              <a:buChar char="•"/>
              <a:defRPr sz="3000">
                <a:ea typeface="Tahoma" panose="020B0604030504040204" pitchFamily="34" charset="0"/>
                <a:cs typeface="Tahoma" panose="020B0604030504040204" pitchFamily="34" charset="0"/>
              </a:defRPr>
            </a:lvl5pPr>
            <a:lvl6pPr marL="3771900" indent="-342900">
              <a:lnSpc>
                <a:spcPct val="90000"/>
              </a:lnSpc>
              <a:spcBef>
                <a:spcPts val="750"/>
              </a:spcBef>
              <a:buFont typeface="Arial" panose="020B0604020202020204" pitchFamily="34" charset="0"/>
              <a:buChar char="•"/>
            </a:lvl6pPr>
            <a:lvl7pPr marL="4457700" indent="-342900">
              <a:lnSpc>
                <a:spcPct val="90000"/>
              </a:lnSpc>
              <a:spcBef>
                <a:spcPts val="750"/>
              </a:spcBef>
              <a:buFont typeface="Arial" panose="020B0604020202020204" pitchFamily="34" charset="0"/>
              <a:buChar char="•"/>
            </a:lvl7pPr>
            <a:lvl8pPr marL="5143500" indent="-342900">
              <a:lnSpc>
                <a:spcPct val="90000"/>
              </a:lnSpc>
              <a:spcBef>
                <a:spcPts val="750"/>
              </a:spcBef>
              <a:buFont typeface="Arial" panose="020B0604020202020204" pitchFamily="34" charset="0"/>
              <a:buChar char="•"/>
            </a:lvl8pPr>
            <a:lvl9pPr marL="5829300" indent="-342900">
              <a:lnSpc>
                <a:spcPct val="90000"/>
              </a:lnSpc>
              <a:spcBef>
                <a:spcPts val="750"/>
              </a:spcBef>
              <a:buFont typeface="Arial" panose="020B0604020202020204" pitchFamily="34" charset="0"/>
              <a:buChar char="•"/>
            </a:lvl9pPr>
          </a:lstStyle>
          <a:p>
            <a:pPr marL="228611" indent="-228611" defTabSz="914446" fontAlgn="base">
              <a:spcBef>
                <a:spcPts val="1000"/>
              </a:spcBef>
              <a:spcAft>
                <a:spcPts val="0"/>
              </a:spcAft>
            </a:pPr>
            <a:endParaRPr lang="en-US" sz="900" b="0" dirty="0">
              <a:solidFill>
                <a:srgbClr val="000000"/>
              </a:solidFill>
              <a:latin typeface="Montserrat" panose="00000500000000000000" pitchFamily="2" charset="0"/>
            </a:endParaRPr>
          </a:p>
        </p:txBody>
      </p:sp>
      <p:pic>
        <p:nvPicPr>
          <p:cNvPr id="2" name="Picture 1">
            <a:extLst>
              <a:ext uri="{FF2B5EF4-FFF2-40B4-BE49-F238E27FC236}">
                <a16:creationId xmlns:a16="http://schemas.microsoft.com/office/drawing/2014/main" id="{6605D922-F9B1-CDAD-6C98-2C42FD280C5C}"/>
              </a:ext>
            </a:extLst>
          </p:cNvPr>
          <p:cNvPicPr>
            <a:picLocks noChangeAspect="1"/>
          </p:cNvPicPr>
          <p:nvPr/>
        </p:nvPicPr>
        <p:blipFill>
          <a:blip r:embed="rId4"/>
          <a:stretch>
            <a:fillRect/>
          </a:stretch>
        </p:blipFill>
        <p:spPr>
          <a:xfrm>
            <a:off x="8829268" y="1459823"/>
            <a:ext cx="3060152" cy="2421464"/>
          </a:xfrm>
          <a:prstGeom prst="rect">
            <a:avLst/>
          </a:prstGeom>
        </p:spPr>
      </p:pic>
      <p:sp>
        <p:nvSpPr>
          <p:cNvPr id="8" name="TextBox 7">
            <a:extLst>
              <a:ext uri="{FF2B5EF4-FFF2-40B4-BE49-F238E27FC236}">
                <a16:creationId xmlns:a16="http://schemas.microsoft.com/office/drawing/2014/main" id="{F01580F1-44C6-200F-3AB0-683DCC78A2C1}"/>
              </a:ext>
            </a:extLst>
          </p:cNvPr>
          <p:cNvSpPr txBox="1"/>
          <p:nvPr/>
        </p:nvSpPr>
        <p:spPr>
          <a:xfrm>
            <a:off x="344459" y="794886"/>
            <a:ext cx="8401051" cy="5911747"/>
          </a:xfrm>
          <a:prstGeom prst="rect">
            <a:avLst/>
          </a:prstGeom>
          <a:noFill/>
        </p:spPr>
        <p:txBody>
          <a:bodyPr wrap="square">
            <a:spAutoFit/>
          </a:bodyPr>
          <a:lstStyle/>
          <a:p>
            <a:r>
              <a:rPr lang="en-US" sz="1600" dirty="0">
                <a:latin typeface="Montserrat" panose="00000500000000000000" pitchFamily="2" charset="0"/>
              </a:rPr>
              <a:t>You are now tasked to create a Project Manager Agent and add it to the team. </a:t>
            </a:r>
          </a:p>
          <a:p>
            <a:r>
              <a:rPr lang="en-US" sz="1600" dirty="0">
                <a:latin typeface="Montserrat" panose="00000500000000000000" pitchFamily="2" charset="0"/>
              </a:rPr>
              <a:t>The agent goal is to </a:t>
            </a:r>
            <a:r>
              <a:rPr lang="en-CA" sz="1600" dirty="0">
                <a:latin typeface="Montserrat" panose="00000500000000000000" pitchFamily="2" charset="0"/>
              </a:rPr>
              <a:t>create a complete, structured launch schedule for the Nike Air Zoom Pulse 2 campaign, outlining every phase of the marketing workflow from start to finish. Your purpose is to convert the team's strategy into a clear, time-bound execution plan. This agent coordinates the flow of work across all other agents and ensures the launch stays on track.</a:t>
            </a:r>
          </a:p>
          <a:p>
            <a:endParaRPr lang="en-US" sz="1600" dirty="0">
              <a:latin typeface="Montserrat" panose="00000500000000000000" pitchFamily="2" charset="0"/>
            </a:endParaRPr>
          </a:p>
          <a:p>
            <a:endParaRPr lang="en-US" sz="1600" dirty="0">
              <a:latin typeface="Montserrat" panose="00000500000000000000" pitchFamily="2" charset="0"/>
            </a:endParaRPr>
          </a:p>
          <a:p>
            <a:r>
              <a:rPr lang="en-US" sz="1600" b="1">
                <a:latin typeface="Montserrat" panose="00000500000000000000" pitchFamily="2" charset="0"/>
              </a:rPr>
              <a:t>Tasks:</a:t>
            </a:r>
            <a:endParaRPr lang="en-US" sz="1600" b="1" dirty="0">
              <a:latin typeface="Montserrat" panose="00000500000000000000" pitchFamily="2" charset="0"/>
            </a:endParaRPr>
          </a:p>
          <a:p>
            <a:endParaRPr lang="en-US" sz="1600" b="1" dirty="0">
              <a:latin typeface="Montserrat" panose="00000500000000000000" pitchFamily="2" charset="0"/>
            </a:endParaRPr>
          </a:p>
          <a:p>
            <a:r>
              <a:rPr lang="en-US" sz="1600" b="1" dirty="0">
                <a:latin typeface="Montserrat" panose="00000500000000000000" pitchFamily="2" charset="0"/>
              </a:rPr>
              <a:t>1. Create a New Agent</a:t>
            </a:r>
            <a:br>
              <a:rPr lang="en-US" sz="1600" dirty="0">
                <a:latin typeface="Montserrat" panose="00000500000000000000" pitchFamily="2" charset="0"/>
              </a:rPr>
            </a:br>
            <a:endParaRPr lang="en-US" sz="1600" dirty="0">
              <a:latin typeface="Montserrat" panose="00000500000000000000" pitchFamily="2" charset="0"/>
            </a:endParaRPr>
          </a:p>
          <a:p>
            <a:r>
              <a:rPr lang="en-US" sz="1600" b="1" dirty="0">
                <a:latin typeface="Montserrat" panose="00000500000000000000" pitchFamily="2" charset="0"/>
              </a:rPr>
              <a:t>2. Publish &amp; Connect</a:t>
            </a:r>
            <a:br>
              <a:rPr lang="en-US" sz="1600" dirty="0">
                <a:latin typeface="Montserrat" panose="00000500000000000000" pitchFamily="2" charset="0"/>
              </a:rPr>
            </a:br>
            <a:endParaRPr lang="en-US" sz="1600" dirty="0">
              <a:latin typeface="Montserrat" panose="00000500000000000000" pitchFamily="2" charset="0"/>
            </a:endParaRPr>
          </a:p>
          <a:p>
            <a:r>
              <a:rPr lang="en-US" sz="1600" b="1" dirty="0">
                <a:latin typeface="Montserrat" panose="00000500000000000000" pitchFamily="2" charset="0"/>
              </a:rPr>
              <a:t>3. Update the CMO Workflow</a:t>
            </a:r>
          </a:p>
          <a:p>
            <a:r>
              <a:rPr lang="en-US" sz="1600" dirty="0">
                <a:latin typeface="Montserrat" panose="00000500000000000000" pitchFamily="2" charset="0"/>
              </a:rPr>
              <a:t>Modify the CMO instructions so that after generating the final marketing assets, it asks the project manager to develop a launch schedule.</a:t>
            </a:r>
            <a:br>
              <a:rPr lang="en-US" sz="1600" dirty="0">
                <a:latin typeface="Montserrat" panose="00000500000000000000" pitchFamily="2" charset="0"/>
              </a:rPr>
            </a:br>
            <a:endParaRPr lang="en-US" sz="1600" dirty="0">
              <a:latin typeface="Montserrat" panose="00000500000000000000" pitchFamily="2" charset="0"/>
            </a:endParaRPr>
          </a:p>
          <a:p>
            <a:r>
              <a:rPr lang="en-US" sz="1600" b="1" dirty="0">
                <a:latin typeface="Montserrat" panose="00000500000000000000" pitchFamily="2" charset="0"/>
              </a:rPr>
              <a:t>4. Test the Orchestration</a:t>
            </a:r>
          </a:p>
          <a:p>
            <a:r>
              <a:rPr lang="en-US" sz="1600" dirty="0">
                <a:latin typeface="Montserrat" panose="00000500000000000000" pitchFamily="2" charset="0"/>
              </a:rPr>
              <a:t>Use the same trigger phrase to run the full team flow and confirm the CMO calls the Translator at the end.</a:t>
            </a:r>
          </a:p>
          <a:p>
            <a:pPr>
              <a:lnSpc>
                <a:spcPct val="115000"/>
              </a:lnSpc>
              <a:spcAft>
                <a:spcPts val="800"/>
              </a:spcAft>
              <a:buNone/>
            </a:pPr>
            <a:r>
              <a:rPr lang="en-CA" sz="1600" kern="100" dirty="0">
                <a:effectLst/>
                <a:latin typeface="Montserrat" panose="00000500000000000000" pitchFamily="2" charset="0"/>
                <a:ea typeface="Aptos" panose="020B0004020202020204" pitchFamily="34" charset="0"/>
                <a:cs typeface="Times New Roman" panose="02020603050405020304" pitchFamily="18" charset="0"/>
              </a:rPr>
              <a:t> </a:t>
            </a:r>
          </a:p>
          <a:p>
            <a:pPr>
              <a:lnSpc>
                <a:spcPct val="115000"/>
              </a:lnSpc>
              <a:spcAft>
                <a:spcPts val="800"/>
              </a:spcAft>
              <a:buNone/>
            </a:pPr>
            <a:r>
              <a:rPr lang="en-CA" sz="1600" kern="100" dirty="0">
                <a:effectLst/>
                <a:latin typeface="Montserrat" panose="00000500000000000000" pitchFamily="2" charset="0"/>
                <a:ea typeface="Aptos" panose="020B0004020202020204" pitchFamily="34" charset="0"/>
                <a:cs typeface="Times New Roman" panose="02020603050405020304" pitchFamily="18" charset="0"/>
              </a:rPr>
              <a:t> </a:t>
            </a:r>
          </a:p>
        </p:txBody>
      </p:sp>
    </p:spTree>
    <p:extLst>
      <p:ext uri="{BB962C8B-B14F-4D97-AF65-F5344CB8AC3E}">
        <p14:creationId xmlns:p14="http://schemas.microsoft.com/office/powerpoint/2010/main" val="541527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DD34B-2B10-2C70-3690-D29B995F092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B8246A9-92A1-B881-1171-055860ED4F51}"/>
              </a:ext>
            </a:extLst>
          </p:cNvPr>
          <p:cNvPicPr>
            <a:picLocks noChangeAspect="1"/>
          </p:cNvPicPr>
          <p:nvPr/>
        </p:nvPicPr>
        <p:blipFill>
          <a:blip r:embed="rId2"/>
          <a:stretch>
            <a:fillRect/>
          </a:stretch>
        </p:blipFill>
        <p:spPr>
          <a:xfrm>
            <a:off x="-6382" y="-1"/>
            <a:ext cx="12198382" cy="6858001"/>
          </a:xfrm>
          <a:prstGeom prst="rect">
            <a:avLst/>
          </a:prstGeom>
        </p:spPr>
      </p:pic>
      <p:sp>
        <p:nvSpPr>
          <p:cNvPr id="4" name="Rectangle 3">
            <a:extLst>
              <a:ext uri="{FF2B5EF4-FFF2-40B4-BE49-F238E27FC236}">
                <a16:creationId xmlns:a16="http://schemas.microsoft.com/office/drawing/2014/main" id="{8A1D6D5C-8569-D76B-32E4-EF3186215EE1}"/>
              </a:ext>
            </a:extLst>
          </p:cNvPr>
          <p:cNvSpPr/>
          <p:nvPr/>
        </p:nvSpPr>
        <p:spPr>
          <a:xfrm>
            <a:off x="134843" y="356912"/>
            <a:ext cx="5066886" cy="1569660"/>
          </a:xfrm>
          <a:prstGeom prst="rect">
            <a:avLst/>
          </a:prstGeom>
        </p:spPr>
        <p:txBody>
          <a:bodyPr wrap="square">
            <a:spAutoFit/>
          </a:bodyPr>
          <a:lstStyle/>
          <a:p>
            <a:r>
              <a:rPr lang="en-US" sz="3200" b="1" dirty="0">
                <a:solidFill>
                  <a:schemeClr val="bg1"/>
                </a:solidFill>
                <a:latin typeface="Montserrat" charset="0"/>
                <a:ea typeface="Montserrat" charset="0"/>
                <a:cs typeface="Montserrat" charset="0"/>
              </a:rPr>
              <a:t>LEADERBOARDS FOR OPEN &amp; CLOSED-SOURCE MODELS</a:t>
            </a:r>
            <a:endParaRPr lang="en-US" sz="3200" b="1" dirty="0">
              <a:solidFill>
                <a:schemeClr val="bg1"/>
              </a:solidFill>
              <a:latin typeface="Montserrat" charset="0"/>
            </a:endParaRPr>
          </a:p>
        </p:txBody>
      </p:sp>
      <p:pic>
        <p:nvPicPr>
          <p:cNvPr id="6" name="Picture 5">
            <a:extLst>
              <a:ext uri="{FF2B5EF4-FFF2-40B4-BE49-F238E27FC236}">
                <a16:creationId xmlns:a16="http://schemas.microsoft.com/office/drawing/2014/main" id="{69445AB4-E70D-2BD3-4A90-B5AB671317E2}"/>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758976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DE3C2-7E78-52DD-27B2-F1A1DE67C4B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91493CD-6B46-C6DA-5202-3FC6A4224C4D}"/>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EBD3DDAA-E46A-BEEC-326F-D96988041144}"/>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4831DC05-DAE0-6251-CBA3-EECF599AE9AD}"/>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AI Models (LLMs) are everywhere!</a:t>
            </a:r>
          </a:p>
        </p:txBody>
      </p:sp>
      <p:sp>
        <p:nvSpPr>
          <p:cNvPr id="9" name="TextBox 8">
            <a:extLst>
              <a:ext uri="{FF2B5EF4-FFF2-40B4-BE49-F238E27FC236}">
                <a16:creationId xmlns:a16="http://schemas.microsoft.com/office/drawing/2014/main" id="{F4A84152-B416-3ADB-9C38-79AE443A17CE}"/>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D908AE43-A565-9E5C-A3F5-D0080FF6920F}"/>
              </a:ext>
            </a:extLst>
          </p:cNvPr>
          <p:cNvSpPr txBox="1"/>
          <p:nvPr/>
        </p:nvSpPr>
        <p:spPr>
          <a:xfrm>
            <a:off x="189384" y="871861"/>
            <a:ext cx="11780457" cy="1979233"/>
          </a:xfrm>
          <a:prstGeom prst="rect">
            <a:avLst/>
          </a:prstGeom>
        </p:spPr>
        <p:txBody>
          <a:bodyPr vert="horz" lIns="91440" tIns="45720" rIns="91440" bIns="45720" rtlCol="0">
            <a:norm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r>
              <a:rPr lang="en-US" sz="1700" dirty="0"/>
              <a:t>Many LLMS are available, some are open source, and some are closed source. Which one should I go for? </a:t>
            </a:r>
          </a:p>
          <a:p>
            <a:endParaRPr lang="en-US" sz="1700" dirty="0"/>
          </a:p>
        </p:txBody>
      </p:sp>
      <p:sp>
        <p:nvSpPr>
          <p:cNvPr id="20" name="Rectangle 2">
            <a:extLst>
              <a:ext uri="{FF2B5EF4-FFF2-40B4-BE49-F238E27FC236}">
                <a16:creationId xmlns:a16="http://schemas.microsoft.com/office/drawing/2014/main" id="{1DA5CC54-E0F5-83F2-620A-1194526BBCD4}"/>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pic>
        <p:nvPicPr>
          <p:cNvPr id="2" name="Picture 2" descr="Grok-3: A New Frontier in AI Innovation by xAI - By Marketing Consultant,  Dr. Elijah Clark">
            <a:extLst>
              <a:ext uri="{FF2B5EF4-FFF2-40B4-BE49-F238E27FC236}">
                <a16:creationId xmlns:a16="http://schemas.microsoft.com/office/drawing/2014/main" id="{291CB4A8-A4EF-E034-1253-23A30354885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438" t="30926" r="12118" b="23641"/>
          <a:stretch/>
        </p:blipFill>
        <p:spPr bwMode="auto">
          <a:xfrm>
            <a:off x="7477537" y="1682379"/>
            <a:ext cx="2775043" cy="94002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Download Clear OpenAI ChatGPT Logo - Different ChatGPT Dimensions With  Variations - Chat GPT AI Hub">
            <a:extLst>
              <a:ext uri="{FF2B5EF4-FFF2-40B4-BE49-F238E27FC236}">
                <a16:creationId xmlns:a16="http://schemas.microsoft.com/office/drawing/2014/main" id="{FF18336E-4FEA-10E7-2DAB-CBC79AC5F9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8104" y="2622342"/>
            <a:ext cx="3147903" cy="92551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8" descr="The Progress of Perplexity AI - EGC Group">
            <a:extLst>
              <a:ext uri="{FF2B5EF4-FFF2-40B4-BE49-F238E27FC236}">
                <a16:creationId xmlns:a16="http://schemas.microsoft.com/office/drawing/2014/main" id="{02316B82-AECA-4C01-99AA-D96C52C7549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3083" t="25571" r="10718" b="20870"/>
          <a:stretch/>
        </p:blipFill>
        <p:spPr bwMode="auto">
          <a:xfrm>
            <a:off x="2082055" y="4782084"/>
            <a:ext cx="3315463" cy="925517"/>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5">
            <a:extLst>
              <a:ext uri="{FF2B5EF4-FFF2-40B4-BE49-F238E27FC236}">
                <a16:creationId xmlns:a16="http://schemas.microsoft.com/office/drawing/2014/main" id="{EA82459C-EF34-7474-FFB9-245F8AED814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2862" y="1521277"/>
            <a:ext cx="2207835" cy="815864"/>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7" descr="Llama 2 Model Details">
            <a:extLst>
              <a:ext uri="{FF2B5EF4-FFF2-40B4-BE49-F238E27FC236}">
                <a16:creationId xmlns:a16="http://schemas.microsoft.com/office/drawing/2014/main" id="{11D2C2E3-4B51-7A6E-4AE0-51DB0AEF4AF4}"/>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20840" b="26118"/>
          <a:stretch/>
        </p:blipFill>
        <p:spPr bwMode="auto">
          <a:xfrm>
            <a:off x="4229383" y="3136295"/>
            <a:ext cx="2617527" cy="87061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1FA4788E-B089-7605-8F91-25655BD3ABF0}"/>
              </a:ext>
            </a:extLst>
          </p:cNvPr>
          <p:cNvPicPr>
            <a:picLocks noChangeAspect="1"/>
          </p:cNvPicPr>
          <p:nvPr/>
        </p:nvPicPr>
        <p:blipFill>
          <a:blip r:embed="rId9">
            <a:clrChange>
              <a:clrFrom>
                <a:srgbClr val="EDEBE1"/>
              </a:clrFrom>
              <a:clrTo>
                <a:srgbClr val="EDEBE1">
                  <a:alpha val="0"/>
                </a:srgbClr>
              </a:clrTo>
            </a:clrChange>
          </a:blip>
          <a:stretch>
            <a:fillRect/>
          </a:stretch>
        </p:blipFill>
        <p:spPr>
          <a:xfrm>
            <a:off x="7204322" y="2702674"/>
            <a:ext cx="2878294" cy="1918863"/>
          </a:xfrm>
          <a:prstGeom prst="rect">
            <a:avLst/>
          </a:prstGeom>
        </p:spPr>
      </p:pic>
      <p:pic>
        <p:nvPicPr>
          <p:cNvPr id="28" name="Picture 2" descr="What is DeepSeek: China's open-source AI research lab which rivals OpenAI |  World News - Business Standard">
            <a:extLst>
              <a:ext uri="{FF2B5EF4-FFF2-40B4-BE49-F238E27FC236}">
                <a16:creationId xmlns:a16="http://schemas.microsoft.com/office/drawing/2014/main" id="{56620945-DBD2-7303-EDFD-6BD8AD08271D}"/>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7236" t="37108" r="14033" b="33399"/>
          <a:stretch/>
        </p:blipFill>
        <p:spPr bwMode="auto">
          <a:xfrm>
            <a:off x="6275617" y="4782084"/>
            <a:ext cx="3548499" cy="85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9809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C3B19-E5F2-9D62-3D76-4C4834106E2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AA564CE-B2BE-4E37-78FE-0B6C4B1B64FD}"/>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757293F0-63F5-68FA-6ABC-C6E6665173BC}"/>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767A2646-7C99-E3EE-B263-913A324328E7}"/>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How to Compare LLMs?</a:t>
            </a:r>
          </a:p>
        </p:txBody>
      </p:sp>
      <p:sp>
        <p:nvSpPr>
          <p:cNvPr id="9" name="TextBox 8">
            <a:extLst>
              <a:ext uri="{FF2B5EF4-FFF2-40B4-BE49-F238E27FC236}">
                <a16:creationId xmlns:a16="http://schemas.microsoft.com/office/drawing/2014/main" id="{0C19A88C-F068-368A-09C0-FD7DAC593952}"/>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A9C899B3-691E-2DAD-B134-2339E9220F57}"/>
              </a:ext>
            </a:extLst>
          </p:cNvPr>
          <p:cNvSpPr txBox="1"/>
          <p:nvPr/>
        </p:nvSpPr>
        <p:spPr>
          <a:xfrm>
            <a:off x="-32773" y="733839"/>
            <a:ext cx="11780457" cy="6495097"/>
          </a:xfrm>
          <a:prstGeom prst="rect">
            <a:avLst/>
          </a:prstGeom>
        </p:spPr>
        <p:txBody>
          <a:bodyPr vert="horz" lIns="91440" tIns="45720" rIns="91440" bIns="45720" rtlCol="0">
            <a:no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endParaRPr lang="en-US" sz="1400" dirty="0"/>
          </a:p>
        </p:txBody>
      </p:sp>
      <p:sp>
        <p:nvSpPr>
          <p:cNvPr id="20" name="Rectangle 2">
            <a:extLst>
              <a:ext uri="{FF2B5EF4-FFF2-40B4-BE49-F238E27FC236}">
                <a16:creationId xmlns:a16="http://schemas.microsoft.com/office/drawing/2014/main" id="{AC756D33-BBA4-A382-28EC-6BF9AB9859F4}"/>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graphicFrame>
        <p:nvGraphicFramePr>
          <p:cNvPr id="2" name="Diagram 1">
            <a:extLst>
              <a:ext uri="{FF2B5EF4-FFF2-40B4-BE49-F238E27FC236}">
                <a16:creationId xmlns:a16="http://schemas.microsoft.com/office/drawing/2014/main" id="{A1DCB368-3D5C-7126-3C28-D74822471FB5}"/>
              </a:ext>
            </a:extLst>
          </p:cNvPr>
          <p:cNvGraphicFramePr/>
          <p:nvPr/>
        </p:nvGraphicFramePr>
        <p:xfrm>
          <a:off x="154722" y="1044193"/>
          <a:ext cx="10004785" cy="398350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14893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FA36C-5D81-B471-FE1C-DBCD7E07CC8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71FF157-D9DA-EBD8-AFF9-134581D88A8F}"/>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6AE9C0C6-DE15-37A5-039B-AB2313E52D97}"/>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458F8FC9-3B43-52E8-E25A-4905FF02E186}"/>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Vellum Leaderboard &amp; Key KPIs</a:t>
            </a:r>
          </a:p>
        </p:txBody>
      </p:sp>
      <p:sp>
        <p:nvSpPr>
          <p:cNvPr id="9" name="TextBox 8">
            <a:extLst>
              <a:ext uri="{FF2B5EF4-FFF2-40B4-BE49-F238E27FC236}">
                <a16:creationId xmlns:a16="http://schemas.microsoft.com/office/drawing/2014/main" id="{FE33B57D-6E34-9D80-DE8D-BDD82D8D0D2A}"/>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6C9755FB-3DB5-994F-1EDC-4998C1EA7A96}"/>
              </a:ext>
            </a:extLst>
          </p:cNvPr>
          <p:cNvSpPr txBox="1"/>
          <p:nvPr/>
        </p:nvSpPr>
        <p:spPr>
          <a:xfrm>
            <a:off x="189384" y="871861"/>
            <a:ext cx="11780457" cy="6495097"/>
          </a:xfrm>
          <a:prstGeom prst="rect">
            <a:avLst/>
          </a:prstGeom>
        </p:spPr>
        <p:txBody>
          <a:bodyPr vert="horz" lIns="91440" tIns="45720" rIns="91440" bIns="45720" rtlCol="0">
            <a:no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pPr lvl="1"/>
            <a:endParaRPr lang="en-US" sz="1600" dirty="0"/>
          </a:p>
          <a:p>
            <a:endParaRPr lang="en-US" sz="1400" dirty="0"/>
          </a:p>
        </p:txBody>
      </p:sp>
      <p:sp>
        <p:nvSpPr>
          <p:cNvPr id="20" name="Rectangle 2">
            <a:extLst>
              <a:ext uri="{FF2B5EF4-FFF2-40B4-BE49-F238E27FC236}">
                <a16:creationId xmlns:a16="http://schemas.microsoft.com/office/drawing/2014/main" id="{B98AE17A-5AA1-7B61-B35C-E04B1C2B8235}"/>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10" name="TextBox 9">
            <a:extLst>
              <a:ext uri="{FF2B5EF4-FFF2-40B4-BE49-F238E27FC236}">
                <a16:creationId xmlns:a16="http://schemas.microsoft.com/office/drawing/2014/main" id="{BE86E48F-57C8-E4D0-EA58-EF1ED762AA16}"/>
              </a:ext>
            </a:extLst>
          </p:cNvPr>
          <p:cNvSpPr txBox="1"/>
          <p:nvPr/>
        </p:nvSpPr>
        <p:spPr>
          <a:xfrm>
            <a:off x="362796" y="791638"/>
            <a:ext cx="9827491" cy="923330"/>
          </a:xfrm>
          <a:prstGeom prst="rect">
            <a:avLst/>
          </a:prstGeom>
          <a:noFill/>
        </p:spPr>
        <p:txBody>
          <a:bodyPr wrap="square">
            <a:spAutoFit/>
          </a:bodyPr>
          <a:lstStyle/>
          <a:p>
            <a:pPr marL="285750" indent="-285750">
              <a:buFont typeface="Arial" panose="020B0604020202020204" pitchFamily="34" charset="0"/>
              <a:buChar char="•"/>
            </a:pPr>
            <a:endParaRPr lang="en-CA" dirty="0"/>
          </a:p>
          <a:p>
            <a:endParaRPr lang="en-CA" dirty="0"/>
          </a:p>
          <a:p>
            <a:endParaRPr lang="en-CA" dirty="0"/>
          </a:p>
        </p:txBody>
      </p:sp>
      <p:pic>
        <p:nvPicPr>
          <p:cNvPr id="4" name="Picture 3">
            <a:extLst>
              <a:ext uri="{FF2B5EF4-FFF2-40B4-BE49-F238E27FC236}">
                <a16:creationId xmlns:a16="http://schemas.microsoft.com/office/drawing/2014/main" id="{D5B22690-75C7-A0CF-5FB3-F285AA2F0D79}"/>
              </a:ext>
            </a:extLst>
          </p:cNvPr>
          <p:cNvPicPr>
            <a:picLocks noChangeAspect="1"/>
          </p:cNvPicPr>
          <p:nvPr/>
        </p:nvPicPr>
        <p:blipFill>
          <a:blip r:embed="rId4"/>
          <a:stretch>
            <a:fillRect/>
          </a:stretch>
        </p:blipFill>
        <p:spPr>
          <a:xfrm>
            <a:off x="126670" y="1320778"/>
            <a:ext cx="6032006" cy="3333729"/>
          </a:xfrm>
          <a:prstGeom prst="rect">
            <a:avLst/>
          </a:prstGeom>
        </p:spPr>
      </p:pic>
      <p:sp>
        <p:nvSpPr>
          <p:cNvPr id="11" name="TextBox 10">
            <a:extLst>
              <a:ext uri="{FF2B5EF4-FFF2-40B4-BE49-F238E27FC236}">
                <a16:creationId xmlns:a16="http://schemas.microsoft.com/office/drawing/2014/main" id="{FC2D7898-77F3-CBD5-DC9B-DB47E1021713}"/>
              </a:ext>
            </a:extLst>
          </p:cNvPr>
          <p:cNvSpPr txBox="1"/>
          <p:nvPr/>
        </p:nvSpPr>
        <p:spPr>
          <a:xfrm>
            <a:off x="715991" y="875000"/>
            <a:ext cx="8790317" cy="584775"/>
          </a:xfrm>
          <a:prstGeom prst="rect">
            <a:avLst/>
          </a:prstGeom>
          <a:noFill/>
        </p:spPr>
        <p:txBody>
          <a:bodyPr wrap="square">
            <a:spAutoFit/>
          </a:bodyPr>
          <a:lstStyle>
            <a:defPPr>
              <a:defRPr lang="en-US"/>
            </a:defPPr>
            <a:lvl1pPr marL="285750" indent="-285750">
              <a:buClr>
                <a:srgbClr val="1BBFD1"/>
              </a:buClr>
              <a:buFont typeface="Arial" panose="020B0604020202020204" pitchFamily="34" charset="0"/>
              <a:buChar char="•"/>
              <a:defRPr sz="1600">
                <a:latin typeface="Montserrat" panose="00000500000000000000" pitchFamily="2" charset="0"/>
              </a:defRPr>
            </a:lvl1pPr>
          </a:lstStyle>
          <a:p>
            <a:r>
              <a:rPr lang="en-CA" dirty="0"/>
              <a:t>Vellum Leaderboard: </a:t>
            </a:r>
            <a:r>
              <a:rPr lang="en-CA" dirty="0">
                <a:hlinkClick r:id="rId5"/>
              </a:rPr>
              <a:t>https://www.vellum.ai/llm-leaderboard</a:t>
            </a:r>
            <a:endParaRPr lang="en-CA" dirty="0"/>
          </a:p>
          <a:p>
            <a:endParaRPr lang="en-CA" dirty="0"/>
          </a:p>
        </p:txBody>
      </p:sp>
      <p:pic>
        <p:nvPicPr>
          <p:cNvPr id="12" name="Picture 11">
            <a:extLst>
              <a:ext uri="{FF2B5EF4-FFF2-40B4-BE49-F238E27FC236}">
                <a16:creationId xmlns:a16="http://schemas.microsoft.com/office/drawing/2014/main" id="{D48B08EA-87C7-77A6-1D28-A4A6686B8F5A}"/>
              </a:ext>
            </a:extLst>
          </p:cNvPr>
          <p:cNvPicPr>
            <a:picLocks noChangeAspect="1"/>
          </p:cNvPicPr>
          <p:nvPr/>
        </p:nvPicPr>
        <p:blipFill>
          <a:blip r:embed="rId6"/>
          <a:srcRect l="4287" t="267" r="6038"/>
          <a:stretch/>
        </p:blipFill>
        <p:spPr>
          <a:xfrm>
            <a:off x="6318119" y="1338413"/>
            <a:ext cx="5523882" cy="3337122"/>
          </a:xfrm>
          <a:prstGeom prst="rect">
            <a:avLst/>
          </a:prstGeom>
        </p:spPr>
      </p:pic>
    </p:spTree>
    <p:extLst>
      <p:ext uri="{BB962C8B-B14F-4D97-AF65-F5344CB8AC3E}">
        <p14:creationId xmlns:p14="http://schemas.microsoft.com/office/powerpoint/2010/main" val="12246161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E94EC-CC2B-0640-D74E-3A59B39325B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69C5C72-7844-4FC0-DDE4-B0DDC805A8CF}"/>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1E157428-C5D0-0A87-3F2D-BB6E062F4B04}"/>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46976A32-8334-EE80-0DC6-37A15C283975}"/>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Chatbot Arena LLM Leaderboard &amp; Blind Test!</a:t>
            </a:r>
          </a:p>
        </p:txBody>
      </p:sp>
      <p:sp>
        <p:nvSpPr>
          <p:cNvPr id="9" name="TextBox 8">
            <a:extLst>
              <a:ext uri="{FF2B5EF4-FFF2-40B4-BE49-F238E27FC236}">
                <a16:creationId xmlns:a16="http://schemas.microsoft.com/office/drawing/2014/main" id="{CBFAF699-865B-DA4F-340B-53FDA9F17C93}"/>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0177F4FB-FDA7-9DCB-7CE3-264A543DFC9B}"/>
              </a:ext>
            </a:extLst>
          </p:cNvPr>
          <p:cNvSpPr txBox="1"/>
          <p:nvPr/>
        </p:nvSpPr>
        <p:spPr>
          <a:xfrm>
            <a:off x="189384" y="871861"/>
            <a:ext cx="11780457" cy="6495097"/>
          </a:xfrm>
          <a:prstGeom prst="rect">
            <a:avLst/>
          </a:prstGeom>
        </p:spPr>
        <p:txBody>
          <a:bodyPr vert="horz" lIns="91440" tIns="45720" rIns="91440" bIns="45720" rtlCol="0">
            <a:no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pPr lvl="1"/>
            <a:endParaRPr lang="en-US" sz="1600" dirty="0"/>
          </a:p>
          <a:p>
            <a:endParaRPr lang="en-US" sz="1400" dirty="0"/>
          </a:p>
        </p:txBody>
      </p:sp>
      <p:sp>
        <p:nvSpPr>
          <p:cNvPr id="20" name="Rectangle 2">
            <a:extLst>
              <a:ext uri="{FF2B5EF4-FFF2-40B4-BE49-F238E27FC236}">
                <a16:creationId xmlns:a16="http://schemas.microsoft.com/office/drawing/2014/main" id="{196C1378-D7EB-B096-3DA2-72B0AFCF5E4A}"/>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10" name="TextBox 9">
            <a:extLst>
              <a:ext uri="{FF2B5EF4-FFF2-40B4-BE49-F238E27FC236}">
                <a16:creationId xmlns:a16="http://schemas.microsoft.com/office/drawing/2014/main" id="{FF629A0A-1AF9-F2B7-7EE8-386D8D684272}"/>
              </a:ext>
            </a:extLst>
          </p:cNvPr>
          <p:cNvSpPr txBox="1"/>
          <p:nvPr/>
        </p:nvSpPr>
        <p:spPr>
          <a:xfrm>
            <a:off x="362796" y="791638"/>
            <a:ext cx="9827491" cy="923330"/>
          </a:xfrm>
          <a:prstGeom prst="rect">
            <a:avLst/>
          </a:prstGeom>
          <a:noFill/>
        </p:spPr>
        <p:txBody>
          <a:bodyPr wrap="square">
            <a:spAutoFit/>
          </a:bodyPr>
          <a:lstStyle/>
          <a:p>
            <a:pPr marL="285750" indent="-285750">
              <a:buFont typeface="Arial" panose="020B0604020202020204" pitchFamily="34" charset="0"/>
              <a:buChar char="•"/>
            </a:pPr>
            <a:endParaRPr lang="en-CA" dirty="0"/>
          </a:p>
          <a:p>
            <a:endParaRPr lang="en-CA" dirty="0"/>
          </a:p>
          <a:p>
            <a:endParaRPr lang="en-CA" dirty="0"/>
          </a:p>
        </p:txBody>
      </p:sp>
      <p:sp>
        <p:nvSpPr>
          <p:cNvPr id="4" name="TextBox 3">
            <a:extLst>
              <a:ext uri="{FF2B5EF4-FFF2-40B4-BE49-F238E27FC236}">
                <a16:creationId xmlns:a16="http://schemas.microsoft.com/office/drawing/2014/main" id="{36B9D91F-2AD0-2928-1ECD-CEA13D262379}"/>
              </a:ext>
            </a:extLst>
          </p:cNvPr>
          <p:cNvSpPr txBox="1"/>
          <p:nvPr/>
        </p:nvSpPr>
        <p:spPr>
          <a:xfrm>
            <a:off x="1216325" y="852226"/>
            <a:ext cx="8973962" cy="1077218"/>
          </a:xfrm>
          <a:prstGeom prst="rect">
            <a:avLst/>
          </a:prstGeom>
          <a:noFill/>
        </p:spPr>
        <p:txBody>
          <a:bodyPr wrap="square">
            <a:spAutoFit/>
          </a:bodyPr>
          <a:lstStyle>
            <a:defPPr>
              <a:defRPr lang="en-US"/>
            </a:defPPr>
            <a:lvl1pPr marL="285750" indent="-285750">
              <a:buClr>
                <a:srgbClr val="1BBFD1"/>
              </a:buClr>
              <a:buFont typeface="Arial" panose="020B0604020202020204" pitchFamily="34" charset="0"/>
              <a:buChar char="•"/>
              <a:defRPr sz="1600">
                <a:latin typeface="Montserrat" panose="00000500000000000000" pitchFamily="2" charset="0"/>
              </a:defRPr>
            </a:lvl1pPr>
          </a:lstStyle>
          <a:p>
            <a:r>
              <a:rPr lang="en-CA" dirty="0"/>
              <a:t>Chatbot Arena (old): </a:t>
            </a:r>
            <a:r>
              <a:rPr lang="en-CA" dirty="0">
                <a:hlinkClick r:id="rId4"/>
              </a:rPr>
              <a:t>https://lmarena.ai/?leaderboard</a:t>
            </a:r>
            <a:endParaRPr lang="en-CA" dirty="0"/>
          </a:p>
          <a:p>
            <a:r>
              <a:rPr lang="en-CA" dirty="0"/>
              <a:t>Chatbot Arena (New): </a:t>
            </a:r>
            <a:r>
              <a:rPr lang="en-CA" dirty="0">
                <a:hlinkClick r:id="rId5"/>
              </a:rPr>
              <a:t>https://beta.lmarena.ai/leaderboard</a:t>
            </a:r>
            <a:endParaRPr lang="en-CA" dirty="0"/>
          </a:p>
          <a:p>
            <a:endParaRPr lang="en-CA" dirty="0"/>
          </a:p>
          <a:p>
            <a:endParaRPr lang="en-CA" dirty="0"/>
          </a:p>
        </p:txBody>
      </p:sp>
      <p:pic>
        <p:nvPicPr>
          <p:cNvPr id="13" name="Picture 12">
            <a:extLst>
              <a:ext uri="{FF2B5EF4-FFF2-40B4-BE49-F238E27FC236}">
                <a16:creationId xmlns:a16="http://schemas.microsoft.com/office/drawing/2014/main" id="{44BDD309-DECC-158D-3E66-75223AFA0D9A}"/>
              </a:ext>
            </a:extLst>
          </p:cNvPr>
          <p:cNvPicPr>
            <a:picLocks noChangeAspect="1"/>
          </p:cNvPicPr>
          <p:nvPr/>
        </p:nvPicPr>
        <p:blipFill>
          <a:blip r:embed="rId6"/>
          <a:stretch>
            <a:fillRect/>
          </a:stretch>
        </p:blipFill>
        <p:spPr>
          <a:xfrm>
            <a:off x="6265796" y="1483174"/>
            <a:ext cx="5401465" cy="3371010"/>
          </a:xfrm>
          <a:prstGeom prst="rect">
            <a:avLst/>
          </a:prstGeom>
        </p:spPr>
      </p:pic>
      <p:pic>
        <p:nvPicPr>
          <p:cNvPr id="16" name="Picture 15">
            <a:extLst>
              <a:ext uri="{FF2B5EF4-FFF2-40B4-BE49-F238E27FC236}">
                <a16:creationId xmlns:a16="http://schemas.microsoft.com/office/drawing/2014/main" id="{8E0E7ADC-2D3F-5E31-A3B3-0EAA14338F3F}"/>
              </a:ext>
            </a:extLst>
          </p:cNvPr>
          <p:cNvPicPr>
            <a:picLocks noChangeAspect="1"/>
          </p:cNvPicPr>
          <p:nvPr/>
        </p:nvPicPr>
        <p:blipFill>
          <a:blip r:embed="rId7"/>
          <a:stretch>
            <a:fillRect/>
          </a:stretch>
        </p:blipFill>
        <p:spPr>
          <a:xfrm>
            <a:off x="154722" y="1483173"/>
            <a:ext cx="6148204" cy="3297237"/>
          </a:xfrm>
          <a:prstGeom prst="rect">
            <a:avLst/>
          </a:prstGeom>
        </p:spPr>
      </p:pic>
    </p:spTree>
    <p:extLst>
      <p:ext uri="{BB962C8B-B14F-4D97-AF65-F5344CB8AC3E}">
        <p14:creationId xmlns:p14="http://schemas.microsoft.com/office/powerpoint/2010/main" val="937980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F6620-3831-B9AB-F1DB-0BA10580D34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E5EDF9A-6011-907E-EE5A-ED2477CCD24E}"/>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9C7B1850-35E4-3ECF-0670-4767056A52BF}"/>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10DEBF56-6EE6-076C-102C-4FD41140BA11}"/>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Summary</a:t>
            </a:r>
          </a:p>
        </p:txBody>
      </p:sp>
      <p:sp>
        <p:nvSpPr>
          <p:cNvPr id="9" name="TextBox 8">
            <a:extLst>
              <a:ext uri="{FF2B5EF4-FFF2-40B4-BE49-F238E27FC236}">
                <a16:creationId xmlns:a16="http://schemas.microsoft.com/office/drawing/2014/main" id="{317D3E14-E341-6833-1EBF-896296E335D0}"/>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pic>
        <p:nvPicPr>
          <p:cNvPr id="4" name="Picture 3">
            <a:extLst>
              <a:ext uri="{FF2B5EF4-FFF2-40B4-BE49-F238E27FC236}">
                <a16:creationId xmlns:a16="http://schemas.microsoft.com/office/drawing/2014/main" id="{6BE7600C-84B4-C578-295E-23C9DFFC5B19}"/>
              </a:ext>
            </a:extLst>
          </p:cNvPr>
          <p:cNvPicPr>
            <a:picLocks noChangeAspect="1"/>
          </p:cNvPicPr>
          <p:nvPr/>
        </p:nvPicPr>
        <p:blipFill>
          <a:blip r:embed="rId4"/>
          <a:stretch>
            <a:fillRect/>
          </a:stretch>
        </p:blipFill>
        <p:spPr>
          <a:xfrm>
            <a:off x="9982214" y="747533"/>
            <a:ext cx="1924946" cy="1903870"/>
          </a:xfrm>
          <a:prstGeom prst="rect">
            <a:avLst/>
          </a:prstGeom>
        </p:spPr>
      </p:pic>
      <p:graphicFrame>
        <p:nvGraphicFramePr>
          <p:cNvPr id="2" name="Diagram 1">
            <a:extLst>
              <a:ext uri="{FF2B5EF4-FFF2-40B4-BE49-F238E27FC236}">
                <a16:creationId xmlns:a16="http://schemas.microsoft.com/office/drawing/2014/main" id="{504D8008-416A-3257-C658-8D212E939B67}"/>
              </a:ext>
            </a:extLst>
          </p:cNvPr>
          <p:cNvGraphicFramePr/>
          <p:nvPr>
            <p:extLst>
              <p:ext uri="{D42A27DB-BD31-4B8C-83A1-F6EECF244321}">
                <p14:modId xmlns:p14="http://schemas.microsoft.com/office/powerpoint/2010/main" val="4145092079"/>
              </p:ext>
            </p:extLst>
          </p:nvPr>
        </p:nvGraphicFramePr>
        <p:xfrm>
          <a:off x="77361" y="1168129"/>
          <a:ext cx="9827492" cy="510614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240637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graphicEl>
                                              <a:dgm id="{EC92549E-8BD5-4B8D-86E0-8FC5462AE070}"/>
                                            </p:graphicEl>
                                          </p:spTgt>
                                        </p:tgtEl>
                                        <p:attrNameLst>
                                          <p:attrName>style.visibility</p:attrName>
                                        </p:attrNameLst>
                                      </p:cBhvr>
                                      <p:to>
                                        <p:strVal val="visible"/>
                                      </p:to>
                                    </p:set>
                                    <p:animEffect transition="in" filter="fade">
                                      <p:cBhvr>
                                        <p:cTn id="7" dur="500"/>
                                        <p:tgtEl>
                                          <p:spTgt spid="2">
                                            <p:graphicEl>
                                              <a:dgm id="{EC92549E-8BD5-4B8D-86E0-8FC5462AE070}"/>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graphicEl>
                                              <a:dgm id="{41089E81-0D4B-4CA6-8D86-578B00A2646A}"/>
                                            </p:graphicEl>
                                          </p:spTgt>
                                        </p:tgtEl>
                                        <p:attrNameLst>
                                          <p:attrName>style.visibility</p:attrName>
                                        </p:attrNameLst>
                                      </p:cBhvr>
                                      <p:to>
                                        <p:strVal val="visible"/>
                                      </p:to>
                                    </p:set>
                                    <p:animEffect transition="in" filter="fade">
                                      <p:cBhvr>
                                        <p:cTn id="12" dur="500"/>
                                        <p:tgtEl>
                                          <p:spTgt spid="2">
                                            <p:graphicEl>
                                              <a:dgm id="{41089E81-0D4B-4CA6-8D86-578B00A2646A}"/>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graphicEl>
                                              <a:dgm id="{A463EF89-EE75-4A28-BD0C-DD0588D13F68}"/>
                                            </p:graphicEl>
                                          </p:spTgt>
                                        </p:tgtEl>
                                        <p:attrNameLst>
                                          <p:attrName>style.visibility</p:attrName>
                                        </p:attrNameLst>
                                      </p:cBhvr>
                                      <p:to>
                                        <p:strVal val="visible"/>
                                      </p:to>
                                    </p:set>
                                    <p:animEffect transition="in" filter="fade">
                                      <p:cBhvr>
                                        <p:cTn id="17" dur="500"/>
                                        <p:tgtEl>
                                          <p:spTgt spid="2">
                                            <p:graphicEl>
                                              <a:dgm id="{A463EF89-EE75-4A28-BD0C-DD0588D13F68}"/>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graphicEl>
                                              <a:dgm id="{7F1F3C02-AA2D-45DA-BDD6-1D72C2FDE800}"/>
                                            </p:graphicEl>
                                          </p:spTgt>
                                        </p:tgtEl>
                                        <p:attrNameLst>
                                          <p:attrName>style.visibility</p:attrName>
                                        </p:attrNameLst>
                                      </p:cBhvr>
                                      <p:to>
                                        <p:strVal val="visible"/>
                                      </p:to>
                                    </p:set>
                                    <p:animEffect transition="in" filter="fade">
                                      <p:cBhvr>
                                        <p:cTn id="22" dur="500"/>
                                        <p:tgtEl>
                                          <p:spTgt spid="2">
                                            <p:graphicEl>
                                              <a:dgm id="{7F1F3C02-AA2D-45DA-BDD6-1D72C2FDE800}"/>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graphicEl>
                                              <a:dgm id="{88591EBA-C99A-4B6A-A9EE-FC47C061EE2B}"/>
                                            </p:graphicEl>
                                          </p:spTgt>
                                        </p:tgtEl>
                                        <p:attrNameLst>
                                          <p:attrName>style.visibility</p:attrName>
                                        </p:attrNameLst>
                                      </p:cBhvr>
                                      <p:to>
                                        <p:strVal val="visible"/>
                                      </p:to>
                                    </p:set>
                                    <p:animEffect transition="in" filter="fade">
                                      <p:cBhvr>
                                        <p:cTn id="27" dur="500"/>
                                        <p:tgtEl>
                                          <p:spTgt spid="2">
                                            <p:graphicEl>
                                              <a:dgm id="{88591EBA-C99A-4B6A-A9EE-FC47C061EE2B}"/>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uiExpand="1">
        <p:bldSub>
          <a:bldDgm bld="one"/>
        </p:bldSub>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909FB-E671-B17D-77BB-65311A51D4C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F45C378-4A8E-9187-A206-DB4730F91548}"/>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A225B6F-0705-62E5-DF16-79898F062A86}"/>
              </a:ext>
            </a:extLst>
          </p:cNvPr>
          <p:cNvPicPr>
            <a:picLocks noChangeAspect="1"/>
          </p:cNvPicPr>
          <p:nvPr/>
        </p:nvPicPr>
        <p:blipFill>
          <a:blip r:embed="rId2"/>
          <a:stretch>
            <a:fillRect/>
          </a:stretch>
        </p:blipFill>
        <p:spPr>
          <a:xfrm>
            <a:off x="3496990" y="1992488"/>
            <a:ext cx="5198017" cy="1436512"/>
          </a:xfrm>
          <a:prstGeom prst="rect">
            <a:avLst/>
          </a:prstGeom>
        </p:spPr>
      </p:pic>
      <p:sp>
        <p:nvSpPr>
          <p:cNvPr id="6" name="Rectangle 5">
            <a:extLst>
              <a:ext uri="{FF2B5EF4-FFF2-40B4-BE49-F238E27FC236}">
                <a16:creationId xmlns:a16="http://schemas.microsoft.com/office/drawing/2014/main" id="{AEA9FA6F-A71D-92D5-9E16-A91F986E09CE}"/>
              </a:ext>
            </a:extLst>
          </p:cNvPr>
          <p:cNvSpPr/>
          <p:nvPr/>
        </p:nvSpPr>
        <p:spPr>
          <a:xfrm>
            <a:off x="3306715" y="3495040"/>
            <a:ext cx="5578566" cy="707886"/>
          </a:xfrm>
          <a:prstGeom prst="rect">
            <a:avLst/>
          </a:prstGeom>
        </p:spPr>
        <p:txBody>
          <a:bodyPr wrap="square">
            <a:spAutoFit/>
          </a:bodyPr>
          <a:lstStyle/>
          <a:p>
            <a:pPr algn="ctr"/>
            <a:r>
              <a:rPr lang="en-US" sz="4000" dirty="0">
                <a:solidFill>
                  <a:schemeClr val="bg1"/>
                </a:solidFill>
                <a:latin typeface="Montserrat" charset="0"/>
                <a:ea typeface="Montserrat" charset="0"/>
                <a:cs typeface="Montserrat" charset="0"/>
              </a:rPr>
              <a:t>Thank you!</a:t>
            </a:r>
          </a:p>
        </p:txBody>
      </p:sp>
    </p:spTree>
    <p:extLst>
      <p:ext uri="{BB962C8B-B14F-4D97-AF65-F5344CB8AC3E}">
        <p14:creationId xmlns:p14="http://schemas.microsoft.com/office/powerpoint/2010/main" val="2596154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9627</TotalTime>
  <Words>812</Words>
  <Application>Microsoft Office PowerPoint</Application>
  <PresentationFormat>Widescreen</PresentationFormat>
  <Paragraphs>76</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kukesh kodess</dc:creator>
  <cp:lastModifiedBy>Ryan Ahmed</cp:lastModifiedBy>
  <cp:revision>540</cp:revision>
  <dcterms:created xsi:type="dcterms:W3CDTF">2019-11-18T17:58:36Z</dcterms:created>
  <dcterms:modified xsi:type="dcterms:W3CDTF">2025-11-30T03:29:12Z</dcterms:modified>
</cp:coreProperties>
</file>