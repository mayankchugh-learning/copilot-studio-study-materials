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65" r:id="rId2"/>
    <p:sldId id="568" r:id="rId3"/>
    <p:sldId id="570" r:id="rId4"/>
    <p:sldId id="4190" r:id="rId5"/>
    <p:sldId id="573" r:id="rId6"/>
    <p:sldId id="572" r:id="rId7"/>
    <p:sldId id="574" r:id="rId8"/>
    <p:sldId id="575" r:id="rId9"/>
    <p:sldId id="578" r:id="rId10"/>
    <p:sldId id="576" r:id="rId11"/>
    <p:sldId id="424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0C1752"/>
    <a:srgbClr val="F9F9F9"/>
    <a:srgbClr val="11CCDD"/>
    <a:srgbClr val="1BBFD1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721"/>
  </p:normalViewPr>
  <p:slideViewPr>
    <p:cSldViewPr snapToGrid="0" snapToObjects="1">
      <p:cViewPr varScale="1">
        <p:scale>
          <a:sx n="118" d="100"/>
          <a:sy n="118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5.png"/><Relationship Id="rId2" Type="http://schemas.openxmlformats.org/officeDocument/2006/relationships/image" Target="../media/image3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2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hyperlink" Target="http://copilotstudio.microsoft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docs.google.com/spreadsheets/d/1oEuSfudOrrZAJKuXWmK1IWfzCuUYXe-L/edit?usp=sharing&amp;ouid=110125925488625529402&amp;rtpof=true&amp;sd=tru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dr-ryan-ahmed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70651"/>
            <a:ext cx="54082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MICROSOFT COPILOT STUDIO &amp; AI AUTOMATION BOOTCAMP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10BA7-83D5-BA28-4169-3E936CE3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E0EF4-240B-8B5B-8335-CAC6327B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BEFE33B-7EE9-7BFB-A39F-0F81915A552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Instructor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4BF6C-937D-3A93-9865-C5DE26F44C2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61" name="Google Shape;118;p3">
            <a:extLst>
              <a:ext uri="{FF2B5EF4-FFF2-40B4-BE49-F238E27FC236}">
                <a16:creationId xmlns:a16="http://schemas.microsoft.com/office/drawing/2014/main" id="{39877849-A867-54E4-6BC0-D81DC4FAE97C}"/>
              </a:ext>
            </a:extLst>
          </p:cNvPr>
          <p:cNvSpPr txBox="1"/>
          <p:nvPr/>
        </p:nvSpPr>
        <p:spPr>
          <a:xfrm>
            <a:off x="4241279" y="3428160"/>
            <a:ext cx="3231918" cy="86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5" rIns="0" bIns="60955" anchor="ctr" anchorCtr="0">
            <a:spAutoFit/>
          </a:bodyPr>
          <a:lstStyle/>
          <a:p>
            <a:pPr marL="0" lvl="4" algn="ctr" defTabSz="609630">
              <a:lnSpc>
                <a:spcPct val="130000"/>
              </a:lnSpc>
              <a:buClr>
                <a:srgbClr val="E7E6E6"/>
              </a:buClr>
              <a:buSzPts val="2700"/>
            </a:pPr>
            <a:r>
              <a:rPr lang="en-US" sz="2133" b="1" kern="0" dirty="0">
                <a:solidFill>
                  <a:srgbClr val="1E3D53"/>
                </a:solidFill>
                <a:latin typeface="Arial"/>
                <a:ea typeface="Arial"/>
                <a:cs typeface="Arial"/>
                <a:sym typeface="Arial"/>
              </a:rPr>
              <a:t>Dr. Ryan Ahmed</a:t>
            </a:r>
            <a:br>
              <a:rPr lang="en-US" sz="1200" b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kern="0" dirty="0">
                <a:solidFill>
                  <a:srgbClr val="0B8ECC"/>
                </a:solidFill>
                <a:latin typeface="Arial"/>
                <a:ea typeface="Arial"/>
                <a:cs typeface="Arial"/>
                <a:sym typeface="Arial"/>
              </a:rPr>
              <a:t>Professor &amp; Best-selling Instructor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65" name="Picture 2" descr="Online Courses - Learn Anything, On Your Schedule | Udemy">
            <a:extLst>
              <a:ext uri="{FF2B5EF4-FFF2-40B4-BE49-F238E27FC236}">
                <a16:creationId xmlns:a16="http://schemas.microsoft.com/office/drawing/2014/main" id="{E87A9148-1622-44BF-8503-E57923760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6" b="24378"/>
          <a:stretch/>
        </p:blipFill>
        <p:spPr bwMode="auto">
          <a:xfrm>
            <a:off x="8928050" y="907669"/>
            <a:ext cx="2613324" cy="75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10" descr="CFA Institute">
            <a:extLst>
              <a:ext uri="{FF2B5EF4-FFF2-40B4-BE49-F238E27FC236}">
                <a16:creationId xmlns:a16="http://schemas.microsoft.com/office/drawing/2014/main" id="{B5A32AA5-345D-6257-1522-3807CFB7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966" y="3110926"/>
            <a:ext cx="2950917" cy="154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Google Shape;122;p3">
            <a:extLst>
              <a:ext uri="{FF2B5EF4-FFF2-40B4-BE49-F238E27FC236}">
                <a16:creationId xmlns:a16="http://schemas.microsoft.com/office/drawing/2014/main" id="{87D0E693-CDAE-A302-1BA0-07CDA1095081}"/>
              </a:ext>
            </a:extLst>
          </p:cNvPr>
          <p:cNvSpPr txBox="1"/>
          <p:nvPr/>
        </p:nvSpPr>
        <p:spPr>
          <a:xfrm>
            <a:off x="9199507" y="1890725"/>
            <a:ext cx="2428976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US" sz="1867" dirty="0">
                <a:sym typeface="Arial"/>
              </a:rPr>
              <a:t>500,000+ Students</a:t>
            </a:r>
          </a:p>
        </p:txBody>
      </p:sp>
      <p:sp>
        <p:nvSpPr>
          <p:cNvPr id="68" name="Google Shape;122;p3">
            <a:extLst>
              <a:ext uri="{FF2B5EF4-FFF2-40B4-BE49-F238E27FC236}">
                <a16:creationId xmlns:a16="http://schemas.microsoft.com/office/drawing/2014/main" id="{80183A4A-F647-F343-6008-19727DBBB4E4}"/>
              </a:ext>
            </a:extLst>
          </p:cNvPr>
          <p:cNvSpPr txBox="1"/>
          <p:nvPr/>
        </p:nvSpPr>
        <p:spPr>
          <a:xfrm>
            <a:off x="8805206" y="2909542"/>
            <a:ext cx="2936865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sz="1867" dirty="0">
                <a:sym typeface="Arial"/>
              </a:rPr>
              <a:t>258,000+ Subs, 3.5M views</a:t>
            </a:r>
          </a:p>
        </p:txBody>
      </p:sp>
      <p:pic>
        <p:nvPicPr>
          <p:cNvPr id="69" name="Picture 12" descr="The YouTube logo: a history | Creative Bloq">
            <a:extLst>
              <a:ext uri="{FF2B5EF4-FFF2-40B4-BE49-F238E27FC236}">
                <a16:creationId xmlns:a16="http://schemas.microsoft.com/office/drawing/2014/main" id="{CC958130-E2AC-1602-4EE2-971B655B3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191" y="2109799"/>
            <a:ext cx="2243227" cy="125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Google Shape;122;p3">
            <a:extLst>
              <a:ext uri="{FF2B5EF4-FFF2-40B4-BE49-F238E27FC236}">
                <a16:creationId xmlns:a16="http://schemas.microsoft.com/office/drawing/2014/main" id="{913555BD-4771-AA10-A092-6A07D3D37684}"/>
              </a:ext>
            </a:extLst>
          </p:cNvPr>
          <p:cNvSpPr txBox="1"/>
          <p:nvPr/>
        </p:nvSpPr>
        <p:spPr>
          <a:xfrm>
            <a:off x="8963134" y="4300845"/>
            <a:ext cx="2901722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/>
          <a:p>
            <a:pPr defTabSz="60963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1867" i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Taught L1 &amp; 2 Python &amp; AI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3C4D6F9-84AF-81CE-464F-95921098E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481" y="1269912"/>
            <a:ext cx="1881775" cy="1040511"/>
          </a:xfrm>
          <a:prstGeom prst="rect">
            <a:avLst/>
          </a:prstGeom>
        </p:spPr>
      </p:pic>
      <p:sp>
        <p:nvSpPr>
          <p:cNvPr id="72" name="Google Shape;122;p3">
            <a:extLst>
              <a:ext uri="{FF2B5EF4-FFF2-40B4-BE49-F238E27FC236}">
                <a16:creationId xmlns:a16="http://schemas.microsoft.com/office/drawing/2014/main" id="{AE7F32BA-4360-0626-E95A-0D7C95BD013C}"/>
              </a:ext>
            </a:extLst>
          </p:cNvPr>
          <p:cNvSpPr txBox="1"/>
          <p:nvPr/>
        </p:nvSpPr>
        <p:spPr>
          <a:xfrm>
            <a:off x="998672" y="2165873"/>
            <a:ext cx="2474384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/>
          <a:p>
            <a:pPr defTabSz="60963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1867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M.A.Sc., Ph.D., MBA</a:t>
            </a:r>
            <a:endParaRPr lang="en-US" sz="1867" i="1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Picture 16" descr="General Motors | Detroit MI">
            <a:extLst>
              <a:ext uri="{FF2B5EF4-FFF2-40B4-BE49-F238E27FC236}">
                <a16:creationId xmlns:a16="http://schemas.microsoft.com/office/drawing/2014/main" id="{01014111-1951-DC70-C40C-CB0F9EE6C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737" y="3001680"/>
            <a:ext cx="1031452" cy="103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0" descr="Logo | Brand Identity | About Us | Samsung Canada">
            <a:extLst>
              <a:ext uri="{FF2B5EF4-FFF2-40B4-BE49-F238E27FC236}">
                <a16:creationId xmlns:a16="http://schemas.microsoft.com/office/drawing/2014/main" id="{9F4FE486-4BF9-75E8-CD51-BC88F1FBB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3" b="29688"/>
          <a:stretch/>
        </p:blipFill>
        <p:spPr bwMode="auto">
          <a:xfrm>
            <a:off x="491297" y="3752685"/>
            <a:ext cx="2882335" cy="68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Google Shape;122;p3">
            <a:extLst>
              <a:ext uri="{FF2B5EF4-FFF2-40B4-BE49-F238E27FC236}">
                <a16:creationId xmlns:a16="http://schemas.microsoft.com/office/drawing/2014/main" id="{562261BF-772D-BAE6-DD07-DDF06E3169FB}"/>
              </a:ext>
            </a:extLst>
          </p:cNvPr>
          <p:cNvSpPr txBox="1"/>
          <p:nvPr/>
        </p:nvSpPr>
        <p:spPr>
          <a:xfrm>
            <a:off x="571906" y="4161337"/>
            <a:ext cx="2473681" cy="4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8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sz="1867" dirty="0">
                <a:sym typeface="Arial"/>
              </a:rPr>
              <a:t>AI &amp; EV/AV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6A936-C827-28A2-6F6B-AE0DBDCAF1B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4740"/>
          <a:stretch/>
        </p:blipFill>
        <p:spPr>
          <a:xfrm>
            <a:off x="4471728" y="1263073"/>
            <a:ext cx="2515453" cy="213354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246DE5C-E26F-0BE2-6157-31BE0FC1D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035" y="1680930"/>
            <a:ext cx="1651354" cy="23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92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2E93-9861-5016-B2FE-256197A8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64F2F-4754-148A-BA15-34C81014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CB6BE-3177-BA84-AF4B-05BD8FD5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CD8D652-313D-A482-C612-59A89001DE0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Global Students Reach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43CF5-A37F-272F-3259-DC568788C23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12DF05-0D4D-3DD7-65B0-1DFC4F0175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383"/>
          <a:stretch/>
        </p:blipFill>
        <p:spPr>
          <a:xfrm>
            <a:off x="3120610" y="674472"/>
            <a:ext cx="5558583" cy="2336729"/>
          </a:xfrm>
          <a:prstGeom prst="rect">
            <a:avLst/>
          </a:prstGeom>
        </p:spPr>
      </p:pic>
      <p:pic>
        <p:nvPicPr>
          <p:cNvPr id="13" name="Picture 2" descr="CF Markville | HSBC">
            <a:extLst>
              <a:ext uri="{FF2B5EF4-FFF2-40B4-BE49-F238E27FC236}">
                <a16:creationId xmlns:a16="http://schemas.microsoft.com/office/drawing/2014/main" id="{62314390-9293-C719-3834-91EE2836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331" y="2862147"/>
            <a:ext cx="1254598" cy="70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Lazard Asset Management Canada Inc. | Sun Life Global Investments">
            <a:extLst>
              <a:ext uri="{FF2B5EF4-FFF2-40B4-BE49-F238E27FC236}">
                <a16:creationId xmlns:a16="http://schemas.microsoft.com/office/drawing/2014/main" id="{4C7B7DE3-A595-1C86-18AC-9DAACD95E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67" y="2775389"/>
            <a:ext cx="1751411" cy="91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RBC">
            <a:extLst>
              <a:ext uri="{FF2B5EF4-FFF2-40B4-BE49-F238E27FC236}">
                <a16:creationId xmlns:a16="http://schemas.microsoft.com/office/drawing/2014/main" id="{C5107936-1DDA-7036-9040-77B7FB587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06" y="2795337"/>
            <a:ext cx="917407" cy="91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Global, Multi-Strategy Investment Firm | Balyasny Asset Management">
            <a:extLst>
              <a:ext uri="{FF2B5EF4-FFF2-40B4-BE49-F238E27FC236}">
                <a16:creationId xmlns:a16="http://schemas.microsoft.com/office/drawing/2014/main" id="{463885C5-7694-1645-2489-D4029EC18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424" y="2862147"/>
            <a:ext cx="2133600" cy="6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Discover Bank Review">
            <a:extLst>
              <a:ext uri="{FF2B5EF4-FFF2-40B4-BE49-F238E27FC236}">
                <a16:creationId xmlns:a16="http://schemas.microsoft.com/office/drawing/2014/main" id="{3FE8ED91-E899-FACE-7B78-C2BA867CA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554" y="2686760"/>
            <a:ext cx="21336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Lowe's Home Improvement">
            <a:extLst>
              <a:ext uri="{FF2B5EF4-FFF2-40B4-BE49-F238E27FC236}">
                <a16:creationId xmlns:a16="http://schemas.microsoft.com/office/drawing/2014/main" id="{3AD74888-33F9-BCA9-F9B4-3754F2DC3F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0" r="18250"/>
          <a:stretch/>
        </p:blipFill>
        <p:spPr bwMode="auto">
          <a:xfrm>
            <a:off x="8570129" y="2508881"/>
            <a:ext cx="1525054" cy="125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bbyMap Barclays">
            <a:extLst>
              <a:ext uri="{FF2B5EF4-FFF2-40B4-BE49-F238E27FC236}">
                <a16:creationId xmlns:a16="http://schemas.microsoft.com/office/drawing/2014/main" id="{9277E952-4B37-A20B-BFE8-EA824D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99" y="3838540"/>
            <a:ext cx="2189955" cy="109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CFA Institute">
            <a:extLst>
              <a:ext uri="{FF2B5EF4-FFF2-40B4-BE49-F238E27FC236}">
                <a16:creationId xmlns:a16="http://schemas.microsoft.com/office/drawing/2014/main" id="{334D020D-8BB5-1BDE-A8DF-16A412C2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016" y="3602866"/>
            <a:ext cx="2459816" cy="128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otiabank Review 2024 - NerdWallet">
            <a:extLst>
              <a:ext uri="{FF2B5EF4-FFF2-40B4-BE49-F238E27FC236}">
                <a16:creationId xmlns:a16="http://schemas.microsoft.com/office/drawing/2014/main" id="{8FCFC09A-DAEB-06C5-3F99-4BA021AA0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540" y="3725184"/>
            <a:ext cx="1685800" cy="94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A8BD38-FFDE-4ED0-0159-65EC4E6D76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7108" y="3933474"/>
            <a:ext cx="2133600" cy="5564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6A52A63-2792-80E8-8AEC-18361856AC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54268" y="3943597"/>
            <a:ext cx="2499177" cy="729849"/>
          </a:xfrm>
          <a:prstGeom prst="rect">
            <a:avLst/>
          </a:prstGeom>
        </p:spPr>
      </p:pic>
      <p:pic>
        <p:nvPicPr>
          <p:cNvPr id="1036" name="Picture 12" descr="ETF Company - Jefferies - ETF Stream">
            <a:extLst>
              <a:ext uri="{FF2B5EF4-FFF2-40B4-BE49-F238E27FC236}">
                <a16:creationId xmlns:a16="http://schemas.microsoft.com/office/drawing/2014/main" id="{1B7B9DE3-6225-707C-A3CA-375DC172A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955" y="2749579"/>
            <a:ext cx="1622029" cy="90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68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93B0-B7A6-F7F7-2245-043E6D23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6B3081-48CD-AA00-F377-97724B56F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56E6C0-AD73-D375-AEA8-31A58C7A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B13DC28-8935-6DEB-C9E9-FDD8D841C03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CoPilot Studio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584AE-D8B4-970A-865F-B0DBF838B72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0CFE5-B49F-E281-D2D6-0F2667D6B923}"/>
              </a:ext>
            </a:extLst>
          </p:cNvPr>
          <p:cNvSpPr txBox="1"/>
          <p:nvPr/>
        </p:nvSpPr>
        <p:spPr>
          <a:xfrm>
            <a:off x="3450749" y="975169"/>
            <a:ext cx="4714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dirty="0">
                <a:solidFill>
                  <a:srgbClr val="000000"/>
                </a:solidFill>
                <a:latin typeface="Cambria" panose="02040503050406030204"/>
              </a:rPr>
              <a:t>🔗 </a:t>
            </a:r>
            <a:r>
              <a:rPr lang="en-US" b="1" dirty="0">
                <a:solidFill>
                  <a:srgbClr val="000000"/>
                </a:solidFill>
                <a:latin typeface="Cambria" panose="02040503050406030204"/>
              </a:rPr>
              <a:t>Click here to explore CoPilot</a:t>
            </a:r>
            <a:br>
              <a:rPr lang="en-US" dirty="0">
                <a:solidFill>
                  <a:srgbClr val="000000"/>
                </a:solidFill>
                <a:latin typeface="Cambria" panose="02040503050406030204"/>
              </a:rPr>
            </a:br>
            <a:r>
              <a:rPr lang="en-US" dirty="0">
                <a:solidFill>
                  <a:srgbClr val="000000"/>
                </a:solidFill>
                <a:latin typeface="Cambria" panose="02040503050406030204"/>
              </a:rPr>
              <a:t>		</a:t>
            </a:r>
            <a:r>
              <a:rPr lang="en-US" dirty="0">
                <a:solidFill>
                  <a:srgbClr val="000000"/>
                </a:solidFill>
                <a:latin typeface="Cambria" panose="02040503050406030204"/>
                <a:hlinkClick r:id="rId4"/>
              </a:rPr>
              <a:t>CoPilot Studio Signup</a:t>
            </a:r>
            <a:endParaRPr lang="en-US" dirty="0">
              <a:solidFill>
                <a:srgbClr val="000000"/>
              </a:solidFill>
              <a:latin typeface="Cambria" panose="02040503050406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F0DF7-88A8-46A5-262A-6054D9078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45" y="1712548"/>
            <a:ext cx="10848722" cy="43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7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7EF2-AB95-6FCA-3F07-F6B9D0D7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99AB7-5D37-A013-F362-D21E5698BD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75BA6-4FC4-9ACF-6E3E-193BEE24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55F104-A74E-EAA9-DBF2-A0114B4EC8CF}"/>
              </a:ext>
            </a:extLst>
          </p:cNvPr>
          <p:cNvSpPr/>
          <p:nvPr/>
        </p:nvSpPr>
        <p:spPr>
          <a:xfrm>
            <a:off x="293914" y="793804"/>
            <a:ext cx="5578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BOOTCAMP OUTLINE &amp; KEY SUCCESS TIPS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45EDB-BD4B-3CDE-13DF-350A72312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9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41D7-3EF1-50A1-A652-23D8DC2C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44090-3C16-2C90-8867-0A421390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A336A-354A-E28E-FB5B-2076E25D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181953F-319C-0E29-E556-AE29C18DA38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Bootcamp Outline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BE923-81E9-2EA9-1E4C-CB63806F8A6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99C4A-27ED-51FB-57CF-DDA093DA1CE4}"/>
              </a:ext>
            </a:extLst>
          </p:cNvPr>
          <p:cNvSpPr txBox="1"/>
          <p:nvPr/>
        </p:nvSpPr>
        <p:spPr>
          <a:xfrm>
            <a:off x="3017002" y="651559"/>
            <a:ext cx="919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Check the course outline </a:t>
            </a:r>
            <a:r>
              <a:rPr lang="en-US" b="1" dirty="0">
                <a:hlinkClick r:id="rId4"/>
              </a:rPr>
              <a:t>here: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F6353-F466-90F9-98CF-5053DFFC9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22" y="993923"/>
            <a:ext cx="4659993" cy="5285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AF72D1-BF9A-36DE-A580-74F410B940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428" y="993923"/>
            <a:ext cx="4680729" cy="539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8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8E27-A80D-818C-955E-A5A00A20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2B9FF-24ED-DAAA-A36E-2BA7A95FB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80880-0DF2-FEE1-909F-F7F65133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4D7286-0A87-4B7B-5516-986D35980AF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A659F-23B5-5FE0-6B6E-82FADE60CDF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5FB9B-CB34-259C-4385-0D7A194617B8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8" name="Shape 288">
            <a:extLst>
              <a:ext uri="{FF2B5EF4-FFF2-40B4-BE49-F238E27FC236}">
                <a16:creationId xmlns:a16="http://schemas.microsoft.com/office/drawing/2014/main" id="{38C6C87D-6697-104A-7E1E-8BD1CCCDB9ED}"/>
              </a:ext>
            </a:extLst>
          </p:cNvPr>
          <p:cNvSpPr/>
          <p:nvPr/>
        </p:nvSpPr>
        <p:spPr>
          <a:xfrm>
            <a:off x="419587" y="835160"/>
            <a:ext cx="2743200" cy="2743200"/>
          </a:xfrm>
          <a:prstGeom prst="ellipse">
            <a:avLst/>
          </a:prstGeom>
          <a:solidFill>
            <a:srgbClr val="D56E48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marL="0" marR="0" lvl="0" indent="0" algn="ctr" defTabSz="171459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Learn by Doing!</a:t>
            </a:r>
          </a:p>
        </p:txBody>
      </p:sp>
      <p:sp>
        <p:nvSpPr>
          <p:cNvPr id="19" name="Shape 288">
            <a:extLst>
              <a:ext uri="{FF2B5EF4-FFF2-40B4-BE49-F238E27FC236}">
                <a16:creationId xmlns:a16="http://schemas.microsoft.com/office/drawing/2014/main" id="{37D1F6F3-F113-7358-9AAC-6BC15EA0DAE1}"/>
              </a:ext>
            </a:extLst>
          </p:cNvPr>
          <p:cNvSpPr/>
          <p:nvPr/>
        </p:nvSpPr>
        <p:spPr>
          <a:xfrm>
            <a:off x="3134701" y="2156459"/>
            <a:ext cx="2743200" cy="2743200"/>
          </a:xfrm>
          <a:prstGeom prst="ellipse">
            <a:avLst/>
          </a:prstGeom>
          <a:solidFill>
            <a:srgbClr val="0C175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marL="0" marR="0" lvl="0" indent="0" algn="ctr" defTabSz="171459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uLnTx/>
                <a:uFillTx/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Solve Practice Opportunities</a:t>
            </a:r>
          </a:p>
        </p:txBody>
      </p:sp>
      <p:sp>
        <p:nvSpPr>
          <p:cNvPr id="20" name="Shape 288">
            <a:extLst>
              <a:ext uri="{FF2B5EF4-FFF2-40B4-BE49-F238E27FC236}">
                <a16:creationId xmlns:a16="http://schemas.microsoft.com/office/drawing/2014/main" id="{397AE90D-D0E2-12A6-2FA1-5A72AC921DA2}"/>
              </a:ext>
            </a:extLst>
          </p:cNvPr>
          <p:cNvSpPr/>
          <p:nvPr/>
        </p:nvSpPr>
        <p:spPr>
          <a:xfrm>
            <a:off x="5913876" y="984242"/>
            <a:ext cx="2743200" cy="2743200"/>
          </a:xfrm>
          <a:prstGeom prst="ellipse">
            <a:avLst/>
          </a:prstGeom>
          <a:solidFill>
            <a:srgbClr val="11CCDD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Build a Portfolio of Projects</a:t>
            </a:r>
          </a:p>
        </p:txBody>
      </p:sp>
      <p:sp>
        <p:nvSpPr>
          <p:cNvPr id="27" name="Shape 288">
            <a:extLst>
              <a:ext uri="{FF2B5EF4-FFF2-40B4-BE49-F238E27FC236}">
                <a16:creationId xmlns:a16="http://schemas.microsoft.com/office/drawing/2014/main" id="{294752F2-A63F-A72D-E1E8-1DEA8E26DD80}"/>
              </a:ext>
            </a:extLst>
          </p:cNvPr>
          <p:cNvSpPr/>
          <p:nvPr/>
        </p:nvSpPr>
        <p:spPr>
          <a:xfrm>
            <a:off x="8673558" y="2156459"/>
            <a:ext cx="2743200" cy="27432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Leverage LinkedIn to share your work &amp; maximize Reach!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FAA30-814E-CF7B-013D-8FFC3E5541DC}"/>
              </a:ext>
            </a:extLst>
          </p:cNvPr>
          <p:cNvSpPr txBox="1"/>
          <p:nvPr/>
        </p:nvSpPr>
        <p:spPr>
          <a:xfrm>
            <a:off x="419587" y="5355981"/>
            <a:ext cx="803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LinkedIn Link: </a:t>
            </a:r>
            <a:r>
              <a:rPr lang="en-CA" sz="2400" dirty="0">
                <a:hlinkClick r:id="rId4"/>
              </a:rPr>
              <a:t>https://www.linkedin.com/in/dr-ryan-ahmed/</a:t>
            </a:r>
            <a:endParaRPr lang="en-CA" sz="2400" dirty="0"/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5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7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47F0-3A3C-8B88-EA69-47D43DDC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EF4C2-BB0F-AA88-0EE5-3FBD43DB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6C8C8-2CAF-39FC-A646-319B421E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7C074A5-6CBA-32CC-282E-07343ED3ACD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Change video Speeds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5D656-A283-9506-DF2A-EECF14A8028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065E5-E798-47DF-56D1-E83AD6398D16}"/>
              </a:ext>
            </a:extLst>
          </p:cNvPr>
          <p:cNvSpPr txBox="1"/>
          <p:nvPr/>
        </p:nvSpPr>
        <p:spPr>
          <a:xfrm>
            <a:off x="585865" y="779252"/>
            <a:ext cx="103499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000" b="1">
                <a:solidFill>
                  <a:srgbClr val="9D399D"/>
                </a:solidFill>
              </a:defRPr>
            </a:lvl1pPr>
          </a:lstStyle>
          <a:p>
            <a:r>
              <a:rPr lang="en-CA" b="0" dirty="0">
                <a:solidFill>
                  <a:srgbClr val="D56E48"/>
                </a:solidFill>
              </a:rPr>
              <a:t>You have the option to play lectures at different speeds: (.5x, 1x, 1.25x, 1.5x or 2x)</a:t>
            </a:r>
          </a:p>
          <a:p>
            <a:r>
              <a:rPr lang="en-CA" b="0" dirty="0">
                <a:solidFill>
                  <a:srgbClr val="D56E48"/>
                </a:solidFill>
              </a:rPr>
              <a:t>In the bottom-left corner of the video, you can change the speed of the video.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4D02F-FB90-F6BC-357B-34C3B73364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965"/>
          <a:stretch>
            <a:fillRect/>
          </a:stretch>
        </p:blipFill>
        <p:spPr>
          <a:xfrm>
            <a:off x="1052316" y="1599049"/>
            <a:ext cx="9417049" cy="4776351"/>
          </a:xfrm>
          <a:prstGeom prst="rect">
            <a:avLst/>
          </a:prstGeom>
        </p:spPr>
      </p:pic>
      <p:cxnSp>
        <p:nvCxnSpPr>
          <p:cNvPr id="8" name="Curved Connector 8">
            <a:extLst>
              <a:ext uri="{FF2B5EF4-FFF2-40B4-BE49-F238E27FC236}">
                <a16:creationId xmlns:a16="http://schemas.microsoft.com/office/drawing/2014/main" id="{E13A34B6-9750-54FA-378D-C2B635A4C7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83793" y="1537213"/>
            <a:ext cx="3016387" cy="2707988"/>
          </a:xfrm>
          <a:prstGeom prst="curvedConnector3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70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CAF0-E524-BE44-6F0C-BB353245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DA5B17-813B-7008-BB93-CF6086A42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C39CA0-FBB5-64B2-2979-5AF7883BF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398843D-DB65-9EDA-DBDA-A63BE70CE3A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Change the video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B4BB8F-78F7-40F4-073E-668235B9E4A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B0F9CB-C433-9EED-4959-2F620B8EC0C6}"/>
              </a:ext>
            </a:extLst>
          </p:cNvPr>
          <p:cNvSpPr txBox="1"/>
          <p:nvPr/>
        </p:nvSpPr>
        <p:spPr>
          <a:xfrm>
            <a:off x="722168" y="692498"/>
            <a:ext cx="1116725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r>
              <a:rPr lang="en-CA" dirty="0"/>
              <a:t>Udemy automatically optimizes video resolution based on your internet connection speed. Alternatively, you can select 360p, 480p, and 720p resolutions for the video quality. </a:t>
            </a:r>
          </a:p>
          <a:p>
            <a:r>
              <a:rPr lang="en-CA" dirty="0"/>
              <a:t>All course lectures are filmed with HD quality 1080p.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0F59E-5AD2-1CE8-E6A8-483E4D74D3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53"/>
          <a:stretch>
            <a:fillRect/>
          </a:stretch>
        </p:blipFill>
        <p:spPr>
          <a:xfrm>
            <a:off x="722168" y="1768256"/>
            <a:ext cx="9510485" cy="4951490"/>
          </a:xfrm>
          <a:prstGeom prst="rect">
            <a:avLst/>
          </a:prstGeom>
        </p:spPr>
      </p:pic>
      <p:cxnSp>
        <p:nvCxnSpPr>
          <p:cNvPr id="13" name="Curved Connector 8">
            <a:extLst>
              <a:ext uri="{FF2B5EF4-FFF2-40B4-BE49-F238E27FC236}">
                <a16:creationId xmlns:a16="http://schemas.microsoft.com/office/drawing/2014/main" id="{BB915DB3-6BDE-F949-1E97-3F58A463ECE1}"/>
              </a:ext>
            </a:extLst>
          </p:cNvPr>
          <p:cNvCxnSpPr>
            <a:cxnSpLocks/>
          </p:cNvCxnSpPr>
          <p:nvPr/>
        </p:nvCxnSpPr>
        <p:spPr>
          <a:xfrm rot="10800000">
            <a:off x="4623464" y="1640554"/>
            <a:ext cx="2691737" cy="2455589"/>
          </a:xfrm>
          <a:prstGeom prst="curvedConnector3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34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2CA7-FB1E-E80C-23B3-C62B1622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19486-E985-D288-01CC-1A527B9B8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EADD7-546E-E711-21BC-76554441EF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67EB65B-24C7-7964-AB41-10DE50C8823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How do you get the Certificate of Completion?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19189-F15B-42FC-A127-B732E92A48B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E343C2-8414-8CF9-304A-2DF3F4D960C5}"/>
              </a:ext>
            </a:extLst>
          </p:cNvPr>
          <p:cNvSpPr/>
          <p:nvPr/>
        </p:nvSpPr>
        <p:spPr>
          <a:xfrm>
            <a:off x="152399" y="798103"/>
            <a:ext cx="11774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tx1"/>
                </a:solidFill>
                <a:latin typeface="Montserrat" charset="0"/>
              </a:rPr>
              <a:t>When you complete all course modules, you will receive a certificate of completion.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204A8-05E4-CA33-B11C-7FDE450366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444"/>
          <a:stretch/>
        </p:blipFill>
        <p:spPr>
          <a:xfrm>
            <a:off x="947751" y="1367112"/>
            <a:ext cx="4303733" cy="3185681"/>
          </a:xfrm>
          <a:prstGeom prst="rect">
            <a:avLst/>
          </a:prstGeom>
          <a:ln w="5715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2A5DF8-CC6D-F72D-3B19-80F8F9DE0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50257"/>
            <a:ext cx="4303733" cy="3185681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358511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3812-74CF-3093-5ABB-250ECBD7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AE6BA-536B-674B-EA93-F739814B94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24420-9B7D-E677-F3E7-0F96C134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2BF2CC-E52B-C815-59A6-6EFABB503155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2324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</TotalTime>
  <Words>337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459</cp:revision>
  <dcterms:created xsi:type="dcterms:W3CDTF">2019-11-18T17:58:36Z</dcterms:created>
  <dcterms:modified xsi:type="dcterms:W3CDTF">2025-12-03T14:51:26Z</dcterms:modified>
</cp:coreProperties>
</file>